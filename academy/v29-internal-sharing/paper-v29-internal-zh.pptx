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建议用25分钟讲解，另留10分钟讨论。先说明这是内部版本v29，已有arXiv论文是前版。本次真正新增的是可执行数据边界与有限验证，不是完整系统或顶会录用结果。作者顺序沿用论文。</a:t>
            </a:r>
          </a:p>
          <a:p/>
          <a:p>
            <a:r>
              <a:t>Existing arXiv / 已发表前版: https://arxiv.org/abs/2608.27086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用一份季度经营报告引入。最后数字看起来正确，仍可能使用错期间、越权数据或旧文件。我们要同时问业务任务是否完成，以及运行路径是否满足约束。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强调三项贡献的证据等级不同。责任架构是设计，契约参考模型可执行，P1是仍待验证的经验假设。不要把它们统称为已验证架构。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Skill声明业务能力，Harness进行准入和绑定，Scaffold提供执行边界与资源。外部数据基座不调度计算，也不被某个运行层私有化。这是责任模型，不要求企业必须设四个团队。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以两种能力配置、两种容量配置解释2×2实验。扩容改善时延是预期主效应，不是P1的证明。需要检验改变能力的效果是否因容量改变而变化，同时语义不退化、开销不超预算。阈值必须由决策确定。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不要讲成一次SQL join就能发现的普通类型错误。两张表在语法和字段名上都可能一致，但单位、范围和期间不同。我们要求这些语义进入契约，而不是依赖模型临场猜测。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Wiki面向数据本身，Theme面向结果要求，IR记录本任务怎样使用这些数据。摘要可以帮助发现，不能替代原始来源。IR在这里是Intermediate Relation，执行票据是从关系中解析出来的另一个对象。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这些问句不是七项独立创新。技术工作在于把字段连接到可信输入、执行检查和明确故障。Why只是批准的整合理由，不是模型生成的因果证明。当前参考模型只实现简化检查，不实现多源join。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分清发现和授权：搜索结果只是候选，不能直接授予工具或源权限。执行前重查版本与策略，返回字节后绑定证据。失败进入typed rejection，回退只能选择已允许路径。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时间顺序是关键。t0准入有效，t1撤权，t2真正读数据。旧票据不能继续放行。检查与读必须相对于更新共享线性化点。已在撤权前读出的字节不能被自动收回；发布必须是另一个检查。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遍历依赖图本身是成熟算法。值得研究的是是否能完整记录语义、策略、算子、主题与产物的依赖，并减少真实变更重验证工作。当前实现是保守的全局epoch，没有实现细粒度优化。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内部团队容易把生成文件当成完成。举例：上次运行留下同名PPT、脚本写好但没运行、引用能打开但不支持结论。这些都应留下未解决义务，而不是勾选完成。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这些数值从提交的JSON结果读取。1,024种组合中，只有没有故障的组合应通过；其余1,023种应拒绝。零分歧说明这个有限域的规则执行一致。不能把1,024解释为统计样本量，也不能把零分歧换成生产失效率上界。</a:t>
            </a:r>
          </a:p>
          <a:p/>
          <a:p>
            <a:r>
              <a:t>Raw cases / 逐例结果: ../agentic-runtime-preprint/artifact_v29/results/fault-cases.csv</a:t>
            </a:r>
          </a:p>
          <a:p>
            <a:r>
              <a:t>Summary / 汇总: ../agentic-runtime-preprint/artifact_v29/results/summary.json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明确区分实现边界和未来承诺。没有自然检索、并发压力、跨租户攻击或完整P1数据。参考模型依赖可信描述与完整中介，不是安全沙箱。保持这个区分能让工程讨论更有效。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三篇都不是我们的实验结果。Prime Agent说明长期状态与核算已有实现；AutoResearch区分产物和证据；Apodex区分生成和受控交付。v29不能再以这些泛化能力作为独有创新。</a:t>
            </a:r>
          </a:p>
          <a:p/>
          <a:p>
            <a:r>
              <a:t>Prime Agent: https://arxiv.org/html/2608.23552v1</a:t>
            </a:r>
          </a:p>
          <a:p>
            <a:r>
              <a:t>AutoResearch: https://arxiv.org/html/2608.17906v1</a:t>
            </a:r>
          </a:p>
          <a:p>
            <a:r>
              <a:t>Apodex 1.1: https://arxiv.org/html/2608.23283v1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VoiceMem消融提醒索引与路由要分别控制；NeoHorse记录需求与实际路由，提醒容量变化可能偷偷改变模型；Beyond Top-K要求强BM25对照且不能忽视转换错误。最后一篇是已有引用的复核。</a:t>
            </a:r>
          </a:p>
          <a:p/>
          <a:p>
            <a:r>
              <a:t>VoiceMem: https://arxiv.org/html/2608.26005v1</a:t>
            </a:r>
          </a:p>
          <a:p>
            <a:r>
              <a:t>NeoHorse-1: https://arxiv.org/html/2609.08183v1</a:t>
            </a:r>
          </a:p>
          <a:p>
            <a:r>
              <a:t>Beyond Top-K: https://arxiv.org/html/2608.06305v1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关键是四态判定不再重叠。先确认是否有足够测量证据，再确认义务是否成立，最后才谈P1。另删除错误的p95功效推算；用pilot模拟决定样本量，不能用噪声扩大允许退化。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相同候选、相同工具、相同模型和预算，只改变描述是否被执行边界强制执行。加入自然错误和合成注入，按来源和时间划分留出集。误拒绝必须与违规一起报告，否则拒绝所有请求就会看起来很好。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选季度报告或内部研究简报，从人工可核验字段和一个受控源开始。业务负责人定义可容忍错误，数据负责人定义源与策略，平台负责人实现执行边界。每阶段设进入下一阶段的证据条件，而非承诺任意日期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数据契约路线优先考虑SIGMOD，完整P1运行时路线考虑OSDI，契约演进与维护考虑ICSE/FSE。SIGMOD十月窗口很紧；不能为了赶时间把合成检查当实证。ICSE2027已经截止。FSE2027截止日期未确认。</a:t>
            </a:r>
          </a:p>
          <a:p/>
          <a:p>
            <a:r>
              <a:t>SIGMOD 2027 CFP: https://2027.sigmod.org/calls_papers_sigmod_research.shtml</a:t>
            </a:r>
          </a:p>
          <a:p>
            <a:r>
              <a:t>OSDI 2027 CFP: https://www.usenix.org/conference/osdi27/call-for-papers</a:t>
            </a:r>
          </a:p>
          <a:p>
            <a:r>
              <a:t>ICSE 2027 CFP: https://conf.researchr.org/track/icse-2027/icse-2027-research-track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结尾不要以论文已经完成所有验证作为行动理由。团队需要决定优先研究问题、可用真实数据与合格阈值。产出应是责任明确的试点协议，而不是新的架构命名。</a:t>
            </a:r>
          </a:p>
          <a:p/>
          <a:p>
            <a:r>
              <a:t>v29 manuscript / 论文源码: ../agentic-runtime-preprint/paper_source/main.tex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页内论文链接可以点击。讲稿备注保留章节级阅读提示。代码和逐例CSV位于同一仓库artifact_v29。现有arXiv链接是前版，本地v29尚未完成arXiv替换。</a:t>
            </a:r>
          </a:p>
          <a:p/>
          <a:p>
            <a:r>
              <a:t>Existing arXiv: https://arxiv.org/abs/2608.27086</a:t>
            </a:r>
          </a:p>
          <a:p>
            <a:r>
              <a:t>v29 evidence record: ../agentic-runtime-preprint/V29_REVIEW.md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8.27086" TargetMode="Externa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artifact_v29/results/fault-cases.csv" TargetMode="External"/><Relationship Id="rId3" Type="http://schemas.openxmlformats.org/officeDocument/2006/relationships/hyperlink" Target="../agentic-runtime-preprint/artifact_v29/results/summary.json" TargetMode="Externa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608.23552v1" TargetMode="External"/><Relationship Id="rId3" Type="http://schemas.openxmlformats.org/officeDocument/2006/relationships/hyperlink" Target="https://arxiv.org/html/2608.17906v1" TargetMode="External"/><Relationship Id="rId4" Type="http://schemas.openxmlformats.org/officeDocument/2006/relationships/hyperlink" Target="https://arxiv.org/html/2608.23283v1" TargetMode="Externa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608.26005v1" TargetMode="External"/><Relationship Id="rId3" Type="http://schemas.openxmlformats.org/officeDocument/2006/relationships/hyperlink" Target="https://arxiv.org/html/2609.08183v1" TargetMode="External"/><Relationship Id="rId4" Type="http://schemas.openxmlformats.org/officeDocument/2006/relationships/hyperlink" Target="https://arxiv.org/html/2608.06305v1" TargetMode="Externa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2027.sigmod.org/calls_papers_sigmod_research.shtml" TargetMode="External"/><Relationship Id="rId3" Type="http://schemas.openxmlformats.org/officeDocument/2006/relationships/hyperlink" Target="https://www.usenix.org/conference/osdi27/call-for-papers" TargetMode="External"/><Relationship Id="rId4" Type="http://schemas.openxmlformats.org/officeDocument/2006/relationships/hyperlink" Target="https://conf.researchr.org/track/icse-2027/icse-2027-research-track" TargetMode="Externa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agentic-runtime-preprint/paper_source/main.tex" TargetMode="Externa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8.27086" TargetMode="External"/><Relationship Id="rId3" Type="http://schemas.openxmlformats.org/officeDocument/2006/relationships/hyperlink" Target="../agentic-runtime-preprint/V29_REVIEW.md" TargetMode="External"/><Relationship Id="rId4" Type="http://schemas.openxmlformats.org/officeDocument/2006/relationships/notesSlide" Target="../notesSlides/notesSlide22.xml"/><Relationship Id="rId5" Type="http://schemas.openxmlformats.org/officeDocument/2006/relationships/hyperlink" Target="https://arxiv.org/html/2608.23552v1" TargetMode="External"/><Relationship Id="rId6" Type="http://schemas.openxmlformats.org/officeDocument/2006/relationships/hyperlink" Target="https://arxiv.org/html/2608.17906v1" TargetMode="External"/><Relationship Id="rId7" Type="http://schemas.openxmlformats.org/officeDocument/2006/relationships/hyperlink" Target="https://arxiv.org/html/2608.23283v1" TargetMode="External"/><Relationship Id="rId8" Type="http://schemas.openxmlformats.org/officeDocument/2006/relationships/hyperlink" Target="https://arxiv.org/html/2608.26005v1" TargetMode="External"/><Relationship Id="rId9" Type="http://schemas.openxmlformats.org/officeDocument/2006/relationships/hyperlink" Target="https://arxiv.org/html/2609.08183v1" TargetMode="External"/><Relationship Id="rId10" Type="http://schemas.openxmlformats.org/officeDocument/2006/relationships/hyperlink" Target="https://arxiv.org/html/2608.06305v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契约驱动的 Agentic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从三层责任架构，到可执行的 5W1H 数据使用契约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Existing arXiv / 已发表前版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10789920" cy="11887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52536"/>
                </a:solidFill>
                <a:latin typeface="Noto Sans CJK SC"/>
                <a:ea typeface="Noto Sans CJK SC"/>
              </a:rPr>
              <a:t>能力可以迭代，容量可以扩展。</a:t>
            </a:r>
          </a:p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52536"/>
                </a:solidFill>
                <a:latin typeface="Noto Sans CJK SC"/>
                <a:ea typeface="Noto Sans CJK SC"/>
              </a:rPr>
              <a:t>数据的身份、授权与证据必须始终可检查。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0440"/>
            <a:ext cx="10744200" cy="73152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94176"/>
            <a:ext cx="102870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4C79"/>
                </a:solidFill>
                <a:latin typeface="Noto Sans CJK SC"/>
                <a:ea typeface="Noto Sans CJK SC"/>
              </a:rPr>
              <a:t>研究状态：机制与合成验证已落地；真实任务和规模实验待完成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81728"/>
            <a:ext cx="1074420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6A78"/>
                </a:solidFill>
                <a:latin typeface="Noto Sans CJK SC"/>
                <a:ea typeface="Noto Sans CJK SC"/>
              </a:rPr>
              <a:t>Yaxiao Liu · Pengbo Liu · Yiwen Liu · Yihua Guan · Zhenghe Hou · Jiaxing Song</a:t>
            </a:r>
          </a:p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6A78"/>
                </a:solidFill>
                <a:latin typeface="Noto Sans CJK SC"/>
                <a:ea typeface="Noto Sans CJK SC"/>
              </a:rPr>
              <a:t>PwC China AI Center / Tsinghua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一个任务成功，不代表一个系统可管理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企业任务同时跨越业务、模型、基础设施和数据治理边界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3474720" cy="301752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3080"/>
            <a:ext cx="45720" cy="30175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947672"/>
            <a:ext cx="310896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业务问题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24328"/>
            <a:ext cx="3108960" cy="202996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结果是否有用？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所有必需字段是否正确？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是否需要人工返工？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1783080"/>
            <a:ext cx="3474720" cy="301752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783080"/>
            <a:ext cx="45720" cy="30175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947672"/>
            <a:ext cx="310896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系统问题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624328"/>
            <a:ext cx="3108960" cy="202996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容量变化是否改变行为？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失败能否恢复？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控制开销是否可接受？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9288" y="1783080"/>
            <a:ext cx="3474720" cy="301752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9288" y="1783080"/>
            <a:ext cx="45720" cy="30175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7" y="1947672"/>
            <a:ext cx="310896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数据问题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2624328"/>
            <a:ext cx="3108960" cy="202996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来源版本是否正确？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此刻是否仍有授权？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结论能否追到原始证据？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58384"/>
            <a:ext cx="108813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4C79"/>
                </a:solidFill>
                <a:latin typeface="Noto Sans CJK SC"/>
                <a:ea typeface="Noto Sans CJK SC"/>
              </a:rPr>
              <a:t>业务证据与运行时证据必须分别给出。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v29 将设计主张推进到可执行边界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3474720" cy="297180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45720" cy="2971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01952"/>
            <a:ext cx="310896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01 责任契约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3108960" cy="19842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Skill / Harness / Scaffold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外部数据独立治理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64608"/>
            <a:ext cx="3246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4C79"/>
                </a:solidFill>
                <a:latin typeface="Noto Sans CJK SC"/>
                <a:ea typeface="Noto Sans CJK SC"/>
              </a:rPr>
              <a:t>架构设计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52544" y="1737360"/>
            <a:ext cx="3474720" cy="297180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737360"/>
            <a:ext cx="45720" cy="2971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901952"/>
            <a:ext cx="310896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02 数据使用边界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578608"/>
            <a:ext cx="3108960" cy="19842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5W1H+Which 谓词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执行期重验证与证据绑定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4864608"/>
            <a:ext cx="3246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4C79"/>
                </a:solidFill>
                <a:latin typeface="Noto Sans CJK SC"/>
                <a:ea typeface="Noto Sans CJK SC"/>
              </a:rPr>
              <a:t>可运行的有限参考模型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1737360"/>
            <a:ext cx="3474720" cy="297180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9288" y="1737360"/>
            <a:ext cx="45720" cy="2971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1901952"/>
            <a:ext cx="310896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03 可证伪评估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7" y="2578608"/>
            <a:ext cx="3108960" cy="19842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能力×容量交叉实验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质量、违规与总成本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4864608"/>
            <a:ext cx="3246120" cy="4389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54C79"/>
                </a:solidFill>
                <a:latin typeface="Noto Sans CJK SC"/>
                <a:ea typeface="Noto Sans CJK SC"/>
              </a:rPr>
              <a:t>确认性实验尚未执行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四个责任对象，三个运行时层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数据基座位于运行栈外，拥有独立的语义和治理权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6675120" cy="896112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01368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Noto Sans CJK SC"/>
                <a:ea typeface="Noto Sans CJK SC"/>
              </a:rPr>
              <a:t>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847088"/>
            <a:ext cx="4343400" cy="6035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52536"/>
                </a:solidFill>
                <a:latin typeface="Noto Sans CJK SC"/>
                <a:ea typeface="Noto Sans CJK SC"/>
              </a:rPr>
              <a:t>可复用能力、输入输出、允许效果、版本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70632"/>
            <a:ext cx="6675120" cy="896112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88036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Noto Sans CJK SC"/>
                <a:ea typeface="Noto Sans CJK SC"/>
              </a:rPr>
              <a:t>Harness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26079"/>
            <a:ext cx="4343400" cy="6035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52536"/>
                </a:solidFill>
                <a:latin typeface="Noto Sans CJK SC"/>
                <a:ea typeface="Noto Sans CJK SC"/>
              </a:rPr>
              <a:t>准入、图编排、策略检查、资源绑定、轨迹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9624"/>
            <a:ext cx="6675120" cy="896112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959352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Noto Sans CJK SC"/>
                <a:ea typeface="Noto Sans CJK SC"/>
              </a:rPr>
              <a:t>Scaffold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005072"/>
            <a:ext cx="4343400" cy="6035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52536"/>
                </a:solidFill>
                <a:latin typeface="Noto Sans CJK SC"/>
                <a:ea typeface="Noto Sans CJK SC"/>
              </a:rPr>
              <a:t>计算、隔离、身份、地域、恢复与资源核算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1691640"/>
            <a:ext cx="3566160" cy="3054096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1691640"/>
            <a:ext cx="45720" cy="3054096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856232"/>
            <a:ext cx="320040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外部数据基座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532888"/>
            <a:ext cx="3200400" cy="206654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来源与快照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语义、授权、血缘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Data Wiki / Theme / IR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24927" y="3218688"/>
            <a:ext cx="438913" cy="0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5358384"/>
            <a:ext cx="108813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4C79"/>
                </a:solidFill>
                <a:latin typeface="Noto Sans CJK SC"/>
                <a:ea typeface="Noto Sans CJK SC"/>
              </a:rPr>
              <a:t>职责可以由同一团队实现，但契约边界仍需可检查。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P1：能力与容量是否能有条件分离？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研究的是交互效应、语义稳定性与控制成本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521208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2536"/>
                </a:solidFill>
                <a:latin typeface="Noto Sans CJK SC"/>
                <a:ea typeface="Noto Sans CJK SC"/>
              </a:rPr>
              <a:t>同一工作负载、模型、策略和源快照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423160"/>
            <a:ext cx="2377440" cy="1033271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87752"/>
            <a:ext cx="21031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4C79"/>
                </a:solidFill>
                <a:latin typeface="Noto Sans CJK SC"/>
                <a:ea typeface="Noto Sans CJK SC"/>
              </a:rPr>
              <a:t>c0 × s0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4C79"/>
                </a:solidFill>
                <a:latin typeface="Noto Sans CJK SC"/>
                <a:ea typeface="Noto Sans CJK SC"/>
              </a:rPr>
              <a:t>R / Q / 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79" y="2423160"/>
            <a:ext cx="2377440" cy="1033271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2587752"/>
            <a:ext cx="21031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4C79"/>
                </a:solidFill>
                <a:latin typeface="Noto Sans CJK SC"/>
                <a:ea typeface="Noto Sans CJK SC"/>
              </a:rPr>
              <a:t>c0 × s1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4C79"/>
                </a:solidFill>
                <a:latin typeface="Noto Sans CJK SC"/>
                <a:ea typeface="Noto Sans CJK SC"/>
              </a:rPr>
              <a:t>R / Q / 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57600"/>
            <a:ext cx="2377440" cy="1033271"/>
          </a:xfrm>
          <a:prstGeom prst="rect">
            <a:avLst/>
          </a:prstGeom>
          <a:solidFill>
            <a:srgbClr val="E3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1"/>
            <a:ext cx="21031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4C79"/>
                </a:solidFill>
                <a:latin typeface="Noto Sans CJK SC"/>
                <a:ea typeface="Noto Sans CJK SC"/>
              </a:rPr>
              <a:t>c1 × s0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4C79"/>
                </a:solidFill>
                <a:latin typeface="Noto Sans CJK SC"/>
                <a:ea typeface="Noto Sans CJK SC"/>
              </a:rPr>
              <a:t>R / Q / 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3657600"/>
            <a:ext cx="2377440" cy="1033271"/>
          </a:xfrm>
          <a:prstGeom prst="rect">
            <a:avLst/>
          </a:prstGeom>
          <a:solidFill>
            <a:srgbClr val="E3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3822191"/>
            <a:ext cx="2103120" cy="640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4C79"/>
                </a:solidFill>
                <a:latin typeface="Noto Sans CJK SC"/>
                <a:ea typeface="Noto Sans CJK SC"/>
              </a:rPr>
              <a:t>c1 × s1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4C79"/>
                </a:solidFill>
                <a:latin typeface="Noto Sans CJK SC"/>
                <a:ea typeface="Noto Sans CJK SC"/>
              </a:rPr>
              <a:t>R / Q / 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737360"/>
            <a:ext cx="5029200" cy="3547872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737360"/>
            <a:ext cx="45720" cy="3547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901952"/>
            <a:ext cx="46634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每个单元同时观测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78608"/>
            <a:ext cx="4663440" cy="2560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R：时延、吞吐、超时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Q：所有要求均满足的比例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E：准入、检查、证据处理开销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58384"/>
            <a:ext cx="108813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4C79"/>
                </a:solidFill>
                <a:latin typeface="Noto Sans CJK SC"/>
                <a:ea typeface="Noto Sans CJK SC"/>
              </a:rPr>
              <a:t>P1 仍未被本研究的真实运行时实验验证。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最小反例：列名相同，业务意义不同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示意场景；不是实测数据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5074920" cy="233172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45720" cy="23317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47672"/>
            <a:ext cx="4709159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来源 A：集团季度收入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4709159" cy="134416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字段：product_id, revenue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口径：集团合并 / USD / 2026 Q2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783080"/>
            <a:ext cx="5394960" cy="233172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783080"/>
            <a:ext cx="45720" cy="2331720"/>
          </a:xfrm>
          <a:prstGeom prst="rect">
            <a:avLst/>
          </a:prstGeom>
          <a:solidFill>
            <a:srgbClr val="9A6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947672"/>
            <a:ext cx="502920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517"/>
                </a:solidFill>
                <a:latin typeface="Noto Sans CJK SC"/>
                <a:ea typeface="Noto Sans CJK SC"/>
              </a:rPr>
              <a:t>来源 B：子公司收入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24328"/>
            <a:ext cx="5029200" cy="134416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字段：product_id, revenue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口径：本地公司 / EUR / 2026 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26280"/>
            <a:ext cx="10515600" cy="6217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54C79"/>
                </a:solidFill>
                <a:latin typeface="Noto Sans CJK SC"/>
                <a:ea typeface="Noto Sans CJK SC"/>
              </a:rPr>
              <a:t>检索相关、连接可执行，仍不代表可用于当前报告。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Data Wiki、Theme Wiki 与 IR 各回答什么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291840" cy="306324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45720" cy="30632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292608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Data Wiki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2926080" cy="2075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这是什么数据？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来源、版本、字段、策略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可调用的读／抽取算子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874519"/>
            <a:ext cx="3291840" cy="306324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874519"/>
            <a:ext cx="45720" cy="30632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39112"/>
            <a:ext cx="292608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15768"/>
            <a:ext cx="2926080" cy="2075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这次任务怎样使用？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5W1H+Which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证据、兼容性、回退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874519"/>
            <a:ext cx="3291840" cy="306324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874519"/>
            <a:ext cx="45720" cy="30632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039112"/>
            <a:ext cx="292608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Theme Wiki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15768"/>
            <a:ext cx="2926080" cy="2075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产出必须满足什么？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字段、单位、期间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质量要求与验证器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23360" y="3383280"/>
            <a:ext cx="393192" cy="0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26679" y="3383280"/>
            <a:ext cx="393193" cy="0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5358384"/>
            <a:ext cx="108813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4C79"/>
                </a:solidFill>
                <a:latin typeface="Noto Sans CJK SC"/>
                <a:ea typeface="Noto Sans CJK SC"/>
              </a:rPr>
              <a:t>自然语言描述是元数据；原始来源与可信策略提供权威。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让 5W1H+Which 成为可检查条件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698480" cy="448056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46504"/>
            <a:ext cx="132588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</a:rPr>
              <a:t>When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46504"/>
            <a:ext cx="57150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52536"/>
                </a:solidFill>
                <a:latin typeface="Noto Sans CJK SC"/>
                <a:ea typeface="Noto Sans CJK SC"/>
              </a:rPr>
              <a:t>业务期间、有效期、当前时刻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46504"/>
            <a:ext cx="283464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排队后过期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21992"/>
            <a:ext cx="132588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</a:rPr>
              <a:t>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221992"/>
            <a:ext cx="57150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52536"/>
                </a:solidFill>
                <a:latin typeface="Noto Sans CJK SC"/>
                <a:ea typeface="Noto Sans CJK SC"/>
              </a:rPr>
              <a:t>访问域与交付边界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21992"/>
            <a:ext cx="283464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内部数据外流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42616"/>
            <a:ext cx="10698480" cy="448056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697480"/>
            <a:ext cx="132588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</a:rPr>
              <a:t>Who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697480"/>
            <a:ext cx="57150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52536"/>
                </a:solidFill>
                <a:latin typeface="Noto Sans CJK SC"/>
                <a:ea typeface="Noto Sans CJK SC"/>
              </a:rPr>
              <a:t>可信身份与当前授权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97480"/>
            <a:ext cx="283464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准入后撤权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172968"/>
            <a:ext cx="132588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</a:rPr>
              <a:t>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172968"/>
            <a:ext cx="57150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52536"/>
                </a:solidFill>
                <a:latin typeface="Noto Sans CJK SC"/>
                <a:ea typeface="Noto Sans CJK SC"/>
              </a:rPr>
              <a:t>单位、实体范围、业务口径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72968"/>
            <a:ext cx="283464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同名异义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593592"/>
            <a:ext cx="10698480" cy="448056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48456"/>
            <a:ext cx="132588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</a:rPr>
              <a:t>Why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648456"/>
            <a:ext cx="57150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52536"/>
                </a:solidFill>
                <a:latin typeface="Noto Sans CJK SC"/>
                <a:ea typeface="Noto Sans CJK SC"/>
              </a:rPr>
              <a:t>批准的整合理由标识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648456"/>
            <a:ext cx="283464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编造连接理由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23944"/>
            <a:ext cx="132588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</a:rPr>
              <a:t>How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123944"/>
            <a:ext cx="57150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52536"/>
                </a:solidFill>
                <a:latin typeface="Noto Sans CJK SC"/>
                <a:ea typeface="Noto Sans CJK SC"/>
              </a:rPr>
              <a:t>允许的算子和预算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23944"/>
            <a:ext cx="283464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读请求变成写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544568"/>
            <a:ext cx="10698480" cy="448056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99432"/>
            <a:ext cx="132588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</a:rPr>
              <a:t>Which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599432"/>
            <a:ext cx="57150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52536"/>
                </a:solidFill>
                <a:latin typeface="Noto Sans CJK SC"/>
                <a:ea typeface="Noto Sans CJK SC"/>
              </a:rPr>
              <a:t>关系、版本、键、血缘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599432"/>
            <a:ext cx="283464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错误关联或快照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358384"/>
            <a:ext cx="108813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4C79"/>
                </a:solidFill>
                <a:latin typeface="Noto Sans CJK SC"/>
                <a:ea typeface="Noto Sans CJK SC"/>
              </a:rPr>
              <a:t>字段存在不等于约束被执行。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从候选检索，到执行票据，再到证据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1993392" cy="2487168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45720" cy="248716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1627632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发现候选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1627632" cy="14996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排序不授予权限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24912" y="3264408"/>
            <a:ext cx="155448" cy="0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889504" y="2011680"/>
            <a:ext cx="1993392" cy="2487168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9504" y="2011680"/>
            <a:ext cx="45720" cy="248716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384" y="2176272"/>
            <a:ext cx="1627632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解析契约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852928"/>
            <a:ext cx="1627632" cy="14996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可信策略与版本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82896" y="3264408"/>
            <a:ext cx="155448" cy="0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47488" y="2011680"/>
            <a:ext cx="1993392" cy="2487168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47488" y="2011680"/>
            <a:ext cx="45720" cy="248716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2176272"/>
            <a:ext cx="1627632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绑定票据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852928"/>
            <a:ext cx="1627632" cy="14996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身份、epoch、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预算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40879" y="3264408"/>
            <a:ext cx="155448" cy="0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205472" y="2011680"/>
            <a:ext cx="1993392" cy="2487168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05472" y="2011680"/>
            <a:ext cx="45720" cy="248716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2176272"/>
            <a:ext cx="1627632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执行期重查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2852928"/>
            <a:ext cx="1627632" cy="14996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过期／撤销／源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变化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98864" y="3264408"/>
            <a:ext cx="155448" cy="0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363456" y="2011680"/>
            <a:ext cx="1993392" cy="2487168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63456" y="2011680"/>
            <a:ext cx="45720" cy="248716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6336" y="2176272"/>
            <a:ext cx="1627632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读取与证据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6336" y="2852928"/>
            <a:ext cx="1627632" cy="14996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字节、摘要、来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358384"/>
            <a:ext cx="108813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4C79"/>
                </a:solidFill>
                <a:latin typeface="Noto Sans CJK SC"/>
                <a:ea typeface="Noto Sans CJK SC"/>
              </a:rPr>
              <a:t>失败有类型：STALE / UNAUTHORIZED / SOURCE_CHANGED / REVALIDATE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撤权发生在排队期间：准入检查还够吗？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2926080"/>
            <a:ext cx="9875520" cy="0"/>
          </a:xfrm>
          <a:prstGeom prst="line">
            <a:avLst/>
          </a:prstGeom>
          <a:ln w="38100">
            <a:solidFill>
              <a:srgbClr val="154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097280" y="2825496"/>
            <a:ext cx="164592" cy="20116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47672"/>
            <a:ext cx="274320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52536"/>
                </a:solidFill>
                <a:latin typeface="Noto Sans CJK SC"/>
                <a:ea typeface="Noto Sans CJK SC"/>
              </a:rPr>
              <a:t>t0 准入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274320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策略 epoch = 7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生成票据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825496"/>
            <a:ext cx="164592" cy="20116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947672"/>
            <a:ext cx="274320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52536"/>
                </a:solidFill>
                <a:latin typeface="Noto Sans CJK SC"/>
                <a:ea typeface="Noto Sans CJK SC"/>
              </a:rPr>
              <a:t>t1 撤销授权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429000"/>
            <a:ext cx="274320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策略 epoch = 8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旧票据失效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825496"/>
            <a:ext cx="164592" cy="201168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947672"/>
            <a:ext cx="274320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52536"/>
                </a:solidFill>
                <a:latin typeface="Noto Sans CJK SC"/>
                <a:ea typeface="Noto Sans CJK SC"/>
              </a:rPr>
              <a:t>t2 实际执行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429000"/>
            <a:ext cx="2743200" cy="8686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重新检查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拒绝或重新准入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58384"/>
            <a:ext cx="108813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4C79"/>
                </a:solidFill>
                <a:latin typeface="Noto Sans CJK SC"/>
                <a:ea typeface="Noto Sans CJK SC"/>
              </a:rPr>
              <a:t>单机模型用锁；分布式适配器仍需实现一致性协议。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变更影响可沿显式依赖传播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3017520" cy="8686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65176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4C79"/>
                </a:solidFill>
                <a:latin typeface="Noto Sans CJK SC"/>
                <a:ea typeface="Noto Sans CJK SC"/>
              </a:rPr>
              <a:t>源／策略变更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828800"/>
            <a:ext cx="3017520" cy="8686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65176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4C79"/>
                </a:solidFill>
                <a:latin typeface="Noto Sans CJK SC"/>
                <a:ea typeface="Noto Sans CJK SC"/>
              </a:rPr>
              <a:t>IR 失效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017520" cy="8686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651760" cy="5486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4C79"/>
                </a:solidFill>
                <a:latin typeface="Noto Sans CJK SC"/>
                <a:ea typeface="Noto Sans CJK SC"/>
              </a:rPr>
              <a:t>产物重验证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2267712"/>
            <a:ext cx="594360" cy="0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52360" y="2267712"/>
            <a:ext cx="594360" cy="0"/>
          </a:xfrm>
          <a:prstGeom prst="line">
            <a:avLst/>
          </a:prstGeom>
          <a:ln w="1905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22960" y="3337560"/>
            <a:ext cx="5029200" cy="169164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337560"/>
            <a:ext cx="45720" cy="16916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02152"/>
            <a:ext cx="46634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条件：依赖记录完整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78808"/>
            <a:ext cx="4663440" cy="7040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隐藏视图、共享 prompt、latest 别名都可能破坏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局部性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337560"/>
            <a:ext cx="4937760" cy="169164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337560"/>
            <a:ext cx="45720" cy="16916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502152"/>
            <a:ext cx="457200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现状：保守失效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178808"/>
            <a:ext cx="4572000" cy="7040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全局 epoch；不宣称细粒度维护成本已经降低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文件存在，仍不等于任务已完成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4937760" cy="324612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45720" cy="32461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57200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Theme 完成谓词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24328"/>
            <a:ext cx="4572000" cy="22585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所有必需字段齐全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产物摘要与本轮匹配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证据依赖仍有效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指定验证器已通过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783080"/>
            <a:ext cx="5257800" cy="324612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783080"/>
            <a:ext cx="45720" cy="3246120"/>
          </a:xfrm>
          <a:prstGeom prst="rect">
            <a:avLst/>
          </a:prstGeom>
          <a:solidFill>
            <a:srgbClr val="15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47672"/>
            <a:ext cx="48920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54C79"/>
                </a:solidFill>
                <a:latin typeface="Noto Sans CJK SC"/>
                <a:ea typeface="Noto Sans CJK SC"/>
              </a:rPr>
              <a:t>分别记录状态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624328"/>
            <a:ext cx="4892040" cy="22585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已验证完成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部分完成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拒绝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52536"/>
                </a:solidFill>
                <a:latin typeface="Noto Sans CJK SC"/>
                <a:ea typeface="Noto Sans CJK SC"/>
              </a:rPr>
              <a:t>过期，需要重验证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58384"/>
            <a:ext cx="108813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4C79"/>
                </a:solidFill>
                <a:latin typeface="Noto Sans CJK SC"/>
                <a:ea typeface="Noto Sans CJK SC"/>
              </a:rPr>
              <a:t>内容哈希证明字节身份；不证明事实为真或语义蕴含。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已经执行：有限契约一致性验证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一个收入记录 × 十个二值故障维度；穷举整个声明域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Raw cases / 逐例结果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3"/>
              </a:rPr>
              <a:t>Summary / 汇总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320040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6336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F8C"/>
                </a:solidFill>
                <a:latin typeface="Noto Sans CJK SC"/>
                <a:ea typeface="Noto Sans CJK SC"/>
              </a:rPr>
              <a:t>1,024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62656"/>
            <a:ext cx="32004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52536"/>
                </a:solidFill>
                <a:latin typeface="Noto Sans CJK SC"/>
                <a:ea typeface="Noto Sans CJK SC"/>
              </a:rPr>
              <a:t>声明组合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0040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6336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F8C"/>
                </a:solidFill>
                <a:latin typeface="Noto Sans CJK SC"/>
                <a:ea typeface="Noto Sans CJK SC"/>
              </a:rPr>
              <a:t>1,023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62656"/>
            <a:ext cx="32004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52536"/>
                </a:solidFill>
                <a:latin typeface="Noto Sans CJK SC"/>
                <a:ea typeface="Noto Sans CJK SC"/>
              </a:rPr>
              <a:t>预期拒绝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20040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6336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087F8C"/>
                </a:solidFill>
                <a:latin typeface="Noto Sans CJK SC"/>
                <a:ea typeface="Noto Sans CJK SC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62656"/>
            <a:ext cx="32004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52536"/>
                </a:solidFill>
                <a:latin typeface="Noto Sans CJK SC"/>
                <a:ea typeface="Noto Sans CJK SC"/>
              </a:rPr>
              <a:t>与 oracle 分歧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005072"/>
            <a:ext cx="10607040" cy="8686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187952"/>
            <a:ext cx="10149840" cy="4846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2536"/>
                </a:solidFill>
                <a:latin typeface="Noto Sans CJK SC"/>
                <a:ea typeface="Noto Sans CJK SC"/>
              </a:rPr>
              <a:t>另有 5 项生命周期检查通过：撤权、替换、过期、重读、重验证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58384"/>
            <a:ext cx="108813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4C79"/>
                </a:solidFill>
                <a:latin typeface="Noto Sans CJK SC"/>
                <a:ea typeface="Noto Sans CJK SC"/>
              </a:rPr>
              <a:t>这是有限域一致性结果；不是检索质量或扩展性实验。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证据边界：我们现在可以说什么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029200" cy="329184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45720" cy="32918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47672"/>
            <a:ext cx="46634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可以说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24328"/>
            <a:ext cx="4663440" cy="23042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数据边界有可运行规格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十维有限故障域已检查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五项生命周期检查通过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代码、逐例结果、哈希可检查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783080"/>
            <a:ext cx="5303520" cy="329184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783080"/>
            <a:ext cx="45720" cy="3291840"/>
          </a:xfrm>
          <a:prstGeom prst="rect">
            <a:avLst/>
          </a:prstGeom>
          <a:solidFill>
            <a:srgbClr val="9A6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47672"/>
            <a:ext cx="4937759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A6517"/>
                </a:solidFill>
                <a:latin typeface="Noto Sans CJK SC"/>
                <a:ea typeface="Noto Sans CJK SC"/>
              </a:rPr>
              <a:t>尚不能说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624328"/>
            <a:ext cx="4937759" cy="23042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提高真实任务正确率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降低企业总成本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实现分布式安全或扩展性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P1 已成立或已达到顶会实证要求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近期工作：执行、研究与交付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Prime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3"/>
              </a:rPr>
              <a:t>AutoResearch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431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4"/>
              </a:rPr>
              <a:t>Apodex 1.1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3429000" cy="36118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45720" cy="3611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47672"/>
            <a:ext cx="30632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Prime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24328"/>
            <a:ext cx="3063240" cy="26243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持久 REPL、递归会话、全树核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算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迁移：固定总预算和持久状态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限制：高分不证明 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3429000" cy="36118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783080"/>
            <a:ext cx="45720" cy="3611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947672"/>
            <a:ext cx="30632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AutoResearch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24328"/>
            <a:ext cx="3063240" cy="26243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独立评价与主张—证据绑定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迁移：结果必须对应真实产物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限制：示范案例非普适可靠性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783080"/>
            <a:ext cx="3429000" cy="36118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83080"/>
            <a:ext cx="45720" cy="3611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47672"/>
            <a:ext cx="30632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Apodex 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24328"/>
            <a:ext cx="3063240" cy="26243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证据综合与受控产物交付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迁移：交付清单和时效验证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限制：其两轴与 P1 不同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近期工作：索引、路由与来源读取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VoiceMem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3"/>
              </a:rPr>
              <a:t>NeoHorse-1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8431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4"/>
              </a:rPr>
              <a:t>Beyond Top-K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3429000" cy="36118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45720" cy="3611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47672"/>
            <a:ext cx="30632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VoiceMem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24328"/>
            <a:ext cx="3063240" cy="26243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上层索引与后端分开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迁移：索引、路由分别消融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限制：检索时延非端到端时延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3429000" cy="36118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783080"/>
            <a:ext cx="45720" cy="3611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947672"/>
            <a:ext cx="30632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NeoHorse-1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24328"/>
            <a:ext cx="3063240" cy="26243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预测需求 ≠ 实际执行路由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迁移：冻结模型并记录改路原因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限制：一次训练非持续自改进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783080"/>
            <a:ext cx="3429000" cy="36118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783080"/>
            <a:ext cx="45720" cy="36118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47672"/>
            <a:ext cx="30632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Beyond Top-K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624328"/>
            <a:ext cx="3063240" cy="26243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来源结构、单位和年份很关键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迁移：强 BM25 + 原文对照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限制：单文档小样本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v29 修正了哪些方法学风险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10698480" cy="68580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292608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测量不足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865376"/>
            <a:ext cx="726948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覆盖、校准或区间不能判定 → inconclusive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51176"/>
            <a:ext cx="10698480" cy="68580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292608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义务明确失败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679192"/>
            <a:ext cx="726948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充分测量下违规超界 → conditional-engineering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64991"/>
            <a:ext cx="10698480" cy="68580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02151"/>
            <a:ext cx="292608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义务全部通过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493008"/>
            <a:ext cx="726948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再按语义、交互、成本区间判断 P1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78808"/>
            <a:ext cx="10698480" cy="68580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15968"/>
            <a:ext cx="292608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阈值与功效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4306824"/>
            <a:ext cx="726948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阈值源自决策；p95 功效需要保留尾分布的模拟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下一步实验：隔离契约本身的作用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5074920" cy="320040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45720" cy="3200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709159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中心因果对照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96896"/>
            <a:ext cx="4709159" cy="22128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A：保留来源的描述式目录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B：相同目录 + 执行契约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固定候选、工具、模型、预算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来源／模板／时间分组留出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755648"/>
            <a:ext cx="5303520" cy="320040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755648"/>
            <a:ext cx="45720" cy="3200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20240"/>
            <a:ext cx="4937759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一起报告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596896"/>
            <a:ext cx="4937759" cy="22128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所有字段正确且证据有效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未授权／过期释放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合法任务误拒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构建 + 维护 + 在线总成本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358384"/>
            <a:ext cx="108813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4C79"/>
                </a:solidFill>
                <a:latin typeface="Noto Sans CJK SC"/>
                <a:ea typeface="Noto Sans CJK SC"/>
              </a:rPr>
              <a:t>另做强检索基线与逐维消融，避免把导航收益归因于治理。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内部试点：先选一个边界清楚的工作流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建议方案；尚未执行的内部试点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3429000" cy="33832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45720" cy="33832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47672"/>
            <a:ext cx="30632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阶段 1：定义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24328"/>
            <a:ext cx="3063240" cy="23957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选定输出字段与来源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明确单位、期间、授权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人工标注正确与拒绝案例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783080"/>
            <a:ext cx="3429000" cy="33832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45720" cy="33832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947672"/>
            <a:ext cx="30632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阶段 2：适配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24328"/>
            <a:ext cx="3063240" cy="23957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接入一个真实读适配器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实现执行期重验证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用独立日志核查中介覆盖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783080"/>
            <a:ext cx="3429000" cy="3383280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783080"/>
            <a:ext cx="45720" cy="33832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47672"/>
            <a:ext cx="3063240" cy="4754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87F8C"/>
                </a:solidFill>
                <a:latin typeface="Noto Sans CJK SC"/>
                <a:ea typeface="Noto Sans CJK SC"/>
              </a:rPr>
              <a:t>阶段 3：比较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24328"/>
            <a:ext cx="3063240" cy="23957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运行固定预算对照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报告误拒、质量与总成本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52536"/>
                </a:solidFill>
                <a:latin typeface="Noto Sans CJK SC"/>
                <a:ea typeface="Noto Sans CJK SC"/>
              </a:rPr>
              <a:t>通过证据门槛后扩展范围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投稿方向由主贡献与实证决定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时间核查：2026-09-10；当前稿仍需补实证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SIGMOD 2027 CFP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3"/>
              </a:rPr>
              <a:t>OSDI 2027 CFP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4"/>
              </a:rPr>
              <a:t>ICSE 2027 CFP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10698480" cy="941832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310896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</a:rPr>
              <a:t>SIGMOD / PACMMOD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892807"/>
            <a:ext cx="726948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数据契约、真实异构数据、维护成本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22576"/>
            <a:ext cx="7269480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6A78"/>
                </a:solidFill>
                <a:latin typeface="Noto Sans CJK SC"/>
                <a:ea typeface="Noto Sans CJK SC"/>
              </a:rPr>
              <a:t>摘要 10/10；全文 10/17，AoE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871215"/>
            <a:ext cx="10698480" cy="941832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08375"/>
            <a:ext cx="310896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</a:rPr>
              <a:t>OSDI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980944"/>
            <a:ext cx="726948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完整运行时、独立监测、规模与故障实验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410711"/>
            <a:ext cx="7269480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6A78"/>
                </a:solidFill>
                <a:latin typeface="Noto Sans CJK SC"/>
                <a:ea typeface="Noto Sans CJK SC"/>
              </a:rPr>
              <a:t>摘要 12/1；全文 12/8，22:59 UTC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59352"/>
            <a:ext cx="10698480" cy="941832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96512"/>
            <a:ext cx="3108960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Noto Sans CJK SC"/>
                <a:ea typeface="Noto Sans CJK SC"/>
              </a:rPr>
              <a:t>ICSE / FSE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069080"/>
            <a:ext cx="726948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52536"/>
                </a:solidFill>
                <a:latin typeface="Noto Sans CJK SC"/>
                <a:ea typeface="Noto Sans CJK SC"/>
              </a:rPr>
              <a:t>契约演进、变更影响、维护实证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498848"/>
            <a:ext cx="7269480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96A78"/>
                </a:solidFill>
                <a:latin typeface="Noto Sans CJK SC"/>
                <a:ea typeface="Noto Sans CJK SC"/>
              </a:rPr>
              <a:t>ICSE 2027 已截止；FSE 日期未核实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58384"/>
            <a:ext cx="108813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4C79"/>
                </a:solidFill>
                <a:latin typeface="Noto Sans CJK SC"/>
                <a:ea typeface="Noto Sans CJK SC"/>
              </a:rPr>
              <a:t>先决定论文的主问题，再集中资源补齐对应证据。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内部讨论需要做的三个决定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v29 manuscript / 论文源码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333756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87F8C"/>
                </a:solidFill>
                <a:latin typeface="Noto Sans CJK SC"/>
                <a:ea typeface="Noto Sans CJK SC"/>
              </a:rPr>
              <a:t>01  选主问题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55648"/>
            <a:ext cx="6766560" cy="7680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2536"/>
                </a:solidFill>
                <a:latin typeface="Noto Sans CJK SC"/>
                <a:ea typeface="Noto Sans CJK SC"/>
              </a:rPr>
              <a:t>优先数据使用契约，还是完整能力—容量分离？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333756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87F8C"/>
                </a:solidFill>
                <a:latin typeface="Noto Sans CJK SC"/>
                <a:ea typeface="Noto Sans CJK SC"/>
              </a:rPr>
              <a:t>02  选证据场景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07208"/>
            <a:ext cx="6766560" cy="7680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2536"/>
                </a:solidFill>
                <a:latin typeface="Noto Sans CJK SC"/>
                <a:ea typeface="Noto Sans CJK SC"/>
              </a:rPr>
              <a:t>哪个真实工作流有明确来源、授权和可核验输出？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79"/>
            <a:ext cx="333756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87F8C"/>
                </a:solidFill>
                <a:latin typeface="Noto Sans CJK SC"/>
                <a:ea typeface="Noto Sans CJK SC"/>
              </a:rPr>
              <a:t>03  定验收条件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858767"/>
            <a:ext cx="6766560" cy="7680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52536"/>
                </a:solidFill>
                <a:latin typeface="Noto Sans CJK SC"/>
                <a:ea typeface="Noto Sans CJK SC"/>
              </a:rPr>
              <a:t>谁决定质量退化、误拒与总成本的可接受范围？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58384"/>
            <a:ext cx="10881360" cy="51206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54C79"/>
                </a:solidFill>
                <a:latin typeface="Noto Sans CJK SC"/>
                <a:ea typeface="Noto Sans CJK SC"/>
              </a:rPr>
              <a:t>v29 的价值：把架构主张变成可执行、可追证、可被反驳的对象。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38328"/>
            <a:ext cx="64008" cy="43891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92608"/>
            <a:ext cx="11018520" cy="6583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</a:rPr>
              <a:t>阅读与复现入口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6A78"/>
                </a:solidFill>
                <a:latin typeface="Noto Sans CJK SC"/>
                <a:ea typeface="Noto Sans CJK SC"/>
              </a:rPr>
              <a:t>五篇新增精读 + 一篇既有文献复核；全部采用原文链接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6291072"/>
            <a:ext cx="10954512" cy="0"/>
          </a:xfrm>
          <a:prstGeom prst="line">
            <a:avLst/>
          </a:prstGeom>
          <a:ln w="19050">
            <a:solidFill>
              <a:srgbClr val="CB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19088"/>
            <a:ext cx="841248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</a:rPr>
              <a:t>内部分享 · 研究稿 v29 · 2026-09-10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9944"/>
            <a:ext cx="59436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A78"/>
                </a:solidFill>
                <a:latin typeface="Noto Sans CJK SC"/>
                <a:ea typeface="Noto Sans CJK SC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2"/>
              </a:rPr>
              <a:t>Existing arXiv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112" y="6035040"/>
            <a:ext cx="361188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A78"/>
                </a:solidFill>
                <a:latin typeface="Noto Sans CJK SC"/>
                <a:ea typeface="Noto Sans CJK SC"/>
                <a:hlinkClick r:id="rId3"/>
              </a:rPr>
              <a:t>v29 evidence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73352"/>
            <a:ext cx="3063240" cy="3383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  <a:hlinkClick r:id="rId5"/>
              </a:rPr>
              <a:t>Prime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682496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A78"/>
                </a:solidFill>
                <a:latin typeface="Noto Sans CJK SC"/>
                <a:ea typeface="Noto Sans CJK SC"/>
                <a:hlinkClick r:id="rId5"/>
              </a:rPr>
              <a:t>https://arxiv.org/html/2608.23552v1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39696"/>
            <a:ext cx="3063240" cy="3383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  <a:hlinkClick r:id="rId6"/>
              </a:rPr>
              <a:t>AutoResearch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148839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A78"/>
                </a:solidFill>
                <a:latin typeface="Noto Sans CJK SC"/>
                <a:ea typeface="Noto Sans CJK SC"/>
                <a:hlinkClick r:id="rId6"/>
              </a:rPr>
              <a:t>https://arxiv.org/html/2608.17906v1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3063240" cy="3383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  <a:hlinkClick r:id="rId7"/>
              </a:rPr>
              <a:t>Apodex 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615184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A78"/>
                </a:solidFill>
                <a:latin typeface="Noto Sans CJK SC"/>
                <a:ea typeface="Noto Sans CJK SC"/>
                <a:hlinkClick r:id="rId7"/>
              </a:rPr>
              <a:t>https://arxiv.org/html/2608.23283v1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72384"/>
            <a:ext cx="3063240" cy="3383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  <a:hlinkClick r:id="rId8"/>
              </a:rPr>
              <a:t>VoiceMem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081528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A78"/>
                </a:solidFill>
                <a:latin typeface="Noto Sans CJK SC"/>
                <a:ea typeface="Noto Sans CJK SC"/>
                <a:hlinkClick r:id="rId8"/>
              </a:rPr>
              <a:t>https://arxiv.org/html/2608.26005v1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38728"/>
            <a:ext cx="3063240" cy="3383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  <a:hlinkClick r:id="rId9"/>
              </a:rPr>
              <a:t>NeoHorse-1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547872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A78"/>
                </a:solidFill>
                <a:latin typeface="Noto Sans CJK SC"/>
                <a:ea typeface="Noto Sans CJK SC"/>
                <a:hlinkClick r:id="rId9"/>
              </a:rPr>
              <a:t>https://arxiv.org/html/2609.08183v1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05072"/>
            <a:ext cx="3063240" cy="3383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Noto Sans CJK SC"/>
                <a:ea typeface="Noto Sans CJK SC"/>
                <a:hlinkClick r:id="rId10"/>
              </a:rPr>
              <a:t>Beyond Top-K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014215"/>
            <a:ext cx="7315200" cy="2926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16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96A78"/>
                </a:solidFill>
                <a:latin typeface="Noto Sans CJK SC"/>
                <a:ea typeface="Noto Sans CJK SC"/>
                <a:hlinkClick r:id="rId10"/>
              </a:rPr>
              <a:t>https://arxiv.org/html/2608.06305v1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4736592"/>
            <a:ext cx="10561320" cy="832104"/>
          </a:xfrm>
          <a:prstGeom prst="rect">
            <a:avLst/>
          </a:prstGeom>
          <a:solidFill>
            <a:srgbClr val="EE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882896"/>
            <a:ext cx="10195560" cy="5394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54C79"/>
                </a:solidFill>
                <a:latin typeface="Noto Sans CJK SC"/>
                <a:ea typeface="Noto Sans CJK SC"/>
              </a:rPr>
              <a:t>复现：artifact_v29/evaluate.py + test_contract.py</a:t>
            </a:r>
          </a:p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54C79"/>
                </a:solidFill>
                <a:latin typeface="Noto Sans CJK SC"/>
                <a:ea typeface="Noto Sans CJK SC"/>
              </a:rPr>
              <a:t>原始结果：fault-cases.csv / summary.json；P1 未评估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契约驱动的 Agentic Runtime：v29 内部分享</dc:title>
  <dc:subject>Data Wiki, Theme Wiki, 5W1H+Which, executable contracts and evidence boundaries</dc:subject>
  <dc:creator>Yaxiao Liu; Pengbo Liu; Yiwen Liu; Yihua Guan; Zhenghe Hou; Jiaxing Song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