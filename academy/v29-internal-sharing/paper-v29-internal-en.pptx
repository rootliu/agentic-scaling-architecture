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25 minutes plus discussion. Internal v29 revises the existing arXiv manuscript. The new contribution is an executable data boundary with finite validation, not a completed production system or a conference acceptance.</a:t>
            </a:r>
          </a:p>
          <a:p/>
          <a:p>
            <a:r>
              <a:t>Existing arXiv / 已发表前版: https://arxiv.org/abs/2608.27086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a quarterly report. A plausible final number can still rely on the wrong period, unauthorized evidence or a stale artifact. Ask both whether the task was completed and whether its execution met the contract.</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have different evidence levels. The architecture is a design; the data reference model executes; P1 remains an empirical hypothesis. Do not call the complete architecture validated.</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 declares business capability. Harness admits and binds it. Scaffold supplies execution boundaries and resources. The external substrate governs data semantics. This is a responsibility model, not a mandatory four-team organization chart.</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2×2 experiment. A capacity main effect is expected and does not establish P1. Test whether the capability effect changes across capacity, while semantics remain non-inferior and control cost stays within budget. Margins must be decision-derived.</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merely an SQL type error. Schemas and field names can agree while units, entity scope and periods differ. The proposal makes those constraints explicit rather than relying on model inference at query time.</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Wiki describes sources. Theme Wiki specifies outputs. IR declares how a task may connect them. Summaries aid discovery, but canonical sources remain authoritative. IR means Intermediate Relation; the execution ticket is a separate resolved object.</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question words are not seven inventions. The technical work links them to trusted inputs, runtime checks and explicit failures. Why is an approved rationale, not a model-generated causal proof. The reference model implements simplified checks, not multi-source joins.</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not authorization. Search returns candidates; it cannot grant tools or source privileges. Recheck versions and policy immediately before execution, then bind returned evidence. Fallback can only use already permitted paths.</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order matters: admission at t0, revocation at t1, read at t2. The old ticket must not authorize a later read. Revalidation and reading need a shared linearization point relative to updates. Bytes released before revocation cannot be retracted; publication is a separate check.</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 traversal is a standard algorithm. The research question is whether semantic, policy, operator, theme and artifact dependencies can be captured completely and reduce real revalidation work. The current model uses a conservative global epoch, not fine-grained optimization.</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often equate file generation with completion. Examples include a same-named old deck, an unexecuted script, or a valid citation that does not support the claim. These cases retain unresolved obligations instead of being marked complete.</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loaded from the committed result JSON. Only the no-fault configuration should pass; the other 1,023 should be rejected. Zero disagreement establishes conformance in this finite domain. It is not a statistical sample or a production failure-rate bound.</a:t>
            </a:r>
          </a:p>
          <a:p/>
          <a:p>
            <a:r>
              <a:t>Raw cases / 逐例结果: ../agentic-runtime-preprint/artifact_v29/results/fault-cases.csv</a:t>
            </a:r>
          </a:p>
          <a:p>
            <a:r>
              <a:t>Summary / 汇总: ../agentic-runtime-preprint/artifact_v29/results/summary.json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implementation scope from future commitments. There are no natural retrieval, load, cross-tenant attack or complete P1 results. The model assumes trusted descriptors and mediation; it is not a security sandbox.</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external studies, not our results. Prime Agent operationalizes persistent state and accounting. AutoResearch separates artifacts from evidence. Apodex separates generation from controlled delivery. Those broad capabilities are not our unique novelty.</a:t>
            </a:r>
          </a:p>
          <a:p/>
          <a:p>
            <a:r>
              <a:t>Prime Agent: https://arxiv.org/html/2608.23552v1</a:t>
            </a:r>
          </a:p>
          <a:p>
            <a:r>
              <a:t>AutoResearch: https://arxiv.org/html/2608.17906v1</a:t>
            </a:r>
          </a:p>
          <a:p>
            <a:r>
              <a:t>Apodex 1.1: https://arxiv.org/html/2608.23283v1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VoiceMem motivates separate index and routing ablations. NeoHorse separates demand from actual route, exposing capacity-driven model changes. Beyond Top-K motivates strong BM25 controls and conversion-error accounting. The last paper is a recheck of an existing citation.</a:t>
            </a:r>
          </a:p>
          <a:p/>
          <a:p>
            <a:r>
              <a:t>VoiceMem: https://arxiv.org/html/2608.26005v1</a:t>
            </a:r>
          </a:p>
          <a:p>
            <a:r>
              <a:t>NeoHorse-1: https://arxiv.org/html/2609.08183v1</a:t>
            </a:r>
          </a:p>
          <a:p>
            <a:r>
              <a:t>Beyond Top-K: https://arxiv.org/html/2608.06305v1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four-state verdicts no longer overlap. Establish measurement adequacy, then obligation eligibility, then classify P1. Remove the invalid p95 power calculation. Pilot simulation determines replication; it must not widen acceptable degradation.</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candidates, tools, model and budget fixed; vary whether the boundary enforces the described constraints. Include natural errors and injections, with source/time holdouts. Report false refusal alongside violations; rejecting everything is not useful.</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 quarterly report or internal research brief with human-verifiable fields and a controlled source. Business owns tolerances; data owners define sources and policy; platform engineers enforce the boundary. Use evidence gates rather than arbitrary schedule promises.</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Prioritize SIGMOD for data contracts, OSDI for an implemented P1 runtime study, and ICSE/FSE for evolution and maintainability. The October SIGMOD window is tight. Synthetic checks cannot replace empirical work. ICSE 2027 is closed; FSE 2027 deadlines were not verified.</a:t>
            </a:r>
          </a:p>
          <a:p/>
          <a:p>
            <a:r>
              <a:t>SIGMOD 2027 CFP: https://2027.sigmod.org/calls_papers_sigmod_research.shtml</a:t>
            </a:r>
          </a:p>
          <a:p>
            <a:r>
              <a:t>OSDI 2027 CFP: https://www.usenix.org/conference/osdi27/call-for-papers</a:t>
            </a:r>
          </a:p>
          <a:p>
            <a:r>
              <a:t>ICSE 2027 CFP: https://conf.researchr.org/track/icse-2027/icse-2027-research-track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close by implying that all validation is complete. The team must choose the primary question, accessible real data and decision-derived tolerances. The next output is an owned pilot protocol, not another architecture name.</a:t>
            </a:r>
          </a:p>
          <a:p/>
          <a:p>
            <a:r>
              <a:t>v29 manuscript / 论文源码: ../agentic-runtime-preprint/paper_source/main.tex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links on this slide are clickable. Speaker notes preserve reading guidance. The code and case CSV are in artifact_v29 in the same repository. The existing arXiv link points to the earlier public manuscript; v29 has not been submitted as a replacement.</a:t>
            </a:r>
          </a:p>
          <a:p/>
          <a:p>
            <a:r>
              <a:t>Existing arXiv: https://arxiv.org/abs/2608.27086</a:t>
            </a:r>
          </a:p>
          <a:p>
            <a:r>
              <a:t>v29 evidence record: ../agentic-runtime-preprint/V29_REVIEW.md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8.27086"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artifact_v29/results/fault-cases.csv" TargetMode="External"/><Relationship Id="rId3" Type="http://schemas.openxmlformats.org/officeDocument/2006/relationships/hyperlink" Target="../agentic-runtime-preprint/artifact_v29/results/summary.json"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8.23552v1" TargetMode="External"/><Relationship Id="rId3" Type="http://schemas.openxmlformats.org/officeDocument/2006/relationships/hyperlink" Target="https://arxiv.org/html/2608.17906v1" TargetMode="External"/><Relationship Id="rId4" Type="http://schemas.openxmlformats.org/officeDocument/2006/relationships/hyperlink" Target="https://arxiv.org/html/2608.23283v1" TargetMode="Externa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8.26005v1" TargetMode="External"/><Relationship Id="rId3" Type="http://schemas.openxmlformats.org/officeDocument/2006/relationships/hyperlink" Target="https://arxiv.org/html/2609.08183v1" TargetMode="External"/><Relationship Id="rId4" Type="http://schemas.openxmlformats.org/officeDocument/2006/relationships/hyperlink" Target="https://arxiv.org/html/2608.06305v1"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2027.sigmod.org/calls_papers_sigmod_research.shtml" TargetMode="External"/><Relationship Id="rId3" Type="http://schemas.openxmlformats.org/officeDocument/2006/relationships/hyperlink" Target="https://www.usenix.org/conference/osdi27/call-for-papers" TargetMode="External"/><Relationship Id="rId4" Type="http://schemas.openxmlformats.org/officeDocument/2006/relationships/hyperlink" Target="https://conf.researchr.org/track/icse-2027/icse-2027-research-track" TargetMode="Externa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gentic-runtime-preprint/paper_source/main.tex"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8.27086" TargetMode="External"/><Relationship Id="rId3" Type="http://schemas.openxmlformats.org/officeDocument/2006/relationships/hyperlink" Target="../agentic-runtime-preprint/V29_REVIEW.md" TargetMode="External"/><Relationship Id="rId4" Type="http://schemas.openxmlformats.org/officeDocument/2006/relationships/notesSlide" Target="../notesSlides/notesSlide22.xml"/><Relationship Id="rId5" Type="http://schemas.openxmlformats.org/officeDocument/2006/relationships/hyperlink" Target="https://arxiv.org/html/2608.23552v1" TargetMode="External"/><Relationship Id="rId6" Type="http://schemas.openxmlformats.org/officeDocument/2006/relationships/hyperlink" Target="https://arxiv.org/html/2608.17906v1" TargetMode="External"/><Relationship Id="rId7" Type="http://schemas.openxmlformats.org/officeDocument/2006/relationships/hyperlink" Target="https://arxiv.org/html/2608.23283v1" TargetMode="External"/><Relationship Id="rId8" Type="http://schemas.openxmlformats.org/officeDocument/2006/relationships/hyperlink" Target="https://arxiv.org/html/2608.26005v1" TargetMode="External"/><Relationship Id="rId9" Type="http://schemas.openxmlformats.org/officeDocument/2006/relationships/hyperlink" Target="https://arxiv.org/html/2609.08183v1" TargetMode="External"/><Relationship Id="rId10" Type="http://schemas.openxmlformats.org/officeDocument/2006/relationships/hyperlink" Target="https://arxiv.org/html/2608.06305v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Contract-Centered Agentic Runtimes</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From responsibility boundaries to executable 5W1H data-use contracts</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01</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Existing arXiv / 已发表前版</a:t>
            </a:r>
          </a:p>
        </p:txBody>
      </p:sp>
      <p:sp>
        <p:nvSpPr>
          <p:cNvPr id="9" name="TextBox 8"/>
          <p:cNvSpPr txBox="1"/>
          <p:nvPr/>
        </p:nvSpPr>
        <p:spPr>
          <a:xfrm>
            <a:off x="731520" y="1874519"/>
            <a:ext cx="10789920" cy="1188720"/>
          </a:xfrm>
          <a:prstGeom prst="rect">
            <a:avLst/>
          </a:prstGeom>
          <a:noFill/>
        </p:spPr>
        <p:txBody>
          <a:bodyPr wrap="none" lIns="0" rIns="0" tIns="0" bIns="0">
            <a:noAutofit/>
          </a:bodyPr>
          <a:lstStyle/>
          <a:p>
            <a:pPr>
              <a:lnSpc>
                <a:spcPts val="3564"/>
              </a:lnSpc>
              <a:spcBef>
                <a:spcPts val="0"/>
              </a:spcBef>
              <a:spcAft>
                <a:spcPts val="0"/>
              </a:spcAft>
            </a:pPr>
            <a:r>
              <a:rPr sz="2700" b="1">
                <a:solidFill>
                  <a:srgbClr val="152536"/>
                </a:solidFill>
                <a:latin typeface="Noto Sans CJK SC"/>
                <a:ea typeface="Noto Sans CJK SC"/>
              </a:rPr>
              <a:t>Capabilities evolve. Capacity grows.</a:t>
            </a:r>
          </a:p>
          <a:p>
            <a:pPr>
              <a:lnSpc>
                <a:spcPts val="3564"/>
              </a:lnSpc>
              <a:spcBef>
                <a:spcPts val="0"/>
              </a:spcBef>
              <a:spcAft>
                <a:spcPts val="0"/>
              </a:spcAft>
            </a:pPr>
            <a:r>
              <a:rPr sz="2700" b="1">
                <a:solidFill>
                  <a:srgbClr val="152536"/>
                </a:solidFill>
                <a:latin typeface="Noto Sans CJK SC"/>
                <a:ea typeface="Noto Sans CJK SC"/>
              </a:rPr>
              <a:t>Data identity, authority and evidence must remain checkable.</a:t>
            </a:r>
          </a:p>
        </p:txBody>
      </p:sp>
      <p:sp>
        <p:nvSpPr>
          <p:cNvPr id="10" name="Rectangle 9"/>
          <p:cNvSpPr/>
          <p:nvPr/>
        </p:nvSpPr>
        <p:spPr>
          <a:xfrm>
            <a:off x="731520" y="3520440"/>
            <a:ext cx="10744200" cy="7315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694176"/>
            <a:ext cx="10287000" cy="365760"/>
          </a:xfrm>
          <a:prstGeom prst="rect">
            <a:avLst/>
          </a:prstGeom>
          <a:noFill/>
        </p:spPr>
        <p:txBody>
          <a:bodyPr wrap="none" lIns="0" rIns="0" tIns="0" bIns="0">
            <a:noAutofit/>
          </a:bodyPr>
          <a:lstStyle/>
          <a:p>
            <a:pPr>
              <a:lnSpc>
                <a:spcPts val="2376"/>
              </a:lnSpc>
              <a:spcBef>
                <a:spcPts val="0"/>
              </a:spcBef>
              <a:spcAft>
                <a:spcPts val="0"/>
              </a:spcAft>
            </a:pPr>
            <a:r>
              <a:rPr sz="1800" b="0">
                <a:solidFill>
                  <a:srgbClr val="154C79"/>
                </a:solidFill>
                <a:latin typeface="Noto Sans CJK SC"/>
                <a:ea typeface="Noto Sans CJK SC"/>
              </a:rPr>
              <a:t>Status: executable mechanism and synthetic checks; real-task and scaling studies remain open</a:t>
            </a:r>
          </a:p>
        </p:txBody>
      </p:sp>
      <p:sp>
        <p:nvSpPr>
          <p:cNvPr id="12" name="TextBox 11"/>
          <p:cNvSpPr txBox="1"/>
          <p:nvPr/>
        </p:nvSpPr>
        <p:spPr>
          <a:xfrm>
            <a:off x="731520" y="4681728"/>
            <a:ext cx="10744200" cy="777240"/>
          </a:xfrm>
          <a:prstGeom prst="rect">
            <a:avLst/>
          </a:prstGeom>
          <a:noFill/>
        </p:spPr>
        <p:txBody>
          <a:bodyPr wrap="none" lIns="0" rIns="0" tIns="0" bIns="0">
            <a:noAutofit/>
          </a:bodyPr>
          <a:lstStyle/>
          <a:p>
            <a:pPr>
              <a:lnSpc>
                <a:spcPts val="1848"/>
              </a:lnSpc>
              <a:spcBef>
                <a:spcPts val="0"/>
              </a:spcBef>
              <a:spcAft>
                <a:spcPts val="0"/>
              </a:spcAft>
            </a:pPr>
            <a:r>
              <a:rPr sz="1400" b="0">
                <a:solidFill>
                  <a:srgbClr val="596A78"/>
                </a:solidFill>
                <a:latin typeface="Noto Sans CJK SC"/>
                <a:ea typeface="Noto Sans CJK SC"/>
              </a:rPr>
              <a:t>Yaxiao Liu · Pengbo Liu · Yiwen Liu · Yihua Guan · Zhenghe Hou · Jiaxing Song</a:t>
            </a:r>
          </a:p>
          <a:p>
            <a:pPr>
              <a:lnSpc>
                <a:spcPts val="1848"/>
              </a:lnSpc>
              <a:spcBef>
                <a:spcPts val="0"/>
              </a:spcBef>
              <a:spcAft>
                <a:spcPts val="0"/>
              </a:spcAft>
            </a:pPr>
            <a:r>
              <a:rPr sz="1400" b="0">
                <a:solidFill>
                  <a:srgbClr val="596A78"/>
                </a:solidFill>
                <a:latin typeface="Noto Sans CJK SC"/>
                <a:ea typeface="Noto Sans CJK SC"/>
              </a:rPr>
              <a:t>PwC China AI Center / Tsinghua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Task success does not establish system manageability</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Enterprise work crosses business, model, infrastructure and data-governance boundaries</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02</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9" name="Rectangle 8"/>
          <p:cNvSpPr/>
          <p:nvPr/>
        </p:nvSpPr>
        <p:spPr>
          <a:xfrm>
            <a:off x="685800" y="1783080"/>
            <a:ext cx="3474720" cy="30175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783080"/>
            <a:ext cx="45720" cy="3017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47672"/>
            <a:ext cx="310896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Business</a:t>
            </a:r>
          </a:p>
        </p:txBody>
      </p:sp>
      <p:sp>
        <p:nvSpPr>
          <p:cNvPr id="12" name="TextBox 11"/>
          <p:cNvSpPr txBox="1"/>
          <p:nvPr/>
        </p:nvSpPr>
        <p:spPr>
          <a:xfrm>
            <a:off x="868680" y="2624328"/>
            <a:ext cx="3108960" cy="2029967"/>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Is the result useful?</a:t>
            </a:r>
          </a:p>
          <a:p>
            <a:pPr>
              <a:lnSpc>
                <a:spcPts val="2508"/>
              </a:lnSpc>
              <a:spcBef>
                <a:spcPts val="0"/>
              </a:spcBef>
              <a:spcAft>
                <a:spcPts val="0"/>
              </a:spcAft>
            </a:pPr>
            <a:r>
              <a:rPr sz="1900" b="0">
                <a:solidFill>
                  <a:srgbClr val="152536"/>
                </a:solidFill>
                <a:latin typeface="Noto Sans CJK SC"/>
                <a:ea typeface="Noto Sans CJK SC"/>
              </a:rPr>
              <a:t>Are all required fields</a:t>
            </a:r>
          </a:p>
          <a:p>
            <a:pPr>
              <a:lnSpc>
                <a:spcPts val="2508"/>
              </a:lnSpc>
              <a:spcBef>
                <a:spcPts val="0"/>
              </a:spcBef>
              <a:spcAft>
                <a:spcPts val="0"/>
              </a:spcAft>
            </a:pPr>
            <a:r>
              <a:rPr sz="1900" b="0">
                <a:solidFill>
                  <a:srgbClr val="152536"/>
                </a:solidFill>
                <a:latin typeface="Noto Sans CJK SC"/>
                <a:ea typeface="Noto Sans CJK SC"/>
              </a:rPr>
              <a:t>correct?</a:t>
            </a:r>
          </a:p>
          <a:p>
            <a:pPr>
              <a:lnSpc>
                <a:spcPts val="2508"/>
              </a:lnSpc>
              <a:spcBef>
                <a:spcPts val="0"/>
              </a:spcBef>
              <a:spcAft>
                <a:spcPts val="0"/>
              </a:spcAft>
            </a:pPr>
            <a:r>
              <a:rPr sz="1900" b="0">
                <a:solidFill>
                  <a:srgbClr val="152536"/>
                </a:solidFill>
                <a:latin typeface="Noto Sans CJK SC"/>
                <a:ea typeface="Noto Sans CJK SC"/>
              </a:rPr>
              <a:t>How much human rework</a:t>
            </a:r>
          </a:p>
          <a:p>
            <a:pPr>
              <a:lnSpc>
                <a:spcPts val="2508"/>
              </a:lnSpc>
              <a:spcBef>
                <a:spcPts val="0"/>
              </a:spcBef>
              <a:spcAft>
                <a:spcPts val="0"/>
              </a:spcAft>
            </a:pPr>
            <a:r>
              <a:rPr sz="1900" b="0">
                <a:solidFill>
                  <a:srgbClr val="152536"/>
                </a:solidFill>
                <a:latin typeface="Noto Sans CJK SC"/>
                <a:ea typeface="Noto Sans CJK SC"/>
              </a:rPr>
              <a:t>remains?</a:t>
            </a:r>
          </a:p>
        </p:txBody>
      </p:sp>
      <p:sp>
        <p:nvSpPr>
          <p:cNvPr id="13" name="Rectangle 12"/>
          <p:cNvSpPr/>
          <p:nvPr/>
        </p:nvSpPr>
        <p:spPr>
          <a:xfrm>
            <a:off x="4352544" y="1783080"/>
            <a:ext cx="3474720" cy="30175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1783080"/>
            <a:ext cx="45720" cy="3017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1947672"/>
            <a:ext cx="310896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Runtime</a:t>
            </a:r>
          </a:p>
        </p:txBody>
      </p:sp>
      <p:sp>
        <p:nvSpPr>
          <p:cNvPr id="16" name="TextBox 15"/>
          <p:cNvSpPr txBox="1"/>
          <p:nvPr/>
        </p:nvSpPr>
        <p:spPr>
          <a:xfrm>
            <a:off x="4535424" y="2624328"/>
            <a:ext cx="3108960" cy="2029967"/>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Does capacity change</a:t>
            </a:r>
          </a:p>
          <a:p>
            <a:pPr>
              <a:lnSpc>
                <a:spcPts val="2508"/>
              </a:lnSpc>
              <a:spcBef>
                <a:spcPts val="0"/>
              </a:spcBef>
              <a:spcAft>
                <a:spcPts val="0"/>
              </a:spcAft>
            </a:pPr>
            <a:r>
              <a:rPr sz="1900" b="0">
                <a:solidFill>
                  <a:srgbClr val="152536"/>
                </a:solidFill>
                <a:latin typeface="Noto Sans CJK SC"/>
                <a:ea typeface="Noto Sans CJK SC"/>
              </a:rPr>
              <a:t>behavior?</a:t>
            </a:r>
          </a:p>
          <a:p>
            <a:pPr>
              <a:lnSpc>
                <a:spcPts val="2508"/>
              </a:lnSpc>
              <a:spcBef>
                <a:spcPts val="0"/>
              </a:spcBef>
              <a:spcAft>
                <a:spcPts val="0"/>
              </a:spcAft>
            </a:pPr>
            <a:r>
              <a:rPr sz="1900" b="0">
                <a:solidFill>
                  <a:srgbClr val="152536"/>
                </a:solidFill>
                <a:latin typeface="Noto Sans CJK SC"/>
                <a:ea typeface="Noto Sans CJK SC"/>
              </a:rPr>
              <a:t>Can failures be recovered?</a:t>
            </a:r>
          </a:p>
          <a:p>
            <a:pPr>
              <a:lnSpc>
                <a:spcPts val="2508"/>
              </a:lnSpc>
              <a:spcBef>
                <a:spcPts val="0"/>
              </a:spcBef>
              <a:spcAft>
                <a:spcPts val="0"/>
              </a:spcAft>
            </a:pPr>
            <a:r>
              <a:rPr sz="1900" b="0">
                <a:solidFill>
                  <a:srgbClr val="152536"/>
                </a:solidFill>
                <a:latin typeface="Noto Sans CJK SC"/>
                <a:ea typeface="Noto Sans CJK SC"/>
              </a:rPr>
              <a:t>Are enforcement costs</a:t>
            </a:r>
          </a:p>
          <a:p>
            <a:pPr>
              <a:lnSpc>
                <a:spcPts val="2508"/>
              </a:lnSpc>
              <a:spcBef>
                <a:spcPts val="0"/>
              </a:spcBef>
              <a:spcAft>
                <a:spcPts val="0"/>
              </a:spcAft>
            </a:pPr>
            <a:r>
              <a:rPr sz="1900" b="0">
                <a:solidFill>
                  <a:srgbClr val="152536"/>
                </a:solidFill>
                <a:latin typeface="Noto Sans CJK SC"/>
                <a:ea typeface="Noto Sans CJK SC"/>
              </a:rPr>
              <a:t>acceptable?</a:t>
            </a:r>
          </a:p>
        </p:txBody>
      </p:sp>
      <p:sp>
        <p:nvSpPr>
          <p:cNvPr id="17" name="Rectangle 16"/>
          <p:cNvSpPr/>
          <p:nvPr/>
        </p:nvSpPr>
        <p:spPr>
          <a:xfrm>
            <a:off x="8019288" y="1783080"/>
            <a:ext cx="3474720" cy="30175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9288" y="1783080"/>
            <a:ext cx="45720" cy="30175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7" y="1947672"/>
            <a:ext cx="310896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Data</a:t>
            </a:r>
          </a:p>
        </p:txBody>
      </p:sp>
      <p:sp>
        <p:nvSpPr>
          <p:cNvPr id="20" name="TextBox 19"/>
          <p:cNvSpPr txBox="1"/>
          <p:nvPr/>
        </p:nvSpPr>
        <p:spPr>
          <a:xfrm>
            <a:off x="8202167" y="2624328"/>
            <a:ext cx="3108960" cy="2029967"/>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Is the source version</a:t>
            </a:r>
          </a:p>
          <a:p>
            <a:pPr>
              <a:lnSpc>
                <a:spcPts val="2508"/>
              </a:lnSpc>
              <a:spcBef>
                <a:spcPts val="0"/>
              </a:spcBef>
              <a:spcAft>
                <a:spcPts val="0"/>
              </a:spcAft>
            </a:pPr>
            <a:r>
              <a:rPr sz="1900" b="0">
                <a:solidFill>
                  <a:srgbClr val="152536"/>
                </a:solidFill>
                <a:latin typeface="Noto Sans CJK SC"/>
                <a:ea typeface="Noto Sans CJK SC"/>
              </a:rPr>
              <a:t>correct?</a:t>
            </a:r>
          </a:p>
          <a:p>
            <a:pPr>
              <a:lnSpc>
                <a:spcPts val="2508"/>
              </a:lnSpc>
              <a:spcBef>
                <a:spcPts val="0"/>
              </a:spcBef>
              <a:spcAft>
                <a:spcPts val="0"/>
              </a:spcAft>
            </a:pPr>
            <a:r>
              <a:rPr sz="1900" b="0">
                <a:solidFill>
                  <a:srgbClr val="152536"/>
                </a:solidFill>
                <a:latin typeface="Noto Sans CJK SC"/>
                <a:ea typeface="Noto Sans CJK SC"/>
              </a:rPr>
              <a:t>Is access still authorized</a:t>
            </a:r>
          </a:p>
          <a:p>
            <a:pPr>
              <a:lnSpc>
                <a:spcPts val="2508"/>
              </a:lnSpc>
              <a:spcBef>
                <a:spcPts val="0"/>
              </a:spcBef>
              <a:spcAft>
                <a:spcPts val="0"/>
              </a:spcAft>
            </a:pPr>
            <a:r>
              <a:rPr sz="1900" b="0">
                <a:solidFill>
                  <a:srgbClr val="152536"/>
                </a:solidFill>
                <a:latin typeface="Noto Sans CJK SC"/>
                <a:ea typeface="Noto Sans CJK SC"/>
              </a:rPr>
              <a:t>now?</a:t>
            </a:r>
          </a:p>
          <a:p>
            <a:pPr>
              <a:lnSpc>
                <a:spcPts val="2508"/>
              </a:lnSpc>
              <a:spcBef>
                <a:spcPts val="0"/>
              </a:spcBef>
              <a:spcAft>
                <a:spcPts val="0"/>
              </a:spcAft>
            </a:pPr>
            <a:r>
              <a:rPr sz="1900" b="0">
                <a:solidFill>
                  <a:srgbClr val="152536"/>
                </a:solidFill>
                <a:latin typeface="Noto Sans CJK SC"/>
                <a:ea typeface="Noto Sans CJK SC"/>
              </a:rPr>
              <a:t>Can claims be traced to</a:t>
            </a:r>
          </a:p>
          <a:p>
            <a:pPr>
              <a:lnSpc>
                <a:spcPts val="2508"/>
              </a:lnSpc>
              <a:spcBef>
                <a:spcPts val="0"/>
              </a:spcBef>
              <a:spcAft>
                <a:spcPts val="0"/>
              </a:spcAft>
            </a:pPr>
            <a:r>
              <a:rPr sz="1900" b="0">
                <a:solidFill>
                  <a:srgbClr val="152536"/>
                </a:solidFill>
                <a:latin typeface="Noto Sans CJK SC"/>
                <a:ea typeface="Noto Sans CJK SC"/>
              </a:rPr>
              <a:t>evidence?</a:t>
            </a:r>
          </a:p>
        </p:txBody>
      </p:sp>
      <p:sp>
        <p:nvSpPr>
          <p:cNvPr id="21" name="TextBox 20"/>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Business evidence and runtime evidence must be reported separately.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v29 makes the data boundary executable</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03</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685800" y="1737360"/>
            <a:ext cx="3474720" cy="2971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737360"/>
            <a:ext cx="45720"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01952"/>
            <a:ext cx="3108960" cy="475488"/>
          </a:xfrm>
          <a:prstGeom prst="rect">
            <a:avLst/>
          </a:prstGeom>
          <a:noFill/>
        </p:spPr>
        <p:txBody>
          <a:bodyPr wrap="none" lIns="0" rIns="0" tIns="0" bIns="0">
            <a:noAutofit/>
          </a:bodyPr>
          <a:lstStyle/>
          <a:p>
            <a:pPr>
              <a:lnSpc>
                <a:spcPts val="2376"/>
              </a:lnSpc>
              <a:spcBef>
                <a:spcPts val="0"/>
              </a:spcBef>
              <a:spcAft>
                <a:spcPts val="0"/>
              </a:spcAft>
            </a:pPr>
            <a:r>
              <a:rPr sz="1800" b="1">
                <a:solidFill>
                  <a:srgbClr val="087F8C"/>
                </a:solidFill>
                <a:latin typeface="Noto Sans CJK SC"/>
                <a:ea typeface="Noto Sans CJK SC"/>
              </a:rPr>
              <a:t>01 Responsibility contracts</a:t>
            </a:r>
          </a:p>
        </p:txBody>
      </p:sp>
      <p:sp>
        <p:nvSpPr>
          <p:cNvPr id="11" name="TextBox 10"/>
          <p:cNvSpPr txBox="1"/>
          <p:nvPr/>
        </p:nvSpPr>
        <p:spPr>
          <a:xfrm>
            <a:off x="868680" y="2578608"/>
            <a:ext cx="3108960" cy="1984248"/>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Skill / Harness / Scaffold</a:t>
            </a:r>
          </a:p>
          <a:p>
            <a:pPr>
              <a:lnSpc>
                <a:spcPts val="2508"/>
              </a:lnSpc>
              <a:spcBef>
                <a:spcPts val="0"/>
              </a:spcBef>
              <a:spcAft>
                <a:spcPts val="0"/>
              </a:spcAft>
            </a:pPr>
            <a:r>
              <a:rPr sz="1900" b="0">
                <a:solidFill>
                  <a:srgbClr val="152536"/>
                </a:solidFill>
                <a:latin typeface="Noto Sans CJK SC"/>
                <a:ea typeface="Noto Sans CJK SC"/>
              </a:rPr>
              <a:t>Independent external</a:t>
            </a:r>
          </a:p>
          <a:p>
            <a:pPr>
              <a:lnSpc>
                <a:spcPts val="2508"/>
              </a:lnSpc>
              <a:spcBef>
                <a:spcPts val="0"/>
              </a:spcBef>
              <a:spcAft>
                <a:spcPts val="0"/>
              </a:spcAft>
            </a:pPr>
            <a:r>
              <a:rPr sz="1900" b="0">
                <a:solidFill>
                  <a:srgbClr val="152536"/>
                </a:solidFill>
                <a:latin typeface="Noto Sans CJK SC"/>
                <a:ea typeface="Noto Sans CJK SC"/>
              </a:rPr>
              <a:t>data governance</a:t>
            </a:r>
          </a:p>
        </p:txBody>
      </p:sp>
      <p:sp>
        <p:nvSpPr>
          <p:cNvPr id="12" name="TextBox 11"/>
          <p:cNvSpPr txBox="1"/>
          <p:nvPr/>
        </p:nvSpPr>
        <p:spPr>
          <a:xfrm>
            <a:off x="822960" y="4864608"/>
            <a:ext cx="3246120" cy="438912"/>
          </a:xfrm>
          <a:prstGeom prst="rect">
            <a:avLst/>
          </a:prstGeom>
          <a:noFill/>
        </p:spPr>
        <p:txBody>
          <a:bodyPr wrap="none" lIns="0" rIns="0" tIns="0" bIns="0">
            <a:noAutofit/>
          </a:bodyPr>
          <a:lstStyle/>
          <a:p>
            <a:pPr>
              <a:lnSpc>
                <a:spcPts val="1980"/>
              </a:lnSpc>
              <a:spcBef>
                <a:spcPts val="0"/>
              </a:spcBef>
              <a:spcAft>
                <a:spcPts val="0"/>
              </a:spcAft>
            </a:pPr>
            <a:r>
              <a:rPr sz="1500" b="1">
                <a:solidFill>
                  <a:srgbClr val="154C79"/>
                </a:solidFill>
                <a:latin typeface="Noto Sans CJK SC"/>
                <a:ea typeface="Noto Sans CJK SC"/>
              </a:rPr>
              <a:t>Design</a:t>
            </a:r>
          </a:p>
        </p:txBody>
      </p:sp>
      <p:sp>
        <p:nvSpPr>
          <p:cNvPr id="13" name="Rectangle 12"/>
          <p:cNvSpPr/>
          <p:nvPr/>
        </p:nvSpPr>
        <p:spPr>
          <a:xfrm>
            <a:off x="4352544" y="1737360"/>
            <a:ext cx="3474720" cy="2971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1737360"/>
            <a:ext cx="45720"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1901952"/>
            <a:ext cx="310896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02 Data-use boundary</a:t>
            </a:r>
          </a:p>
        </p:txBody>
      </p:sp>
      <p:sp>
        <p:nvSpPr>
          <p:cNvPr id="16" name="TextBox 15"/>
          <p:cNvSpPr txBox="1"/>
          <p:nvPr/>
        </p:nvSpPr>
        <p:spPr>
          <a:xfrm>
            <a:off x="4535424" y="2578608"/>
            <a:ext cx="3108960" cy="1984248"/>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5W1H+Which predicates</a:t>
            </a:r>
          </a:p>
          <a:p>
            <a:pPr>
              <a:lnSpc>
                <a:spcPts val="2508"/>
              </a:lnSpc>
              <a:spcBef>
                <a:spcPts val="0"/>
              </a:spcBef>
              <a:spcAft>
                <a:spcPts val="0"/>
              </a:spcAft>
            </a:pPr>
            <a:r>
              <a:rPr sz="1900" b="0">
                <a:solidFill>
                  <a:srgbClr val="152536"/>
                </a:solidFill>
                <a:latin typeface="Noto Sans CJK SC"/>
                <a:ea typeface="Noto Sans CJK SC"/>
              </a:rPr>
              <a:t>Revalidation and evidence</a:t>
            </a:r>
          </a:p>
          <a:p>
            <a:pPr>
              <a:lnSpc>
                <a:spcPts val="2508"/>
              </a:lnSpc>
              <a:spcBef>
                <a:spcPts val="0"/>
              </a:spcBef>
              <a:spcAft>
                <a:spcPts val="0"/>
              </a:spcAft>
            </a:pPr>
            <a:r>
              <a:rPr sz="1900" b="0">
                <a:solidFill>
                  <a:srgbClr val="152536"/>
                </a:solidFill>
                <a:latin typeface="Noto Sans CJK SC"/>
                <a:ea typeface="Noto Sans CJK SC"/>
              </a:rPr>
              <a:t>binding</a:t>
            </a:r>
          </a:p>
        </p:txBody>
      </p:sp>
      <p:sp>
        <p:nvSpPr>
          <p:cNvPr id="17" name="TextBox 16"/>
          <p:cNvSpPr txBox="1"/>
          <p:nvPr/>
        </p:nvSpPr>
        <p:spPr>
          <a:xfrm>
            <a:off x="4489704" y="4864608"/>
            <a:ext cx="3246120" cy="438912"/>
          </a:xfrm>
          <a:prstGeom prst="rect">
            <a:avLst/>
          </a:prstGeom>
          <a:noFill/>
        </p:spPr>
        <p:txBody>
          <a:bodyPr wrap="none" lIns="0" rIns="0" tIns="0" bIns="0">
            <a:noAutofit/>
          </a:bodyPr>
          <a:lstStyle/>
          <a:p>
            <a:pPr>
              <a:lnSpc>
                <a:spcPts val="1848"/>
              </a:lnSpc>
              <a:spcBef>
                <a:spcPts val="0"/>
              </a:spcBef>
              <a:spcAft>
                <a:spcPts val="0"/>
              </a:spcAft>
            </a:pPr>
            <a:r>
              <a:rPr sz="1400" b="1">
                <a:solidFill>
                  <a:srgbClr val="154C79"/>
                </a:solidFill>
                <a:latin typeface="Noto Sans CJK SC"/>
                <a:ea typeface="Noto Sans CJK SC"/>
              </a:rPr>
              <a:t>Executable, bounded reference</a:t>
            </a:r>
          </a:p>
          <a:p>
            <a:pPr>
              <a:lnSpc>
                <a:spcPts val="1848"/>
              </a:lnSpc>
              <a:spcBef>
                <a:spcPts val="0"/>
              </a:spcBef>
              <a:spcAft>
                <a:spcPts val="0"/>
              </a:spcAft>
            </a:pPr>
            <a:r>
              <a:rPr sz="1400" b="1">
                <a:solidFill>
                  <a:srgbClr val="154C79"/>
                </a:solidFill>
                <a:latin typeface="Noto Sans CJK SC"/>
                <a:ea typeface="Noto Sans CJK SC"/>
              </a:rPr>
              <a:t>model</a:t>
            </a:r>
          </a:p>
        </p:txBody>
      </p:sp>
      <p:sp>
        <p:nvSpPr>
          <p:cNvPr id="18" name="Rectangle 17"/>
          <p:cNvSpPr/>
          <p:nvPr/>
        </p:nvSpPr>
        <p:spPr>
          <a:xfrm>
            <a:off x="8019288" y="1737360"/>
            <a:ext cx="3474720" cy="2971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9288" y="1737360"/>
            <a:ext cx="45720" cy="29718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2167" y="1901952"/>
            <a:ext cx="3108960" cy="475488"/>
          </a:xfrm>
          <a:prstGeom prst="rect">
            <a:avLst/>
          </a:prstGeom>
          <a:noFill/>
        </p:spPr>
        <p:txBody>
          <a:bodyPr wrap="none" lIns="0" rIns="0" tIns="0" bIns="0">
            <a:noAutofit/>
          </a:bodyPr>
          <a:lstStyle/>
          <a:p>
            <a:pPr>
              <a:lnSpc>
                <a:spcPts val="2640"/>
              </a:lnSpc>
              <a:spcBef>
                <a:spcPts val="0"/>
              </a:spcBef>
              <a:spcAft>
                <a:spcPts val="0"/>
              </a:spcAft>
            </a:pPr>
            <a:r>
              <a:rPr sz="2000" b="1">
                <a:solidFill>
                  <a:srgbClr val="087F8C"/>
                </a:solidFill>
                <a:latin typeface="Noto Sans CJK SC"/>
                <a:ea typeface="Noto Sans CJK SC"/>
              </a:rPr>
              <a:t>03 Falsifiable evaluation</a:t>
            </a:r>
          </a:p>
        </p:txBody>
      </p:sp>
      <p:sp>
        <p:nvSpPr>
          <p:cNvPr id="21" name="TextBox 20"/>
          <p:cNvSpPr txBox="1"/>
          <p:nvPr/>
        </p:nvSpPr>
        <p:spPr>
          <a:xfrm>
            <a:off x="8202167" y="2578608"/>
            <a:ext cx="3108960" cy="1984248"/>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Capability × capacity</a:t>
            </a:r>
          </a:p>
          <a:p>
            <a:pPr>
              <a:lnSpc>
                <a:spcPts val="2508"/>
              </a:lnSpc>
              <a:spcBef>
                <a:spcPts val="0"/>
              </a:spcBef>
              <a:spcAft>
                <a:spcPts val="0"/>
              </a:spcAft>
            </a:pPr>
            <a:r>
              <a:rPr sz="1900" b="0">
                <a:solidFill>
                  <a:srgbClr val="152536"/>
                </a:solidFill>
                <a:latin typeface="Noto Sans CJK SC"/>
                <a:ea typeface="Noto Sans CJK SC"/>
              </a:rPr>
              <a:t>experiment</a:t>
            </a:r>
          </a:p>
          <a:p>
            <a:pPr>
              <a:lnSpc>
                <a:spcPts val="2508"/>
              </a:lnSpc>
              <a:spcBef>
                <a:spcPts val="0"/>
              </a:spcBef>
              <a:spcAft>
                <a:spcPts val="0"/>
              </a:spcAft>
            </a:pPr>
            <a:r>
              <a:rPr sz="1900" b="0">
                <a:solidFill>
                  <a:srgbClr val="152536"/>
                </a:solidFill>
                <a:latin typeface="Noto Sans CJK SC"/>
                <a:ea typeface="Noto Sans CJK SC"/>
              </a:rPr>
              <a:t>Quality, violations and</a:t>
            </a:r>
          </a:p>
          <a:p>
            <a:pPr>
              <a:lnSpc>
                <a:spcPts val="2508"/>
              </a:lnSpc>
              <a:spcBef>
                <a:spcPts val="0"/>
              </a:spcBef>
              <a:spcAft>
                <a:spcPts val="0"/>
              </a:spcAft>
            </a:pPr>
            <a:r>
              <a:rPr sz="1900" b="0">
                <a:solidFill>
                  <a:srgbClr val="152536"/>
                </a:solidFill>
                <a:latin typeface="Noto Sans CJK SC"/>
                <a:ea typeface="Noto Sans CJK SC"/>
              </a:rPr>
              <a:t>total cost</a:t>
            </a:r>
          </a:p>
        </p:txBody>
      </p:sp>
      <p:sp>
        <p:nvSpPr>
          <p:cNvPr id="22" name="TextBox 21"/>
          <p:cNvSpPr txBox="1"/>
          <p:nvPr/>
        </p:nvSpPr>
        <p:spPr>
          <a:xfrm>
            <a:off x="8156448" y="4864608"/>
            <a:ext cx="3246120" cy="438912"/>
          </a:xfrm>
          <a:prstGeom prst="rect">
            <a:avLst/>
          </a:prstGeom>
          <a:noFill/>
        </p:spPr>
        <p:txBody>
          <a:bodyPr wrap="none" lIns="0" rIns="0" tIns="0" bIns="0">
            <a:noAutofit/>
          </a:bodyPr>
          <a:lstStyle/>
          <a:p>
            <a:pPr>
              <a:lnSpc>
                <a:spcPts val="1980"/>
              </a:lnSpc>
              <a:spcBef>
                <a:spcPts val="0"/>
              </a:spcBef>
              <a:spcAft>
                <a:spcPts val="0"/>
              </a:spcAft>
            </a:pPr>
            <a:r>
              <a:rPr sz="1500" b="1">
                <a:solidFill>
                  <a:srgbClr val="154C79"/>
                </a:solidFill>
                <a:latin typeface="Noto Sans CJK SC"/>
                <a:ea typeface="Noto Sans CJK SC"/>
              </a:rPr>
              <a:t>Confirmatory study not yet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Four responsibility objects; three runtime layers</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The data substrate sits outside the stack with independent semantic ownership</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04</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9" name="Rectangle 8"/>
          <p:cNvSpPr/>
          <p:nvPr/>
        </p:nvSpPr>
        <p:spPr>
          <a:xfrm>
            <a:off x="731520" y="1691640"/>
            <a:ext cx="6675120" cy="89611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01368"/>
            <a:ext cx="1828800" cy="365760"/>
          </a:xfrm>
          <a:prstGeom prst="rect">
            <a:avLst/>
          </a:prstGeom>
          <a:noFill/>
        </p:spPr>
        <p:txBody>
          <a:bodyPr wrap="none" lIns="0" rIns="0" tIns="0" bIns="0">
            <a:noAutofit/>
          </a:bodyPr>
          <a:lstStyle/>
          <a:p>
            <a:pPr>
              <a:lnSpc>
                <a:spcPts val="2904"/>
              </a:lnSpc>
              <a:spcBef>
                <a:spcPts val="0"/>
              </a:spcBef>
              <a:spcAft>
                <a:spcPts val="0"/>
              </a:spcAft>
            </a:pPr>
            <a:r>
              <a:rPr sz="2200" b="1">
                <a:solidFill>
                  <a:srgbClr val="087F8C"/>
                </a:solidFill>
                <a:latin typeface="Noto Sans CJK SC"/>
                <a:ea typeface="Noto Sans CJK SC"/>
              </a:rPr>
              <a:t>Skill</a:t>
            </a:r>
          </a:p>
        </p:txBody>
      </p:sp>
      <p:sp>
        <p:nvSpPr>
          <p:cNvPr id="11" name="TextBox 10"/>
          <p:cNvSpPr txBox="1"/>
          <p:nvPr/>
        </p:nvSpPr>
        <p:spPr>
          <a:xfrm>
            <a:off x="2834640" y="1847088"/>
            <a:ext cx="4343400" cy="603504"/>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Reusable capability, I/O, allowed effects and</a:t>
            </a:r>
          </a:p>
          <a:p>
            <a:pPr>
              <a:lnSpc>
                <a:spcPts val="2112"/>
              </a:lnSpc>
              <a:spcBef>
                <a:spcPts val="0"/>
              </a:spcBef>
              <a:spcAft>
                <a:spcPts val="0"/>
              </a:spcAft>
            </a:pPr>
            <a:r>
              <a:rPr sz="1600" b="0">
                <a:solidFill>
                  <a:srgbClr val="152536"/>
                </a:solidFill>
                <a:latin typeface="Noto Sans CJK SC"/>
                <a:ea typeface="Noto Sans CJK SC"/>
              </a:rPr>
              <a:t>version</a:t>
            </a:r>
          </a:p>
        </p:txBody>
      </p:sp>
      <p:sp>
        <p:nvSpPr>
          <p:cNvPr id="12" name="Rectangle 11"/>
          <p:cNvSpPr/>
          <p:nvPr/>
        </p:nvSpPr>
        <p:spPr>
          <a:xfrm>
            <a:off x="731520" y="2770632"/>
            <a:ext cx="6675120" cy="89611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880360"/>
            <a:ext cx="1828800" cy="365760"/>
          </a:xfrm>
          <a:prstGeom prst="rect">
            <a:avLst/>
          </a:prstGeom>
          <a:noFill/>
        </p:spPr>
        <p:txBody>
          <a:bodyPr wrap="none" lIns="0" rIns="0" tIns="0" bIns="0">
            <a:noAutofit/>
          </a:bodyPr>
          <a:lstStyle/>
          <a:p>
            <a:pPr>
              <a:lnSpc>
                <a:spcPts val="2904"/>
              </a:lnSpc>
              <a:spcBef>
                <a:spcPts val="0"/>
              </a:spcBef>
              <a:spcAft>
                <a:spcPts val="0"/>
              </a:spcAft>
            </a:pPr>
            <a:r>
              <a:rPr sz="2200" b="1">
                <a:solidFill>
                  <a:srgbClr val="087F8C"/>
                </a:solidFill>
                <a:latin typeface="Noto Sans CJK SC"/>
                <a:ea typeface="Noto Sans CJK SC"/>
              </a:rPr>
              <a:t>Harness</a:t>
            </a:r>
          </a:p>
        </p:txBody>
      </p:sp>
      <p:sp>
        <p:nvSpPr>
          <p:cNvPr id="14" name="TextBox 13"/>
          <p:cNvSpPr txBox="1"/>
          <p:nvPr/>
        </p:nvSpPr>
        <p:spPr>
          <a:xfrm>
            <a:off x="2834640" y="2926079"/>
            <a:ext cx="4343400" cy="603504"/>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Admission, orchestration, policy, binding</a:t>
            </a:r>
          </a:p>
          <a:p>
            <a:pPr>
              <a:lnSpc>
                <a:spcPts val="2112"/>
              </a:lnSpc>
              <a:spcBef>
                <a:spcPts val="0"/>
              </a:spcBef>
              <a:spcAft>
                <a:spcPts val="0"/>
              </a:spcAft>
            </a:pPr>
            <a:r>
              <a:rPr sz="1600" b="0">
                <a:solidFill>
                  <a:srgbClr val="152536"/>
                </a:solidFill>
                <a:latin typeface="Noto Sans CJK SC"/>
                <a:ea typeface="Noto Sans CJK SC"/>
              </a:rPr>
              <a:t>and traces</a:t>
            </a:r>
          </a:p>
        </p:txBody>
      </p:sp>
      <p:sp>
        <p:nvSpPr>
          <p:cNvPr id="15" name="Rectangle 14"/>
          <p:cNvSpPr/>
          <p:nvPr/>
        </p:nvSpPr>
        <p:spPr>
          <a:xfrm>
            <a:off x="731520" y="3849624"/>
            <a:ext cx="6675120" cy="89611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959352"/>
            <a:ext cx="1828800" cy="365760"/>
          </a:xfrm>
          <a:prstGeom prst="rect">
            <a:avLst/>
          </a:prstGeom>
          <a:noFill/>
        </p:spPr>
        <p:txBody>
          <a:bodyPr wrap="none" lIns="0" rIns="0" tIns="0" bIns="0">
            <a:noAutofit/>
          </a:bodyPr>
          <a:lstStyle/>
          <a:p>
            <a:pPr>
              <a:lnSpc>
                <a:spcPts val="2904"/>
              </a:lnSpc>
              <a:spcBef>
                <a:spcPts val="0"/>
              </a:spcBef>
              <a:spcAft>
                <a:spcPts val="0"/>
              </a:spcAft>
            </a:pPr>
            <a:r>
              <a:rPr sz="2200" b="1">
                <a:solidFill>
                  <a:srgbClr val="087F8C"/>
                </a:solidFill>
                <a:latin typeface="Noto Sans CJK SC"/>
                <a:ea typeface="Noto Sans CJK SC"/>
              </a:rPr>
              <a:t>Scaffold</a:t>
            </a:r>
          </a:p>
        </p:txBody>
      </p:sp>
      <p:sp>
        <p:nvSpPr>
          <p:cNvPr id="17" name="TextBox 16"/>
          <p:cNvSpPr txBox="1"/>
          <p:nvPr/>
        </p:nvSpPr>
        <p:spPr>
          <a:xfrm>
            <a:off x="2834640" y="4005072"/>
            <a:ext cx="4343400" cy="603504"/>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Compute, isolation, identity, locality,</a:t>
            </a:r>
          </a:p>
          <a:p>
            <a:pPr>
              <a:lnSpc>
                <a:spcPts val="2112"/>
              </a:lnSpc>
              <a:spcBef>
                <a:spcPts val="0"/>
              </a:spcBef>
              <a:spcAft>
                <a:spcPts val="0"/>
              </a:spcAft>
            </a:pPr>
            <a:r>
              <a:rPr sz="1600" b="0">
                <a:solidFill>
                  <a:srgbClr val="152536"/>
                </a:solidFill>
                <a:latin typeface="Noto Sans CJK SC"/>
                <a:ea typeface="Noto Sans CJK SC"/>
              </a:rPr>
              <a:t>recovery and accounting</a:t>
            </a:r>
          </a:p>
        </p:txBody>
      </p:sp>
      <p:sp>
        <p:nvSpPr>
          <p:cNvPr id="18" name="Rectangle 17"/>
          <p:cNvSpPr/>
          <p:nvPr/>
        </p:nvSpPr>
        <p:spPr>
          <a:xfrm>
            <a:off x="7909560" y="1691640"/>
            <a:ext cx="3566160" cy="3054096"/>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91640"/>
            <a:ext cx="45720" cy="30540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1856232"/>
            <a:ext cx="320040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External data substrate</a:t>
            </a:r>
          </a:p>
        </p:txBody>
      </p:sp>
      <p:sp>
        <p:nvSpPr>
          <p:cNvPr id="21" name="TextBox 20"/>
          <p:cNvSpPr txBox="1"/>
          <p:nvPr/>
        </p:nvSpPr>
        <p:spPr>
          <a:xfrm>
            <a:off x="8092440" y="2532888"/>
            <a:ext cx="3200400" cy="2066543"/>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Sources and snapshots</a:t>
            </a:r>
          </a:p>
          <a:p>
            <a:pPr>
              <a:lnSpc>
                <a:spcPts val="2376"/>
              </a:lnSpc>
              <a:spcBef>
                <a:spcPts val="0"/>
              </a:spcBef>
              <a:spcAft>
                <a:spcPts val="0"/>
              </a:spcAft>
            </a:pPr>
            <a:r>
              <a:rPr sz="1800" b="0">
                <a:solidFill>
                  <a:srgbClr val="152536"/>
                </a:solidFill>
                <a:latin typeface="Noto Sans CJK SC"/>
                <a:ea typeface="Noto Sans CJK SC"/>
              </a:rPr>
              <a:t>Semantics, access, lineage</a:t>
            </a:r>
          </a:p>
          <a:p>
            <a:pPr>
              <a:lnSpc>
                <a:spcPts val="2376"/>
              </a:lnSpc>
              <a:spcBef>
                <a:spcPts val="0"/>
              </a:spcBef>
              <a:spcAft>
                <a:spcPts val="0"/>
              </a:spcAft>
            </a:pPr>
            <a:r>
              <a:rPr sz="1800" b="0">
                <a:solidFill>
                  <a:srgbClr val="152536"/>
                </a:solidFill>
                <a:latin typeface="Noto Sans CJK SC"/>
                <a:ea typeface="Noto Sans CJK SC"/>
              </a:rPr>
              <a:t>Data Wiki / Theme / IR</a:t>
            </a:r>
          </a:p>
        </p:txBody>
      </p:sp>
      <p:cxnSp>
        <p:nvCxnSpPr>
          <p:cNvPr id="22" name="Connector 21"/>
          <p:cNvCxnSpPr/>
          <p:nvPr/>
        </p:nvCxnSpPr>
        <p:spPr>
          <a:xfrm>
            <a:off x="7424927" y="3218688"/>
            <a:ext cx="438913"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One team may implement several objects; their contracts remain distinct.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P1: can capability and capacity be separated?</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Test interaction effects, semantic stability and enforcement cost</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05</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9" name="TextBox 8"/>
          <p:cNvSpPr txBox="1"/>
          <p:nvPr/>
        </p:nvSpPr>
        <p:spPr>
          <a:xfrm>
            <a:off x="822960" y="1737360"/>
            <a:ext cx="5212080" cy="365760"/>
          </a:xfrm>
          <a:prstGeom prst="rect">
            <a:avLst/>
          </a:prstGeom>
          <a:noFill/>
        </p:spPr>
        <p:txBody>
          <a:bodyPr wrap="none" lIns="0" rIns="0" tIns="0" bIns="0">
            <a:noAutofit/>
          </a:bodyPr>
          <a:lstStyle/>
          <a:p>
            <a:pPr>
              <a:lnSpc>
                <a:spcPts val="1980"/>
              </a:lnSpc>
              <a:spcBef>
                <a:spcPts val="0"/>
              </a:spcBef>
              <a:spcAft>
                <a:spcPts val="0"/>
              </a:spcAft>
            </a:pPr>
            <a:r>
              <a:rPr sz="1500" b="1">
                <a:solidFill>
                  <a:srgbClr val="152536"/>
                </a:solidFill>
                <a:latin typeface="Noto Sans CJK SC"/>
                <a:ea typeface="Noto Sans CJK SC"/>
              </a:rPr>
              <a:t>Same workload, model, policy and source snapshot</a:t>
            </a:r>
          </a:p>
        </p:txBody>
      </p:sp>
      <p:sp>
        <p:nvSpPr>
          <p:cNvPr id="10" name="Rectangle 9"/>
          <p:cNvSpPr/>
          <p:nvPr/>
        </p:nvSpPr>
        <p:spPr>
          <a:xfrm>
            <a:off x="822960" y="2423160"/>
            <a:ext cx="2377440" cy="1033271"/>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587752"/>
            <a:ext cx="2103120" cy="640080"/>
          </a:xfrm>
          <a:prstGeom prst="rect">
            <a:avLst/>
          </a:prstGeom>
          <a:noFill/>
        </p:spPr>
        <p:txBody>
          <a:bodyPr wrap="none" lIns="0" rIns="0" tIns="0" bIns="0">
            <a:noAutofit/>
          </a:bodyPr>
          <a:lstStyle/>
          <a:p>
            <a:pPr>
              <a:lnSpc>
                <a:spcPts val="2640"/>
              </a:lnSpc>
              <a:spcBef>
                <a:spcPts val="0"/>
              </a:spcBef>
              <a:spcAft>
                <a:spcPts val="0"/>
              </a:spcAft>
            </a:pPr>
            <a:r>
              <a:rPr sz="2000" b="1">
                <a:solidFill>
                  <a:srgbClr val="154C79"/>
                </a:solidFill>
                <a:latin typeface="Noto Sans CJK SC"/>
                <a:ea typeface="Noto Sans CJK SC"/>
              </a:rPr>
              <a:t>c0 × s0</a:t>
            </a:r>
          </a:p>
          <a:p>
            <a:pPr>
              <a:lnSpc>
                <a:spcPts val="2640"/>
              </a:lnSpc>
              <a:spcBef>
                <a:spcPts val="0"/>
              </a:spcBef>
              <a:spcAft>
                <a:spcPts val="0"/>
              </a:spcAft>
            </a:pPr>
            <a:r>
              <a:rPr sz="2000" b="1">
                <a:solidFill>
                  <a:srgbClr val="154C79"/>
                </a:solidFill>
                <a:latin typeface="Noto Sans CJK SC"/>
                <a:ea typeface="Noto Sans CJK SC"/>
              </a:rPr>
              <a:t>R / Q / E</a:t>
            </a:r>
          </a:p>
        </p:txBody>
      </p:sp>
      <p:sp>
        <p:nvSpPr>
          <p:cNvPr id="12" name="Rectangle 11"/>
          <p:cNvSpPr/>
          <p:nvPr/>
        </p:nvSpPr>
        <p:spPr>
          <a:xfrm>
            <a:off x="3383279" y="2423160"/>
            <a:ext cx="2377440" cy="1033271"/>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39" y="2587752"/>
            <a:ext cx="2103120" cy="640080"/>
          </a:xfrm>
          <a:prstGeom prst="rect">
            <a:avLst/>
          </a:prstGeom>
          <a:noFill/>
        </p:spPr>
        <p:txBody>
          <a:bodyPr wrap="none" lIns="0" rIns="0" tIns="0" bIns="0">
            <a:noAutofit/>
          </a:bodyPr>
          <a:lstStyle/>
          <a:p>
            <a:pPr>
              <a:lnSpc>
                <a:spcPts val="2640"/>
              </a:lnSpc>
              <a:spcBef>
                <a:spcPts val="0"/>
              </a:spcBef>
              <a:spcAft>
                <a:spcPts val="0"/>
              </a:spcAft>
            </a:pPr>
            <a:r>
              <a:rPr sz="2000" b="1">
                <a:solidFill>
                  <a:srgbClr val="154C79"/>
                </a:solidFill>
                <a:latin typeface="Noto Sans CJK SC"/>
                <a:ea typeface="Noto Sans CJK SC"/>
              </a:rPr>
              <a:t>c0 × s1</a:t>
            </a:r>
          </a:p>
          <a:p>
            <a:pPr>
              <a:lnSpc>
                <a:spcPts val="2640"/>
              </a:lnSpc>
              <a:spcBef>
                <a:spcPts val="0"/>
              </a:spcBef>
              <a:spcAft>
                <a:spcPts val="0"/>
              </a:spcAft>
            </a:pPr>
            <a:r>
              <a:rPr sz="2000" b="1">
                <a:solidFill>
                  <a:srgbClr val="154C79"/>
                </a:solidFill>
                <a:latin typeface="Noto Sans CJK SC"/>
                <a:ea typeface="Noto Sans CJK SC"/>
              </a:rPr>
              <a:t>R / Q / E</a:t>
            </a:r>
          </a:p>
        </p:txBody>
      </p:sp>
      <p:sp>
        <p:nvSpPr>
          <p:cNvPr id="14" name="Rectangle 13"/>
          <p:cNvSpPr/>
          <p:nvPr/>
        </p:nvSpPr>
        <p:spPr>
          <a:xfrm>
            <a:off x="822960" y="3657600"/>
            <a:ext cx="2377440" cy="1033271"/>
          </a:xfrm>
          <a:prstGeom prst="rect">
            <a:avLst/>
          </a:prstGeom>
          <a:solidFill>
            <a:srgbClr val="E3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1"/>
            <a:ext cx="2103120" cy="640080"/>
          </a:xfrm>
          <a:prstGeom prst="rect">
            <a:avLst/>
          </a:prstGeom>
          <a:noFill/>
        </p:spPr>
        <p:txBody>
          <a:bodyPr wrap="none" lIns="0" rIns="0" tIns="0" bIns="0">
            <a:noAutofit/>
          </a:bodyPr>
          <a:lstStyle/>
          <a:p>
            <a:pPr>
              <a:lnSpc>
                <a:spcPts val="2640"/>
              </a:lnSpc>
              <a:spcBef>
                <a:spcPts val="0"/>
              </a:spcBef>
              <a:spcAft>
                <a:spcPts val="0"/>
              </a:spcAft>
            </a:pPr>
            <a:r>
              <a:rPr sz="2000" b="1">
                <a:solidFill>
                  <a:srgbClr val="154C79"/>
                </a:solidFill>
                <a:latin typeface="Noto Sans CJK SC"/>
                <a:ea typeface="Noto Sans CJK SC"/>
              </a:rPr>
              <a:t>c1 × s0</a:t>
            </a:r>
          </a:p>
          <a:p>
            <a:pPr>
              <a:lnSpc>
                <a:spcPts val="2640"/>
              </a:lnSpc>
              <a:spcBef>
                <a:spcPts val="0"/>
              </a:spcBef>
              <a:spcAft>
                <a:spcPts val="0"/>
              </a:spcAft>
            </a:pPr>
            <a:r>
              <a:rPr sz="2000" b="1">
                <a:solidFill>
                  <a:srgbClr val="154C79"/>
                </a:solidFill>
                <a:latin typeface="Noto Sans CJK SC"/>
                <a:ea typeface="Noto Sans CJK SC"/>
              </a:rPr>
              <a:t>R / Q / E</a:t>
            </a:r>
          </a:p>
        </p:txBody>
      </p:sp>
      <p:sp>
        <p:nvSpPr>
          <p:cNvPr id="16" name="Rectangle 15"/>
          <p:cNvSpPr/>
          <p:nvPr/>
        </p:nvSpPr>
        <p:spPr>
          <a:xfrm>
            <a:off x="3383279" y="3657600"/>
            <a:ext cx="2377440" cy="1033271"/>
          </a:xfrm>
          <a:prstGeom prst="rect">
            <a:avLst/>
          </a:prstGeom>
          <a:solidFill>
            <a:srgbClr val="E3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39" y="3822191"/>
            <a:ext cx="2103120" cy="640080"/>
          </a:xfrm>
          <a:prstGeom prst="rect">
            <a:avLst/>
          </a:prstGeom>
          <a:noFill/>
        </p:spPr>
        <p:txBody>
          <a:bodyPr wrap="none" lIns="0" rIns="0" tIns="0" bIns="0">
            <a:noAutofit/>
          </a:bodyPr>
          <a:lstStyle/>
          <a:p>
            <a:pPr>
              <a:lnSpc>
                <a:spcPts val="2640"/>
              </a:lnSpc>
              <a:spcBef>
                <a:spcPts val="0"/>
              </a:spcBef>
              <a:spcAft>
                <a:spcPts val="0"/>
              </a:spcAft>
            </a:pPr>
            <a:r>
              <a:rPr sz="2000" b="1">
                <a:solidFill>
                  <a:srgbClr val="154C79"/>
                </a:solidFill>
                <a:latin typeface="Noto Sans CJK SC"/>
                <a:ea typeface="Noto Sans CJK SC"/>
              </a:rPr>
              <a:t>c1 × s1</a:t>
            </a:r>
          </a:p>
          <a:p>
            <a:pPr>
              <a:lnSpc>
                <a:spcPts val="2640"/>
              </a:lnSpc>
              <a:spcBef>
                <a:spcPts val="0"/>
              </a:spcBef>
              <a:spcAft>
                <a:spcPts val="0"/>
              </a:spcAft>
            </a:pPr>
            <a:r>
              <a:rPr sz="2000" b="1">
                <a:solidFill>
                  <a:srgbClr val="154C79"/>
                </a:solidFill>
                <a:latin typeface="Noto Sans CJK SC"/>
                <a:ea typeface="Noto Sans CJK SC"/>
              </a:rPr>
              <a:t>R / Q / E</a:t>
            </a:r>
          </a:p>
        </p:txBody>
      </p:sp>
      <p:sp>
        <p:nvSpPr>
          <p:cNvPr id="18" name="Rectangle 17"/>
          <p:cNvSpPr/>
          <p:nvPr/>
        </p:nvSpPr>
        <p:spPr>
          <a:xfrm>
            <a:off x="6400800" y="1737360"/>
            <a:ext cx="5029200" cy="354787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1737360"/>
            <a:ext cx="45720" cy="35478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901952"/>
            <a:ext cx="46634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Measure every cell</a:t>
            </a:r>
          </a:p>
        </p:txBody>
      </p:sp>
      <p:sp>
        <p:nvSpPr>
          <p:cNvPr id="21" name="TextBox 20"/>
          <p:cNvSpPr txBox="1"/>
          <p:nvPr/>
        </p:nvSpPr>
        <p:spPr>
          <a:xfrm>
            <a:off x="6583680" y="2578608"/>
            <a:ext cx="4663440" cy="2560320"/>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R: latency, throughput, timeouts</a:t>
            </a:r>
          </a:p>
          <a:p>
            <a:pPr>
              <a:lnSpc>
                <a:spcPts val="2508"/>
              </a:lnSpc>
              <a:spcBef>
                <a:spcPts val="0"/>
              </a:spcBef>
              <a:spcAft>
                <a:spcPts val="0"/>
              </a:spcAft>
            </a:pPr>
            <a:r>
              <a:rPr sz="1900" b="0">
                <a:solidFill>
                  <a:srgbClr val="152536"/>
                </a:solidFill>
                <a:latin typeface="Noto Sans CJK SC"/>
                <a:ea typeface="Noto Sans CJK SC"/>
              </a:rPr>
              <a:t>Q: every-requirement satisfaction</a:t>
            </a:r>
          </a:p>
          <a:p>
            <a:pPr>
              <a:lnSpc>
                <a:spcPts val="2508"/>
              </a:lnSpc>
              <a:spcBef>
                <a:spcPts val="0"/>
              </a:spcBef>
              <a:spcAft>
                <a:spcPts val="0"/>
              </a:spcAft>
            </a:pPr>
            <a:r>
              <a:rPr sz="1900" b="0">
                <a:solidFill>
                  <a:srgbClr val="152536"/>
                </a:solidFill>
                <a:latin typeface="Noto Sans CJK SC"/>
                <a:ea typeface="Noto Sans CJK SC"/>
              </a:rPr>
              <a:t>E: admission, checks and evidence cost</a:t>
            </a:r>
          </a:p>
        </p:txBody>
      </p:sp>
      <p:sp>
        <p:nvSpPr>
          <p:cNvPr id="22" name="TextBox 21"/>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P1 remains untested in a real runtime experiment in this study.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A minimal counterexample: same columns, different meaning</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Illustrative scenario; not measured data</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06</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9" name="Rectangle 8"/>
          <p:cNvSpPr/>
          <p:nvPr/>
        </p:nvSpPr>
        <p:spPr>
          <a:xfrm>
            <a:off x="731520" y="1783080"/>
            <a:ext cx="5074920" cy="23317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783080"/>
            <a:ext cx="45720" cy="2331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47672"/>
            <a:ext cx="4709159"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Source A: group revenue</a:t>
            </a:r>
          </a:p>
        </p:txBody>
      </p:sp>
      <p:sp>
        <p:nvSpPr>
          <p:cNvPr id="12" name="TextBox 11"/>
          <p:cNvSpPr txBox="1"/>
          <p:nvPr/>
        </p:nvSpPr>
        <p:spPr>
          <a:xfrm>
            <a:off x="914400" y="2624328"/>
            <a:ext cx="4709159" cy="1344167"/>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Fields: product_id, revenue</a:t>
            </a:r>
          </a:p>
          <a:p>
            <a:pPr>
              <a:lnSpc>
                <a:spcPts val="2508"/>
              </a:lnSpc>
              <a:spcBef>
                <a:spcPts val="0"/>
              </a:spcBef>
              <a:spcAft>
                <a:spcPts val="0"/>
              </a:spcAft>
            </a:pPr>
            <a:r>
              <a:rPr sz="1900" b="0">
                <a:solidFill>
                  <a:srgbClr val="152536"/>
                </a:solidFill>
                <a:latin typeface="Noto Sans CJK SC"/>
                <a:ea typeface="Noto Sans CJK SC"/>
              </a:rPr>
              <a:t>Scope: consolidated / USD / 2026 Q2</a:t>
            </a:r>
          </a:p>
        </p:txBody>
      </p:sp>
      <p:sp>
        <p:nvSpPr>
          <p:cNvPr id="13" name="Rectangle 12"/>
          <p:cNvSpPr/>
          <p:nvPr/>
        </p:nvSpPr>
        <p:spPr>
          <a:xfrm>
            <a:off x="6035040" y="1783080"/>
            <a:ext cx="5394960" cy="23317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1783080"/>
            <a:ext cx="45720" cy="2331720"/>
          </a:xfrm>
          <a:prstGeom prst="rect">
            <a:avLst/>
          </a:prstGeom>
          <a:solidFill>
            <a:srgbClr val="9A6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947672"/>
            <a:ext cx="502920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9A6517"/>
                </a:solidFill>
                <a:latin typeface="Noto Sans CJK SC"/>
                <a:ea typeface="Noto Sans CJK SC"/>
              </a:rPr>
              <a:t>Source B: subsidiary revenue</a:t>
            </a:r>
          </a:p>
        </p:txBody>
      </p:sp>
      <p:sp>
        <p:nvSpPr>
          <p:cNvPr id="16" name="TextBox 15"/>
          <p:cNvSpPr txBox="1"/>
          <p:nvPr/>
        </p:nvSpPr>
        <p:spPr>
          <a:xfrm>
            <a:off x="6217920" y="2624328"/>
            <a:ext cx="5029200" cy="1344167"/>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Fields: product_id, revenue</a:t>
            </a:r>
          </a:p>
          <a:p>
            <a:pPr>
              <a:lnSpc>
                <a:spcPts val="2508"/>
              </a:lnSpc>
              <a:spcBef>
                <a:spcPts val="0"/>
              </a:spcBef>
              <a:spcAft>
                <a:spcPts val="0"/>
              </a:spcAft>
            </a:pPr>
            <a:r>
              <a:rPr sz="1900" b="0">
                <a:solidFill>
                  <a:srgbClr val="152536"/>
                </a:solidFill>
                <a:latin typeface="Noto Sans CJK SC"/>
                <a:ea typeface="Noto Sans CJK SC"/>
              </a:rPr>
              <a:t>Scope: local entity / EUR / 2026 Q1</a:t>
            </a:r>
          </a:p>
        </p:txBody>
      </p:sp>
      <p:sp>
        <p:nvSpPr>
          <p:cNvPr id="17" name="TextBox 16"/>
          <p:cNvSpPr txBox="1"/>
          <p:nvPr/>
        </p:nvSpPr>
        <p:spPr>
          <a:xfrm>
            <a:off x="868680" y="4526280"/>
            <a:ext cx="10515600" cy="621792"/>
          </a:xfrm>
          <a:prstGeom prst="rect">
            <a:avLst/>
          </a:prstGeom>
          <a:noFill/>
        </p:spPr>
        <p:txBody>
          <a:bodyPr wrap="none" lIns="0" rIns="0" tIns="0" bIns="0">
            <a:noAutofit/>
          </a:bodyPr>
          <a:lstStyle/>
          <a:p>
            <a:pPr>
              <a:lnSpc>
                <a:spcPts val="3168"/>
              </a:lnSpc>
              <a:spcBef>
                <a:spcPts val="0"/>
              </a:spcBef>
              <a:spcAft>
                <a:spcPts val="0"/>
              </a:spcAft>
            </a:pPr>
            <a:r>
              <a:rPr sz="2400" b="1">
                <a:solidFill>
                  <a:srgbClr val="154C79"/>
                </a:solidFill>
                <a:latin typeface="Noto Sans CJK SC"/>
                <a:ea typeface="Noto Sans CJK SC"/>
              </a:rPr>
              <a:t>Relevant retrieval and executable joins do not establish admissibility.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Data Wiki, Theme Wiki and IR answer different questions</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07</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31520" y="1874519"/>
            <a:ext cx="3291840" cy="30632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874519"/>
            <a:ext cx="45720" cy="3063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39112"/>
            <a:ext cx="292608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Data Wiki</a:t>
            </a:r>
          </a:p>
        </p:txBody>
      </p:sp>
      <p:sp>
        <p:nvSpPr>
          <p:cNvPr id="11" name="TextBox 10"/>
          <p:cNvSpPr txBox="1"/>
          <p:nvPr/>
        </p:nvSpPr>
        <p:spPr>
          <a:xfrm>
            <a:off x="914400" y="2715768"/>
            <a:ext cx="2926080" cy="207568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What is this data?</a:t>
            </a:r>
          </a:p>
          <a:p>
            <a:pPr>
              <a:lnSpc>
                <a:spcPts val="2376"/>
              </a:lnSpc>
              <a:spcBef>
                <a:spcPts val="0"/>
              </a:spcBef>
              <a:spcAft>
                <a:spcPts val="0"/>
              </a:spcAft>
            </a:pPr>
            <a:r>
              <a:rPr sz="1800" b="0">
                <a:solidFill>
                  <a:srgbClr val="152536"/>
                </a:solidFill>
                <a:latin typeface="Noto Sans CJK SC"/>
                <a:ea typeface="Noto Sans CJK SC"/>
              </a:rPr>
              <a:t>Source, version, fields,</a:t>
            </a:r>
          </a:p>
          <a:p>
            <a:pPr>
              <a:lnSpc>
                <a:spcPts val="2376"/>
              </a:lnSpc>
              <a:spcBef>
                <a:spcPts val="0"/>
              </a:spcBef>
              <a:spcAft>
                <a:spcPts val="0"/>
              </a:spcAft>
            </a:pPr>
            <a:r>
              <a:rPr sz="1800" b="0">
                <a:solidFill>
                  <a:srgbClr val="152536"/>
                </a:solidFill>
                <a:latin typeface="Noto Sans CJK SC"/>
                <a:ea typeface="Noto Sans CJK SC"/>
              </a:rPr>
              <a:t>policy</a:t>
            </a:r>
          </a:p>
          <a:p>
            <a:pPr>
              <a:lnSpc>
                <a:spcPts val="2376"/>
              </a:lnSpc>
              <a:spcBef>
                <a:spcPts val="0"/>
              </a:spcBef>
              <a:spcAft>
                <a:spcPts val="0"/>
              </a:spcAft>
            </a:pPr>
            <a:r>
              <a:rPr sz="1800" b="0">
                <a:solidFill>
                  <a:srgbClr val="152536"/>
                </a:solidFill>
                <a:latin typeface="Noto Sans CJK SC"/>
                <a:ea typeface="Noto Sans CJK SC"/>
              </a:rPr>
              <a:t>Read and extraction</a:t>
            </a:r>
          </a:p>
          <a:p>
            <a:pPr>
              <a:lnSpc>
                <a:spcPts val="2376"/>
              </a:lnSpc>
              <a:spcBef>
                <a:spcPts val="0"/>
              </a:spcBef>
              <a:spcAft>
                <a:spcPts val="0"/>
              </a:spcAft>
            </a:pPr>
            <a:r>
              <a:rPr sz="1800" b="0">
                <a:solidFill>
                  <a:srgbClr val="152536"/>
                </a:solidFill>
                <a:latin typeface="Noto Sans CJK SC"/>
                <a:ea typeface="Noto Sans CJK SC"/>
              </a:rPr>
              <a:t>operators</a:t>
            </a:r>
          </a:p>
        </p:txBody>
      </p:sp>
      <p:sp>
        <p:nvSpPr>
          <p:cNvPr id="12" name="Rectangle 11"/>
          <p:cNvSpPr/>
          <p:nvPr/>
        </p:nvSpPr>
        <p:spPr>
          <a:xfrm>
            <a:off x="4434840" y="1874519"/>
            <a:ext cx="3291840" cy="30632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874519"/>
            <a:ext cx="45720" cy="3063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039112"/>
            <a:ext cx="292608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IR</a:t>
            </a:r>
          </a:p>
        </p:txBody>
      </p:sp>
      <p:sp>
        <p:nvSpPr>
          <p:cNvPr id="15" name="TextBox 14"/>
          <p:cNvSpPr txBox="1"/>
          <p:nvPr/>
        </p:nvSpPr>
        <p:spPr>
          <a:xfrm>
            <a:off x="4617720" y="2715768"/>
            <a:ext cx="2926080" cy="207568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How may this task use it?</a:t>
            </a:r>
          </a:p>
          <a:p>
            <a:pPr>
              <a:lnSpc>
                <a:spcPts val="2376"/>
              </a:lnSpc>
              <a:spcBef>
                <a:spcPts val="0"/>
              </a:spcBef>
              <a:spcAft>
                <a:spcPts val="0"/>
              </a:spcAft>
            </a:pPr>
            <a:r>
              <a:rPr sz="1800" b="0">
                <a:solidFill>
                  <a:srgbClr val="152536"/>
                </a:solidFill>
                <a:latin typeface="Noto Sans CJK SC"/>
                <a:ea typeface="Noto Sans CJK SC"/>
              </a:rPr>
              <a:t>5W1H+Which</a:t>
            </a:r>
          </a:p>
          <a:p>
            <a:pPr>
              <a:lnSpc>
                <a:spcPts val="2376"/>
              </a:lnSpc>
              <a:spcBef>
                <a:spcPts val="0"/>
              </a:spcBef>
              <a:spcAft>
                <a:spcPts val="0"/>
              </a:spcAft>
            </a:pPr>
            <a:r>
              <a:rPr sz="1800" b="0">
                <a:solidFill>
                  <a:srgbClr val="152536"/>
                </a:solidFill>
                <a:latin typeface="Noto Sans CJK SC"/>
                <a:ea typeface="Noto Sans CJK SC"/>
              </a:rPr>
              <a:t>Evidence, compatibility,</a:t>
            </a:r>
          </a:p>
          <a:p>
            <a:pPr>
              <a:lnSpc>
                <a:spcPts val="2376"/>
              </a:lnSpc>
              <a:spcBef>
                <a:spcPts val="0"/>
              </a:spcBef>
              <a:spcAft>
                <a:spcPts val="0"/>
              </a:spcAft>
            </a:pPr>
            <a:r>
              <a:rPr sz="1800" b="0">
                <a:solidFill>
                  <a:srgbClr val="152536"/>
                </a:solidFill>
                <a:latin typeface="Noto Sans CJK SC"/>
                <a:ea typeface="Noto Sans CJK SC"/>
              </a:rPr>
              <a:t>fallback</a:t>
            </a:r>
          </a:p>
        </p:txBody>
      </p:sp>
      <p:sp>
        <p:nvSpPr>
          <p:cNvPr id="16" name="Rectangle 15"/>
          <p:cNvSpPr/>
          <p:nvPr/>
        </p:nvSpPr>
        <p:spPr>
          <a:xfrm>
            <a:off x="8138160" y="1874519"/>
            <a:ext cx="3291840" cy="30632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874519"/>
            <a:ext cx="45720" cy="3063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039112"/>
            <a:ext cx="292608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Theme Wiki</a:t>
            </a:r>
          </a:p>
        </p:txBody>
      </p:sp>
      <p:sp>
        <p:nvSpPr>
          <p:cNvPr id="19" name="TextBox 18"/>
          <p:cNvSpPr txBox="1"/>
          <p:nvPr/>
        </p:nvSpPr>
        <p:spPr>
          <a:xfrm>
            <a:off x="8321040" y="2715768"/>
            <a:ext cx="2926080" cy="207568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What must the output</a:t>
            </a:r>
          </a:p>
          <a:p>
            <a:pPr>
              <a:lnSpc>
                <a:spcPts val="2376"/>
              </a:lnSpc>
              <a:spcBef>
                <a:spcPts val="0"/>
              </a:spcBef>
              <a:spcAft>
                <a:spcPts val="0"/>
              </a:spcAft>
            </a:pPr>
            <a:r>
              <a:rPr sz="1800" b="0">
                <a:solidFill>
                  <a:srgbClr val="152536"/>
                </a:solidFill>
                <a:latin typeface="Noto Sans CJK SC"/>
                <a:ea typeface="Noto Sans CJK SC"/>
              </a:rPr>
              <a:t>satisfy?</a:t>
            </a:r>
          </a:p>
          <a:p>
            <a:pPr>
              <a:lnSpc>
                <a:spcPts val="2376"/>
              </a:lnSpc>
              <a:spcBef>
                <a:spcPts val="0"/>
              </a:spcBef>
              <a:spcAft>
                <a:spcPts val="0"/>
              </a:spcAft>
            </a:pPr>
            <a:r>
              <a:rPr sz="1800" b="0">
                <a:solidFill>
                  <a:srgbClr val="152536"/>
                </a:solidFill>
                <a:latin typeface="Noto Sans CJK SC"/>
                <a:ea typeface="Noto Sans CJK SC"/>
              </a:rPr>
              <a:t>Fields, units, periods</a:t>
            </a:r>
          </a:p>
          <a:p>
            <a:pPr>
              <a:lnSpc>
                <a:spcPts val="2376"/>
              </a:lnSpc>
              <a:spcBef>
                <a:spcPts val="0"/>
              </a:spcBef>
              <a:spcAft>
                <a:spcPts val="0"/>
              </a:spcAft>
            </a:pPr>
            <a:r>
              <a:rPr sz="1800" b="0">
                <a:solidFill>
                  <a:srgbClr val="152536"/>
                </a:solidFill>
                <a:latin typeface="Noto Sans CJK SC"/>
                <a:ea typeface="Noto Sans CJK SC"/>
              </a:rPr>
              <a:t>Quality criteria and verifier</a:t>
            </a:r>
          </a:p>
        </p:txBody>
      </p:sp>
      <p:cxnSp>
        <p:nvCxnSpPr>
          <p:cNvPr id="20" name="Connector 19"/>
          <p:cNvCxnSpPr/>
          <p:nvPr/>
        </p:nvCxnSpPr>
        <p:spPr>
          <a:xfrm>
            <a:off x="4023360" y="3383280"/>
            <a:ext cx="393192"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26679" y="3383280"/>
            <a:ext cx="393193"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Descriptions are metadata; sources and trusted policy remain authoritative.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Turn 5W1H+Which into checkable conditions</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08</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31520" y="1691640"/>
            <a:ext cx="10698480" cy="448056"/>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46504"/>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When</a:t>
            </a:r>
          </a:p>
        </p:txBody>
      </p:sp>
      <p:sp>
        <p:nvSpPr>
          <p:cNvPr id="10" name="TextBox 9"/>
          <p:cNvSpPr txBox="1"/>
          <p:nvPr/>
        </p:nvSpPr>
        <p:spPr>
          <a:xfrm>
            <a:off x="2286000" y="1746504"/>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Business period, expiry, current time</a:t>
            </a:r>
          </a:p>
        </p:txBody>
      </p:sp>
      <p:sp>
        <p:nvSpPr>
          <p:cNvPr id="11" name="TextBox 10"/>
          <p:cNvSpPr txBox="1"/>
          <p:nvPr/>
        </p:nvSpPr>
        <p:spPr>
          <a:xfrm>
            <a:off x="8229600" y="1746504"/>
            <a:ext cx="2834640" cy="36576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Expiry while queued</a:t>
            </a:r>
          </a:p>
        </p:txBody>
      </p:sp>
      <p:sp>
        <p:nvSpPr>
          <p:cNvPr id="12" name="TextBox 11"/>
          <p:cNvSpPr txBox="1"/>
          <p:nvPr/>
        </p:nvSpPr>
        <p:spPr>
          <a:xfrm>
            <a:off x="914400" y="2221992"/>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Where</a:t>
            </a:r>
          </a:p>
        </p:txBody>
      </p:sp>
      <p:sp>
        <p:nvSpPr>
          <p:cNvPr id="13" name="TextBox 12"/>
          <p:cNvSpPr txBox="1"/>
          <p:nvPr/>
        </p:nvSpPr>
        <p:spPr>
          <a:xfrm>
            <a:off x="2286000" y="2221992"/>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Access domain and delivery boundary</a:t>
            </a:r>
          </a:p>
        </p:txBody>
      </p:sp>
      <p:sp>
        <p:nvSpPr>
          <p:cNvPr id="14" name="TextBox 13"/>
          <p:cNvSpPr txBox="1"/>
          <p:nvPr/>
        </p:nvSpPr>
        <p:spPr>
          <a:xfrm>
            <a:off x="8229600" y="2221992"/>
            <a:ext cx="2834640" cy="365760"/>
          </a:xfrm>
          <a:prstGeom prst="rect">
            <a:avLst/>
          </a:prstGeom>
          <a:noFill/>
        </p:spPr>
        <p:txBody>
          <a:bodyPr wrap="none" lIns="0" rIns="0" tIns="0" bIns="0">
            <a:noAutofit/>
          </a:bodyPr>
          <a:lstStyle/>
          <a:p>
            <a:pPr>
              <a:lnSpc>
                <a:spcPts val="1848"/>
              </a:lnSpc>
              <a:spcBef>
                <a:spcPts val="0"/>
              </a:spcBef>
              <a:spcAft>
                <a:spcPts val="0"/>
              </a:spcAft>
            </a:pPr>
            <a:r>
              <a:rPr sz="1400" b="0">
                <a:solidFill>
                  <a:srgbClr val="596A78"/>
                </a:solidFill>
                <a:latin typeface="Noto Sans CJK SC"/>
                <a:ea typeface="Noto Sans CJK SC"/>
              </a:rPr>
              <a:t>Internal data released externally</a:t>
            </a:r>
          </a:p>
        </p:txBody>
      </p:sp>
      <p:sp>
        <p:nvSpPr>
          <p:cNvPr id="15" name="Rectangle 14"/>
          <p:cNvSpPr/>
          <p:nvPr/>
        </p:nvSpPr>
        <p:spPr>
          <a:xfrm>
            <a:off x="731520" y="2642616"/>
            <a:ext cx="10698480" cy="448056"/>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697480"/>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Who</a:t>
            </a:r>
          </a:p>
        </p:txBody>
      </p:sp>
      <p:sp>
        <p:nvSpPr>
          <p:cNvPr id="17" name="TextBox 16"/>
          <p:cNvSpPr txBox="1"/>
          <p:nvPr/>
        </p:nvSpPr>
        <p:spPr>
          <a:xfrm>
            <a:off x="2286000" y="2697480"/>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Trusted identity and current access</a:t>
            </a:r>
          </a:p>
        </p:txBody>
      </p:sp>
      <p:sp>
        <p:nvSpPr>
          <p:cNvPr id="18" name="TextBox 17"/>
          <p:cNvSpPr txBox="1"/>
          <p:nvPr/>
        </p:nvSpPr>
        <p:spPr>
          <a:xfrm>
            <a:off x="8229600" y="2697480"/>
            <a:ext cx="2834640" cy="36576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Revocation after admission</a:t>
            </a:r>
          </a:p>
        </p:txBody>
      </p:sp>
      <p:sp>
        <p:nvSpPr>
          <p:cNvPr id="19" name="TextBox 18"/>
          <p:cNvSpPr txBox="1"/>
          <p:nvPr/>
        </p:nvSpPr>
        <p:spPr>
          <a:xfrm>
            <a:off x="914400" y="3172968"/>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What</a:t>
            </a:r>
          </a:p>
        </p:txBody>
      </p:sp>
      <p:sp>
        <p:nvSpPr>
          <p:cNvPr id="20" name="TextBox 19"/>
          <p:cNvSpPr txBox="1"/>
          <p:nvPr/>
        </p:nvSpPr>
        <p:spPr>
          <a:xfrm>
            <a:off x="2286000" y="3172968"/>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Units, entity scope, business meaning</a:t>
            </a:r>
          </a:p>
        </p:txBody>
      </p:sp>
      <p:sp>
        <p:nvSpPr>
          <p:cNvPr id="21" name="TextBox 20"/>
          <p:cNvSpPr txBox="1"/>
          <p:nvPr/>
        </p:nvSpPr>
        <p:spPr>
          <a:xfrm>
            <a:off x="8229600" y="3172968"/>
            <a:ext cx="2834640" cy="36576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Same name, different meaning</a:t>
            </a:r>
          </a:p>
        </p:txBody>
      </p:sp>
      <p:sp>
        <p:nvSpPr>
          <p:cNvPr id="22" name="Rectangle 21"/>
          <p:cNvSpPr/>
          <p:nvPr/>
        </p:nvSpPr>
        <p:spPr>
          <a:xfrm>
            <a:off x="731520" y="3593592"/>
            <a:ext cx="10698480" cy="448056"/>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648456"/>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Why</a:t>
            </a:r>
          </a:p>
        </p:txBody>
      </p:sp>
      <p:sp>
        <p:nvSpPr>
          <p:cNvPr id="24" name="TextBox 23"/>
          <p:cNvSpPr txBox="1"/>
          <p:nvPr/>
        </p:nvSpPr>
        <p:spPr>
          <a:xfrm>
            <a:off x="2286000" y="3648456"/>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Approved integration rationale</a:t>
            </a:r>
          </a:p>
        </p:txBody>
      </p:sp>
      <p:sp>
        <p:nvSpPr>
          <p:cNvPr id="25" name="TextBox 24"/>
          <p:cNvSpPr txBox="1"/>
          <p:nvPr/>
        </p:nvSpPr>
        <p:spPr>
          <a:xfrm>
            <a:off x="8229600" y="3648456"/>
            <a:ext cx="2834640" cy="36576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Invented integration rationale</a:t>
            </a:r>
          </a:p>
        </p:txBody>
      </p:sp>
      <p:sp>
        <p:nvSpPr>
          <p:cNvPr id="26" name="TextBox 25"/>
          <p:cNvSpPr txBox="1"/>
          <p:nvPr/>
        </p:nvSpPr>
        <p:spPr>
          <a:xfrm>
            <a:off x="914400" y="4123944"/>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How</a:t>
            </a:r>
          </a:p>
        </p:txBody>
      </p:sp>
      <p:sp>
        <p:nvSpPr>
          <p:cNvPr id="27" name="TextBox 26"/>
          <p:cNvSpPr txBox="1"/>
          <p:nvPr/>
        </p:nvSpPr>
        <p:spPr>
          <a:xfrm>
            <a:off x="2286000" y="4123944"/>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Allowed operations and budget</a:t>
            </a:r>
          </a:p>
        </p:txBody>
      </p:sp>
      <p:sp>
        <p:nvSpPr>
          <p:cNvPr id="28" name="TextBox 27"/>
          <p:cNvSpPr txBox="1"/>
          <p:nvPr/>
        </p:nvSpPr>
        <p:spPr>
          <a:xfrm>
            <a:off x="8229600" y="4123944"/>
            <a:ext cx="2834640" cy="36576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Read request becomes write</a:t>
            </a:r>
          </a:p>
        </p:txBody>
      </p:sp>
      <p:sp>
        <p:nvSpPr>
          <p:cNvPr id="29" name="Rectangle 28"/>
          <p:cNvSpPr/>
          <p:nvPr/>
        </p:nvSpPr>
        <p:spPr>
          <a:xfrm>
            <a:off x="731520" y="4544568"/>
            <a:ext cx="10698480" cy="448056"/>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599432"/>
            <a:ext cx="1325880" cy="36576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Which</a:t>
            </a:r>
          </a:p>
        </p:txBody>
      </p:sp>
      <p:sp>
        <p:nvSpPr>
          <p:cNvPr id="31" name="TextBox 30"/>
          <p:cNvSpPr txBox="1"/>
          <p:nvPr/>
        </p:nvSpPr>
        <p:spPr>
          <a:xfrm>
            <a:off x="2286000" y="4599432"/>
            <a:ext cx="5715000" cy="365760"/>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Relations, versions, keys, lineage</a:t>
            </a:r>
          </a:p>
        </p:txBody>
      </p:sp>
      <p:sp>
        <p:nvSpPr>
          <p:cNvPr id="32" name="TextBox 31"/>
          <p:cNvSpPr txBox="1"/>
          <p:nvPr/>
        </p:nvSpPr>
        <p:spPr>
          <a:xfrm>
            <a:off x="8229600" y="4599432"/>
            <a:ext cx="2834640" cy="36576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Wrong relationship or snapshot</a:t>
            </a:r>
          </a:p>
        </p:txBody>
      </p:sp>
      <p:sp>
        <p:nvSpPr>
          <p:cNvPr id="33" name="TextBox 32"/>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A populated field does not mean its constraint is enforced.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From candidates to execution tickets to evidence</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09</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31520" y="2011680"/>
            <a:ext cx="1993392" cy="2487168"/>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011680"/>
            <a:ext cx="45720" cy="2487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76272"/>
            <a:ext cx="1627632"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Discover</a:t>
            </a:r>
          </a:p>
        </p:txBody>
      </p:sp>
      <p:sp>
        <p:nvSpPr>
          <p:cNvPr id="11" name="TextBox 10"/>
          <p:cNvSpPr txBox="1"/>
          <p:nvPr/>
        </p:nvSpPr>
        <p:spPr>
          <a:xfrm>
            <a:off x="914400" y="2852928"/>
            <a:ext cx="1627632" cy="1499616"/>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Ranking grants</a:t>
            </a:r>
          </a:p>
          <a:p>
            <a:pPr>
              <a:lnSpc>
                <a:spcPts val="2244"/>
              </a:lnSpc>
              <a:spcBef>
                <a:spcPts val="0"/>
              </a:spcBef>
              <a:spcAft>
                <a:spcPts val="0"/>
              </a:spcAft>
            </a:pPr>
            <a:r>
              <a:rPr sz="1700" b="0">
                <a:solidFill>
                  <a:srgbClr val="152536"/>
                </a:solidFill>
                <a:latin typeface="Noto Sans CJK SC"/>
                <a:ea typeface="Noto Sans CJK SC"/>
              </a:rPr>
              <a:t>no authority</a:t>
            </a:r>
          </a:p>
        </p:txBody>
      </p:sp>
      <p:cxnSp>
        <p:nvCxnSpPr>
          <p:cNvPr id="12" name="Connector 11"/>
          <p:cNvCxnSpPr/>
          <p:nvPr/>
        </p:nvCxnSpPr>
        <p:spPr>
          <a:xfrm>
            <a:off x="2724912" y="3264408"/>
            <a:ext cx="15544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889504" y="2011680"/>
            <a:ext cx="1993392" cy="2487168"/>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9504" y="2011680"/>
            <a:ext cx="45720" cy="2487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72384" y="2176272"/>
            <a:ext cx="1627632"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Resolve</a:t>
            </a:r>
          </a:p>
        </p:txBody>
      </p:sp>
      <p:sp>
        <p:nvSpPr>
          <p:cNvPr id="16" name="TextBox 15"/>
          <p:cNvSpPr txBox="1"/>
          <p:nvPr/>
        </p:nvSpPr>
        <p:spPr>
          <a:xfrm>
            <a:off x="3072384" y="2852928"/>
            <a:ext cx="1627632" cy="1499616"/>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Trusted policy</a:t>
            </a:r>
          </a:p>
          <a:p>
            <a:pPr>
              <a:lnSpc>
                <a:spcPts val="2244"/>
              </a:lnSpc>
              <a:spcBef>
                <a:spcPts val="0"/>
              </a:spcBef>
              <a:spcAft>
                <a:spcPts val="0"/>
              </a:spcAft>
            </a:pPr>
            <a:r>
              <a:rPr sz="1700" b="0">
                <a:solidFill>
                  <a:srgbClr val="152536"/>
                </a:solidFill>
                <a:latin typeface="Noto Sans CJK SC"/>
                <a:ea typeface="Noto Sans CJK SC"/>
              </a:rPr>
              <a:t>and versions</a:t>
            </a:r>
          </a:p>
        </p:txBody>
      </p:sp>
      <p:cxnSp>
        <p:nvCxnSpPr>
          <p:cNvPr id="17" name="Connector 16"/>
          <p:cNvCxnSpPr/>
          <p:nvPr/>
        </p:nvCxnSpPr>
        <p:spPr>
          <a:xfrm>
            <a:off x="4882896" y="3264408"/>
            <a:ext cx="15544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47488" y="2011680"/>
            <a:ext cx="1993392" cy="2487168"/>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7488" y="2011680"/>
            <a:ext cx="45720" cy="2487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0368" y="2176272"/>
            <a:ext cx="1627632"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Bind ticket</a:t>
            </a:r>
          </a:p>
        </p:txBody>
      </p:sp>
      <p:sp>
        <p:nvSpPr>
          <p:cNvPr id="21" name="TextBox 20"/>
          <p:cNvSpPr txBox="1"/>
          <p:nvPr/>
        </p:nvSpPr>
        <p:spPr>
          <a:xfrm>
            <a:off x="5230368" y="2852928"/>
            <a:ext cx="1627632" cy="1499616"/>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Identity,</a:t>
            </a:r>
          </a:p>
          <a:p>
            <a:pPr>
              <a:lnSpc>
                <a:spcPts val="2244"/>
              </a:lnSpc>
              <a:spcBef>
                <a:spcPts val="0"/>
              </a:spcBef>
              <a:spcAft>
                <a:spcPts val="0"/>
              </a:spcAft>
            </a:pPr>
            <a:r>
              <a:rPr sz="1700" b="0">
                <a:solidFill>
                  <a:srgbClr val="152536"/>
                </a:solidFill>
                <a:latin typeface="Noto Sans CJK SC"/>
                <a:ea typeface="Noto Sans CJK SC"/>
              </a:rPr>
              <a:t>epoch, budget</a:t>
            </a:r>
          </a:p>
        </p:txBody>
      </p:sp>
      <p:cxnSp>
        <p:nvCxnSpPr>
          <p:cNvPr id="22" name="Connector 21"/>
          <p:cNvCxnSpPr/>
          <p:nvPr/>
        </p:nvCxnSpPr>
        <p:spPr>
          <a:xfrm>
            <a:off x="7040879" y="3264408"/>
            <a:ext cx="15544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205472" y="2011680"/>
            <a:ext cx="1993392" cy="2487168"/>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05472" y="2011680"/>
            <a:ext cx="45720" cy="2487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88352" y="2176272"/>
            <a:ext cx="1627632"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Revalidate</a:t>
            </a:r>
          </a:p>
        </p:txBody>
      </p:sp>
      <p:sp>
        <p:nvSpPr>
          <p:cNvPr id="26" name="TextBox 25"/>
          <p:cNvSpPr txBox="1"/>
          <p:nvPr/>
        </p:nvSpPr>
        <p:spPr>
          <a:xfrm>
            <a:off x="7388352" y="2852928"/>
            <a:ext cx="1627632" cy="1499616"/>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Expiry,</a:t>
            </a:r>
          </a:p>
          <a:p>
            <a:pPr>
              <a:lnSpc>
                <a:spcPts val="2244"/>
              </a:lnSpc>
              <a:spcBef>
                <a:spcPts val="0"/>
              </a:spcBef>
              <a:spcAft>
                <a:spcPts val="0"/>
              </a:spcAft>
            </a:pPr>
            <a:r>
              <a:rPr sz="1700" b="0">
                <a:solidFill>
                  <a:srgbClr val="152536"/>
                </a:solidFill>
                <a:latin typeface="Noto Sans CJK SC"/>
                <a:ea typeface="Noto Sans CJK SC"/>
              </a:rPr>
              <a:t>revocation,</a:t>
            </a:r>
          </a:p>
          <a:p>
            <a:pPr>
              <a:lnSpc>
                <a:spcPts val="2244"/>
              </a:lnSpc>
              <a:spcBef>
                <a:spcPts val="0"/>
              </a:spcBef>
              <a:spcAft>
                <a:spcPts val="0"/>
              </a:spcAft>
            </a:pPr>
            <a:r>
              <a:rPr sz="1700" b="0">
                <a:solidFill>
                  <a:srgbClr val="152536"/>
                </a:solidFill>
                <a:latin typeface="Noto Sans CJK SC"/>
                <a:ea typeface="Noto Sans CJK SC"/>
              </a:rPr>
              <a:t>source change</a:t>
            </a:r>
          </a:p>
        </p:txBody>
      </p:sp>
      <p:cxnSp>
        <p:nvCxnSpPr>
          <p:cNvPr id="27" name="Connector 26"/>
          <p:cNvCxnSpPr/>
          <p:nvPr/>
        </p:nvCxnSpPr>
        <p:spPr>
          <a:xfrm>
            <a:off x="9198864" y="3264408"/>
            <a:ext cx="15544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363456" y="2011680"/>
            <a:ext cx="1993392" cy="2487168"/>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363456" y="2011680"/>
            <a:ext cx="45720" cy="2487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46336" y="2176272"/>
            <a:ext cx="1627632"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Read + bind</a:t>
            </a:r>
          </a:p>
        </p:txBody>
      </p:sp>
      <p:sp>
        <p:nvSpPr>
          <p:cNvPr id="31" name="TextBox 30"/>
          <p:cNvSpPr txBox="1"/>
          <p:nvPr/>
        </p:nvSpPr>
        <p:spPr>
          <a:xfrm>
            <a:off x="9546336" y="2852928"/>
            <a:ext cx="1627632" cy="1499616"/>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Bytes, digest,</a:t>
            </a:r>
          </a:p>
          <a:p>
            <a:pPr>
              <a:lnSpc>
                <a:spcPts val="2244"/>
              </a:lnSpc>
              <a:spcBef>
                <a:spcPts val="0"/>
              </a:spcBef>
              <a:spcAft>
                <a:spcPts val="0"/>
              </a:spcAft>
            </a:pPr>
            <a:r>
              <a:rPr sz="1700" b="0">
                <a:solidFill>
                  <a:srgbClr val="152536"/>
                </a:solidFill>
                <a:latin typeface="Noto Sans CJK SC"/>
                <a:ea typeface="Noto Sans CJK SC"/>
              </a:rPr>
              <a:t>source</a:t>
            </a:r>
          </a:p>
        </p:txBody>
      </p:sp>
      <p:sp>
        <p:nvSpPr>
          <p:cNvPr id="32" name="TextBox 31"/>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Typed failures: STALE / UNAUTHORIZED / SOURCE_CHANGED / REVALIDATE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Revocation during queuing: is admission enough?</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10</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cxnSp>
        <p:nvCxnSpPr>
          <p:cNvPr id="8" name="Connector 7"/>
          <p:cNvCxnSpPr/>
          <p:nvPr/>
        </p:nvCxnSpPr>
        <p:spPr>
          <a:xfrm>
            <a:off x="1097280" y="2926080"/>
            <a:ext cx="9875520" cy="0"/>
          </a:xfrm>
          <a:prstGeom prst="line">
            <a:avLst/>
          </a:prstGeom>
          <a:ln w="38100">
            <a:solidFill>
              <a:srgbClr val="154C7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097280" y="2825496"/>
            <a:ext cx="164592" cy="201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947672"/>
            <a:ext cx="2743200" cy="548640"/>
          </a:xfrm>
          <a:prstGeom prst="rect">
            <a:avLst/>
          </a:prstGeom>
          <a:noFill/>
        </p:spPr>
        <p:txBody>
          <a:bodyPr wrap="none" lIns="0" rIns="0" tIns="0" bIns="0">
            <a:noAutofit/>
          </a:bodyPr>
          <a:lstStyle/>
          <a:p>
            <a:pPr>
              <a:lnSpc>
                <a:spcPts val="2904"/>
              </a:lnSpc>
              <a:spcBef>
                <a:spcPts val="0"/>
              </a:spcBef>
              <a:spcAft>
                <a:spcPts val="0"/>
              </a:spcAft>
            </a:pPr>
            <a:r>
              <a:rPr sz="2200" b="1">
                <a:solidFill>
                  <a:srgbClr val="152536"/>
                </a:solidFill>
                <a:latin typeface="Noto Sans CJK SC"/>
                <a:ea typeface="Noto Sans CJK SC"/>
              </a:rPr>
              <a:t>t0 Admission</a:t>
            </a:r>
          </a:p>
        </p:txBody>
      </p:sp>
      <p:sp>
        <p:nvSpPr>
          <p:cNvPr id="11" name="TextBox 10"/>
          <p:cNvSpPr txBox="1"/>
          <p:nvPr/>
        </p:nvSpPr>
        <p:spPr>
          <a:xfrm>
            <a:off x="1097280" y="3429000"/>
            <a:ext cx="2743200" cy="868680"/>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Policy epoch = 7</a:t>
            </a:r>
          </a:p>
          <a:p>
            <a:pPr>
              <a:lnSpc>
                <a:spcPts val="2508"/>
              </a:lnSpc>
              <a:spcBef>
                <a:spcPts val="0"/>
              </a:spcBef>
              <a:spcAft>
                <a:spcPts val="0"/>
              </a:spcAft>
            </a:pPr>
            <a:r>
              <a:rPr sz="1900" b="0">
                <a:solidFill>
                  <a:srgbClr val="152536"/>
                </a:solidFill>
                <a:latin typeface="Noto Sans CJK SC"/>
                <a:ea typeface="Noto Sans CJK SC"/>
              </a:rPr>
              <a:t>Ticket created</a:t>
            </a:r>
          </a:p>
        </p:txBody>
      </p:sp>
      <p:sp>
        <p:nvSpPr>
          <p:cNvPr id="12" name="Rectangle 11"/>
          <p:cNvSpPr/>
          <p:nvPr/>
        </p:nvSpPr>
        <p:spPr>
          <a:xfrm>
            <a:off x="4846320" y="2825496"/>
            <a:ext cx="164592" cy="201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947672"/>
            <a:ext cx="2743200" cy="548640"/>
          </a:xfrm>
          <a:prstGeom prst="rect">
            <a:avLst/>
          </a:prstGeom>
          <a:noFill/>
        </p:spPr>
        <p:txBody>
          <a:bodyPr wrap="none" lIns="0" rIns="0" tIns="0" bIns="0">
            <a:noAutofit/>
          </a:bodyPr>
          <a:lstStyle/>
          <a:p>
            <a:pPr>
              <a:lnSpc>
                <a:spcPts val="2904"/>
              </a:lnSpc>
              <a:spcBef>
                <a:spcPts val="0"/>
              </a:spcBef>
              <a:spcAft>
                <a:spcPts val="0"/>
              </a:spcAft>
            </a:pPr>
            <a:r>
              <a:rPr sz="2200" b="1">
                <a:solidFill>
                  <a:srgbClr val="152536"/>
                </a:solidFill>
                <a:latin typeface="Noto Sans CJK SC"/>
                <a:ea typeface="Noto Sans CJK SC"/>
              </a:rPr>
              <a:t>t1 Revocation</a:t>
            </a:r>
          </a:p>
        </p:txBody>
      </p:sp>
      <p:sp>
        <p:nvSpPr>
          <p:cNvPr id="14" name="TextBox 13"/>
          <p:cNvSpPr txBox="1"/>
          <p:nvPr/>
        </p:nvSpPr>
        <p:spPr>
          <a:xfrm>
            <a:off x="4846320" y="3429000"/>
            <a:ext cx="2743200" cy="868680"/>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Policy epoch = 8</a:t>
            </a:r>
          </a:p>
          <a:p>
            <a:pPr>
              <a:lnSpc>
                <a:spcPts val="2508"/>
              </a:lnSpc>
              <a:spcBef>
                <a:spcPts val="0"/>
              </a:spcBef>
              <a:spcAft>
                <a:spcPts val="0"/>
              </a:spcAft>
            </a:pPr>
            <a:r>
              <a:rPr sz="1900" b="0">
                <a:solidFill>
                  <a:srgbClr val="152536"/>
                </a:solidFill>
                <a:latin typeface="Noto Sans CJK SC"/>
                <a:ea typeface="Noto Sans CJK SC"/>
              </a:rPr>
              <a:t>Old ticket invalidated</a:t>
            </a:r>
          </a:p>
        </p:txBody>
      </p:sp>
      <p:sp>
        <p:nvSpPr>
          <p:cNvPr id="15" name="Rectangle 14"/>
          <p:cNvSpPr/>
          <p:nvPr/>
        </p:nvSpPr>
        <p:spPr>
          <a:xfrm>
            <a:off x="8595360" y="2825496"/>
            <a:ext cx="164592" cy="20116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1947672"/>
            <a:ext cx="2743200" cy="548640"/>
          </a:xfrm>
          <a:prstGeom prst="rect">
            <a:avLst/>
          </a:prstGeom>
          <a:noFill/>
        </p:spPr>
        <p:txBody>
          <a:bodyPr wrap="none" lIns="0" rIns="0" tIns="0" bIns="0">
            <a:noAutofit/>
          </a:bodyPr>
          <a:lstStyle/>
          <a:p>
            <a:pPr>
              <a:lnSpc>
                <a:spcPts val="2904"/>
              </a:lnSpc>
              <a:spcBef>
                <a:spcPts val="0"/>
              </a:spcBef>
              <a:spcAft>
                <a:spcPts val="0"/>
              </a:spcAft>
            </a:pPr>
            <a:r>
              <a:rPr sz="2200" b="1">
                <a:solidFill>
                  <a:srgbClr val="152536"/>
                </a:solidFill>
                <a:latin typeface="Noto Sans CJK SC"/>
                <a:ea typeface="Noto Sans CJK SC"/>
              </a:rPr>
              <a:t>t2 Execution</a:t>
            </a:r>
          </a:p>
        </p:txBody>
      </p:sp>
      <p:sp>
        <p:nvSpPr>
          <p:cNvPr id="17" name="TextBox 16"/>
          <p:cNvSpPr txBox="1"/>
          <p:nvPr/>
        </p:nvSpPr>
        <p:spPr>
          <a:xfrm>
            <a:off x="8595360" y="3429000"/>
            <a:ext cx="2743200" cy="868680"/>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Revalidate</a:t>
            </a:r>
          </a:p>
          <a:p>
            <a:pPr>
              <a:lnSpc>
                <a:spcPts val="2508"/>
              </a:lnSpc>
              <a:spcBef>
                <a:spcPts val="0"/>
              </a:spcBef>
              <a:spcAft>
                <a:spcPts val="0"/>
              </a:spcAft>
            </a:pPr>
            <a:r>
              <a:rPr sz="1900" b="0">
                <a:solidFill>
                  <a:srgbClr val="152536"/>
                </a:solidFill>
                <a:latin typeface="Noto Sans CJK SC"/>
                <a:ea typeface="Noto Sans CJK SC"/>
              </a:rPr>
              <a:t>Reject or re-admit</a:t>
            </a:r>
          </a:p>
        </p:txBody>
      </p:sp>
      <p:sp>
        <p:nvSpPr>
          <p:cNvPr id="18" name="TextBox 17"/>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The model uses a lock; distributed adapters still need a consistency protocol.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Change impact follows explicit dependencies</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11</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822960" y="1828800"/>
            <a:ext cx="3017520" cy="8686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651760" cy="548640"/>
          </a:xfrm>
          <a:prstGeom prst="rect">
            <a:avLst/>
          </a:prstGeom>
          <a:noFill/>
        </p:spPr>
        <p:txBody>
          <a:bodyPr wrap="none" lIns="0" rIns="0" tIns="0" bIns="0">
            <a:noAutofit/>
          </a:bodyPr>
          <a:lstStyle/>
          <a:p>
            <a:pPr>
              <a:lnSpc>
                <a:spcPts val="2376"/>
              </a:lnSpc>
              <a:spcBef>
                <a:spcPts val="0"/>
              </a:spcBef>
              <a:spcAft>
                <a:spcPts val="0"/>
              </a:spcAft>
            </a:pPr>
            <a:r>
              <a:rPr sz="1800" b="1">
                <a:solidFill>
                  <a:srgbClr val="154C79"/>
                </a:solidFill>
                <a:latin typeface="Noto Sans CJK SC"/>
                <a:ea typeface="Noto Sans CJK SC"/>
              </a:rPr>
              <a:t>Source / policy change</a:t>
            </a:r>
          </a:p>
        </p:txBody>
      </p:sp>
      <p:sp>
        <p:nvSpPr>
          <p:cNvPr id="10" name="Rectangle 9"/>
          <p:cNvSpPr/>
          <p:nvPr/>
        </p:nvSpPr>
        <p:spPr>
          <a:xfrm>
            <a:off x="4434840" y="1828800"/>
            <a:ext cx="3017520" cy="8686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011680"/>
            <a:ext cx="2651760" cy="548640"/>
          </a:xfrm>
          <a:prstGeom prst="rect">
            <a:avLst/>
          </a:prstGeom>
          <a:noFill/>
        </p:spPr>
        <p:txBody>
          <a:bodyPr wrap="none" lIns="0" rIns="0" tIns="0" bIns="0">
            <a:noAutofit/>
          </a:bodyPr>
          <a:lstStyle/>
          <a:p>
            <a:pPr>
              <a:lnSpc>
                <a:spcPts val="2640"/>
              </a:lnSpc>
              <a:spcBef>
                <a:spcPts val="0"/>
              </a:spcBef>
              <a:spcAft>
                <a:spcPts val="0"/>
              </a:spcAft>
            </a:pPr>
            <a:r>
              <a:rPr sz="2000" b="1">
                <a:solidFill>
                  <a:srgbClr val="154C79"/>
                </a:solidFill>
                <a:latin typeface="Noto Sans CJK SC"/>
                <a:ea typeface="Noto Sans CJK SC"/>
              </a:rPr>
              <a:t>IR invalidated</a:t>
            </a:r>
          </a:p>
        </p:txBody>
      </p:sp>
      <p:sp>
        <p:nvSpPr>
          <p:cNvPr id="12" name="Rectangle 11"/>
          <p:cNvSpPr/>
          <p:nvPr/>
        </p:nvSpPr>
        <p:spPr>
          <a:xfrm>
            <a:off x="8046720" y="1828800"/>
            <a:ext cx="3017520" cy="8686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011680"/>
            <a:ext cx="2651760" cy="548640"/>
          </a:xfrm>
          <a:prstGeom prst="rect">
            <a:avLst/>
          </a:prstGeom>
          <a:noFill/>
        </p:spPr>
        <p:txBody>
          <a:bodyPr wrap="none" lIns="0" rIns="0" tIns="0" bIns="0">
            <a:noAutofit/>
          </a:bodyPr>
          <a:lstStyle/>
          <a:p>
            <a:pPr>
              <a:lnSpc>
                <a:spcPts val="2640"/>
              </a:lnSpc>
              <a:spcBef>
                <a:spcPts val="0"/>
              </a:spcBef>
              <a:spcAft>
                <a:spcPts val="0"/>
              </a:spcAft>
            </a:pPr>
            <a:r>
              <a:rPr sz="2000" b="1">
                <a:solidFill>
                  <a:srgbClr val="154C79"/>
                </a:solidFill>
                <a:latin typeface="Noto Sans CJK SC"/>
                <a:ea typeface="Noto Sans CJK SC"/>
              </a:rPr>
              <a:t>Artifact revalidation</a:t>
            </a:r>
          </a:p>
        </p:txBody>
      </p:sp>
      <p:cxnSp>
        <p:nvCxnSpPr>
          <p:cNvPr id="14" name="Connector 13"/>
          <p:cNvCxnSpPr/>
          <p:nvPr/>
        </p:nvCxnSpPr>
        <p:spPr>
          <a:xfrm>
            <a:off x="3840480" y="2267712"/>
            <a:ext cx="594360"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52360" y="2267712"/>
            <a:ext cx="594360"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22960" y="3337560"/>
            <a:ext cx="5029200" cy="16916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337560"/>
            <a:ext cx="45720" cy="16916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502152"/>
            <a:ext cx="46634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Condition: complete dependencies</a:t>
            </a:r>
          </a:p>
        </p:txBody>
      </p:sp>
      <p:sp>
        <p:nvSpPr>
          <p:cNvPr id="19" name="TextBox 18"/>
          <p:cNvSpPr txBox="1"/>
          <p:nvPr/>
        </p:nvSpPr>
        <p:spPr>
          <a:xfrm>
            <a:off x="1005840" y="4178808"/>
            <a:ext cx="4663440" cy="70408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Hidden views, shared prompts and mutable</a:t>
            </a:r>
          </a:p>
          <a:p>
            <a:pPr>
              <a:lnSpc>
                <a:spcPts val="2244"/>
              </a:lnSpc>
              <a:spcBef>
                <a:spcPts val="0"/>
              </a:spcBef>
              <a:spcAft>
                <a:spcPts val="0"/>
              </a:spcAft>
            </a:pPr>
            <a:r>
              <a:rPr sz="1700" b="0">
                <a:solidFill>
                  <a:srgbClr val="152536"/>
                </a:solidFill>
                <a:latin typeface="Noto Sans CJK SC"/>
                <a:ea typeface="Noto Sans CJK SC"/>
              </a:rPr>
              <a:t>aliases can break locality</a:t>
            </a:r>
          </a:p>
        </p:txBody>
      </p:sp>
      <p:sp>
        <p:nvSpPr>
          <p:cNvPr id="20" name="Rectangle 19"/>
          <p:cNvSpPr/>
          <p:nvPr/>
        </p:nvSpPr>
        <p:spPr>
          <a:xfrm>
            <a:off x="6126480" y="3337560"/>
            <a:ext cx="4937760" cy="16916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3337560"/>
            <a:ext cx="45720" cy="16916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502152"/>
            <a:ext cx="457200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Current model: conservative</a:t>
            </a:r>
          </a:p>
        </p:txBody>
      </p:sp>
      <p:sp>
        <p:nvSpPr>
          <p:cNvPr id="23" name="TextBox 22"/>
          <p:cNvSpPr txBox="1"/>
          <p:nvPr/>
        </p:nvSpPr>
        <p:spPr>
          <a:xfrm>
            <a:off x="6309360" y="4178808"/>
            <a:ext cx="4572000" cy="70408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Global epoch; no measured fine-grained</a:t>
            </a:r>
          </a:p>
          <a:p>
            <a:pPr>
              <a:lnSpc>
                <a:spcPts val="2244"/>
              </a:lnSpc>
              <a:spcBef>
                <a:spcPts val="0"/>
              </a:spcBef>
              <a:spcAft>
                <a:spcPts val="0"/>
              </a:spcAft>
            </a:pPr>
            <a:r>
              <a:rPr sz="1700" b="0">
                <a:solidFill>
                  <a:srgbClr val="152536"/>
                </a:solidFill>
                <a:latin typeface="Noto Sans CJK SC"/>
                <a:ea typeface="Noto Sans CJK SC"/>
              </a:rPr>
              <a:t>maintenance savings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An existing file is not a verified deliverable</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12</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77240" y="1783080"/>
            <a:ext cx="4937760" cy="32461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45720" cy="3246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947672"/>
            <a:ext cx="457200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Theme completion predicate</a:t>
            </a:r>
          </a:p>
        </p:txBody>
      </p:sp>
      <p:sp>
        <p:nvSpPr>
          <p:cNvPr id="11" name="TextBox 10"/>
          <p:cNvSpPr txBox="1"/>
          <p:nvPr/>
        </p:nvSpPr>
        <p:spPr>
          <a:xfrm>
            <a:off x="960120" y="2624328"/>
            <a:ext cx="4572000" cy="2258568"/>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All required fields present</a:t>
            </a:r>
          </a:p>
          <a:p>
            <a:pPr>
              <a:lnSpc>
                <a:spcPts val="2508"/>
              </a:lnSpc>
              <a:spcBef>
                <a:spcPts val="0"/>
              </a:spcBef>
              <a:spcAft>
                <a:spcPts val="0"/>
              </a:spcAft>
            </a:pPr>
            <a:r>
              <a:rPr sz="1900" b="0">
                <a:solidFill>
                  <a:srgbClr val="152536"/>
                </a:solidFill>
                <a:latin typeface="Noto Sans CJK SC"/>
                <a:ea typeface="Noto Sans CJK SC"/>
              </a:rPr>
              <a:t>Artifact digest matches this run</a:t>
            </a:r>
          </a:p>
          <a:p>
            <a:pPr>
              <a:lnSpc>
                <a:spcPts val="2508"/>
              </a:lnSpc>
              <a:spcBef>
                <a:spcPts val="0"/>
              </a:spcBef>
              <a:spcAft>
                <a:spcPts val="0"/>
              </a:spcAft>
            </a:pPr>
            <a:r>
              <a:rPr sz="1900" b="0">
                <a:solidFill>
                  <a:srgbClr val="152536"/>
                </a:solidFill>
                <a:latin typeface="Noto Sans CJK SC"/>
                <a:ea typeface="Noto Sans CJK SC"/>
              </a:rPr>
              <a:t>Evidence dependencies remain valid</a:t>
            </a:r>
          </a:p>
          <a:p>
            <a:pPr>
              <a:lnSpc>
                <a:spcPts val="2508"/>
              </a:lnSpc>
              <a:spcBef>
                <a:spcPts val="0"/>
              </a:spcBef>
              <a:spcAft>
                <a:spcPts val="0"/>
              </a:spcAft>
            </a:pPr>
            <a:r>
              <a:rPr sz="1900" b="0">
                <a:solidFill>
                  <a:srgbClr val="152536"/>
                </a:solidFill>
                <a:latin typeface="Noto Sans CJK SC"/>
                <a:ea typeface="Noto Sans CJK SC"/>
              </a:rPr>
              <a:t>Specified verifier has passed</a:t>
            </a:r>
          </a:p>
        </p:txBody>
      </p:sp>
      <p:sp>
        <p:nvSpPr>
          <p:cNvPr id="12" name="Rectangle 11"/>
          <p:cNvSpPr/>
          <p:nvPr/>
        </p:nvSpPr>
        <p:spPr>
          <a:xfrm>
            <a:off x="6080760" y="1783080"/>
            <a:ext cx="5257800" cy="324612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1783080"/>
            <a:ext cx="45720" cy="3246120"/>
          </a:xfrm>
          <a:prstGeom prst="rect">
            <a:avLst/>
          </a:prstGeom>
          <a:solidFill>
            <a:srgbClr val="154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947672"/>
            <a:ext cx="48920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154C79"/>
                </a:solidFill>
                <a:latin typeface="Noto Sans CJK SC"/>
                <a:ea typeface="Noto Sans CJK SC"/>
              </a:rPr>
              <a:t>Keep states distinct</a:t>
            </a:r>
          </a:p>
        </p:txBody>
      </p:sp>
      <p:sp>
        <p:nvSpPr>
          <p:cNvPr id="15" name="TextBox 14"/>
          <p:cNvSpPr txBox="1"/>
          <p:nvPr/>
        </p:nvSpPr>
        <p:spPr>
          <a:xfrm>
            <a:off x="6263640" y="2624328"/>
            <a:ext cx="4892040" cy="2258568"/>
          </a:xfrm>
          <a:prstGeom prst="rect">
            <a:avLst/>
          </a:prstGeom>
          <a:noFill/>
        </p:spPr>
        <p:txBody>
          <a:bodyPr wrap="none" lIns="0" rIns="0" tIns="0" bIns="0">
            <a:noAutofit/>
          </a:bodyPr>
          <a:lstStyle/>
          <a:p>
            <a:pPr>
              <a:lnSpc>
                <a:spcPts val="2508"/>
              </a:lnSpc>
              <a:spcBef>
                <a:spcPts val="0"/>
              </a:spcBef>
              <a:spcAft>
                <a:spcPts val="0"/>
              </a:spcAft>
            </a:pPr>
            <a:r>
              <a:rPr sz="1900" b="0">
                <a:solidFill>
                  <a:srgbClr val="152536"/>
                </a:solidFill>
                <a:latin typeface="Noto Sans CJK SC"/>
                <a:ea typeface="Noto Sans CJK SC"/>
              </a:rPr>
              <a:t>Completed and verified</a:t>
            </a:r>
          </a:p>
          <a:p>
            <a:pPr>
              <a:lnSpc>
                <a:spcPts val="2508"/>
              </a:lnSpc>
              <a:spcBef>
                <a:spcPts val="0"/>
              </a:spcBef>
              <a:spcAft>
                <a:spcPts val="0"/>
              </a:spcAft>
            </a:pPr>
            <a:r>
              <a:rPr sz="1900" b="0">
                <a:solidFill>
                  <a:srgbClr val="152536"/>
                </a:solidFill>
                <a:latin typeface="Noto Sans CJK SC"/>
                <a:ea typeface="Noto Sans CJK SC"/>
              </a:rPr>
              <a:t>Partial</a:t>
            </a:r>
          </a:p>
          <a:p>
            <a:pPr>
              <a:lnSpc>
                <a:spcPts val="2508"/>
              </a:lnSpc>
              <a:spcBef>
                <a:spcPts val="0"/>
              </a:spcBef>
              <a:spcAft>
                <a:spcPts val="0"/>
              </a:spcAft>
            </a:pPr>
            <a:r>
              <a:rPr sz="1900" b="0">
                <a:solidFill>
                  <a:srgbClr val="152536"/>
                </a:solidFill>
                <a:latin typeface="Noto Sans CJK SC"/>
                <a:ea typeface="Noto Sans CJK SC"/>
              </a:rPr>
              <a:t>Rejected</a:t>
            </a:r>
          </a:p>
          <a:p>
            <a:pPr>
              <a:lnSpc>
                <a:spcPts val="2508"/>
              </a:lnSpc>
              <a:spcBef>
                <a:spcPts val="0"/>
              </a:spcBef>
              <a:spcAft>
                <a:spcPts val="0"/>
              </a:spcAft>
            </a:pPr>
            <a:r>
              <a:rPr sz="1900" b="0">
                <a:solidFill>
                  <a:srgbClr val="152536"/>
                </a:solidFill>
                <a:latin typeface="Noto Sans CJK SC"/>
                <a:ea typeface="Noto Sans CJK SC"/>
              </a:rPr>
              <a:t>Expired; revalidation required</a:t>
            </a:r>
          </a:p>
        </p:txBody>
      </p:sp>
      <p:sp>
        <p:nvSpPr>
          <p:cNvPr id="16" name="TextBox 15"/>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A content hash proves byte identity, not truth or semantic entailment.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Executed evidence: finite contract conformance</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One revenue fixture × ten binary fault dimensions; exhaustive within this domain</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13</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Raw cases / 逐例结果</a:t>
            </a:r>
          </a:p>
        </p:txBody>
      </p:sp>
      <p:sp>
        <p:nvSpPr>
          <p:cNvPr id="9" name="TextBox 8"/>
          <p:cNvSpPr txBox="1"/>
          <p:nvPr/>
        </p:nvSpPr>
        <p:spPr>
          <a:xfrm>
            <a:off x="432511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3"/>
              </a:rPr>
              <a:t>Summary / 汇总</a:t>
            </a:r>
          </a:p>
        </p:txBody>
      </p:sp>
      <p:sp>
        <p:nvSpPr>
          <p:cNvPr id="10" name="TextBox 9"/>
          <p:cNvSpPr txBox="1"/>
          <p:nvPr/>
        </p:nvSpPr>
        <p:spPr>
          <a:xfrm>
            <a:off x="822960" y="1920240"/>
            <a:ext cx="3200400" cy="914400"/>
          </a:xfrm>
          <a:prstGeom prst="rect">
            <a:avLst/>
          </a:prstGeom>
          <a:noFill/>
        </p:spPr>
        <p:txBody>
          <a:bodyPr wrap="none" lIns="0" rIns="0" tIns="0" bIns="0">
            <a:noAutofit/>
          </a:bodyPr>
          <a:lstStyle/>
          <a:p>
            <a:pPr>
              <a:lnSpc>
                <a:spcPts val="6336"/>
              </a:lnSpc>
              <a:spcBef>
                <a:spcPts val="0"/>
              </a:spcBef>
              <a:spcAft>
                <a:spcPts val="0"/>
              </a:spcAft>
            </a:pPr>
            <a:r>
              <a:rPr sz="4800" b="1">
                <a:solidFill>
                  <a:srgbClr val="087F8C"/>
                </a:solidFill>
                <a:latin typeface="Noto Sans CJK SC"/>
                <a:ea typeface="Noto Sans CJK SC"/>
              </a:rPr>
              <a:t>1,024</a:t>
            </a:r>
          </a:p>
        </p:txBody>
      </p:sp>
      <p:sp>
        <p:nvSpPr>
          <p:cNvPr id="11" name="TextBox 10"/>
          <p:cNvSpPr txBox="1"/>
          <p:nvPr/>
        </p:nvSpPr>
        <p:spPr>
          <a:xfrm>
            <a:off x="822960" y="2962656"/>
            <a:ext cx="3200400" cy="502920"/>
          </a:xfrm>
          <a:prstGeom prst="rect">
            <a:avLst/>
          </a:prstGeom>
          <a:noFill/>
        </p:spPr>
        <p:txBody>
          <a:bodyPr wrap="none" lIns="0" rIns="0" tIns="0" bIns="0">
            <a:noAutofit/>
          </a:bodyPr>
          <a:lstStyle/>
          <a:p>
            <a:pPr>
              <a:lnSpc>
                <a:spcPts val="2772"/>
              </a:lnSpc>
              <a:spcBef>
                <a:spcPts val="0"/>
              </a:spcBef>
              <a:spcAft>
                <a:spcPts val="0"/>
              </a:spcAft>
            </a:pPr>
            <a:r>
              <a:rPr sz="2100" b="0">
                <a:solidFill>
                  <a:srgbClr val="152536"/>
                </a:solidFill>
                <a:latin typeface="Noto Sans CJK SC"/>
                <a:ea typeface="Noto Sans CJK SC"/>
              </a:rPr>
              <a:t>Declared cases</a:t>
            </a:r>
          </a:p>
        </p:txBody>
      </p:sp>
      <p:sp>
        <p:nvSpPr>
          <p:cNvPr id="12" name="TextBox 11"/>
          <p:cNvSpPr txBox="1"/>
          <p:nvPr/>
        </p:nvSpPr>
        <p:spPr>
          <a:xfrm>
            <a:off x="4480560" y="1920240"/>
            <a:ext cx="3200400" cy="914400"/>
          </a:xfrm>
          <a:prstGeom prst="rect">
            <a:avLst/>
          </a:prstGeom>
          <a:noFill/>
        </p:spPr>
        <p:txBody>
          <a:bodyPr wrap="none" lIns="0" rIns="0" tIns="0" bIns="0">
            <a:noAutofit/>
          </a:bodyPr>
          <a:lstStyle/>
          <a:p>
            <a:pPr>
              <a:lnSpc>
                <a:spcPts val="6336"/>
              </a:lnSpc>
              <a:spcBef>
                <a:spcPts val="0"/>
              </a:spcBef>
              <a:spcAft>
                <a:spcPts val="0"/>
              </a:spcAft>
            </a:pPr>
            <a:r>
              <a:rPr sz="4800" b="1">
                <a:solidFill>
                  <a:srgbClr val="087F8C"/>
                </a:solidFill>
                <a:latin typeface="Noto Sans CJK SC"/>
                <a:ea typeface="Noto Sans CJK SC"/>
              </a:rPr>
              <a:t>1,023</a:t>
            </a:r>
          </a:p>
        </p:txBody>
      </p:sp>
      <p:sp>
        <p:nvSpPr>
          <p:cNvPr id="13" name="TextBox 12"/>
          <p:cNvSpPr txBox="1"/>
          <p:nvPr/>
        </p:nvSpPr>
        <p:spPr>
          <a:xfrm>
            <a:off x="4480560" y="2962656"/>
            <a:ext cx="3200400" cy="502920"/>
          </a:xfrm>
          <a:prstGeom prst="rect">
            <a:avLst/>
          </a:prstGeom>
          <a:noFill/>
        </p:spPr>
        <p:txBody>
          <a:bodyPr wrap="none" lIns="0" rIns="0" tIns="0" bIns="0">
            <a:noAutofit/>
          </a:bodyPr>
          <a:lstStyle/>
          <a:p>
            <a:pPr>
              <a:lnSpc>
                <a:spcPts val="2772"/>
              </a:lnSpc>
              <a:spcBef>
                <a:spcPts val="0"/>
              </a:spcBef>
              <a:spcAft>
                <a:spcPts val="0"/>
              </a:spcAft>
            </a:pPr>
            <a:r>
              <a:rPr sz="2100" b="0">
                <a:solidFill>
                  <a:srgbClr val="152536"/>
                </a:solidFill>
                <a:latin typeface="Noto Sans CJK SC"/>
                <a:ea typeface="Noto Sans CJK SC"/>
              </a:rPr>
              <a:t>Expected rejections</a:t>
            </a:r>
          </a:p>
        </p:txBody>
      </p:sp>
      <p:sp>
        <p:nvSpPr>
          <p:cNvPr id="14" name="TextBox 13"/>
          <p:cNvSpPr txBox="1"/>
          <p:nvPr/>
        </p:nvSpPr>
        <p:spPr>
          <a:xfrm>
            <a:off x="8138160" y="1920240"/>
            <a:ext cx="3200400" cy="914400"/>
          </a:xfrm>
          <a:prstGeom prst="rect">
            <a:avLst/>
          </a:prstGeom>
          <a:noFill/>
        </p:spPr>
        <p:txBody>
          <a:bodyPr wrap="none" lIns="0" rIns="0" tIns="0" bIns="0">
            <a:noAutofit/>
          </a:bodyPr>
          <a:lstStyle/>
          <a:p>
            <a:pPr>
              <a:lnSpc>
                <a:spcPts val="6336"/>
              </a:lnSpc>
              <a:spcBef>
                <a:spcPts val="0"/>
              </a:spcBef>
              <a:spcAft>
                <a:spcPts val="0"/>
              </a:spcAft>
            </a:pPr>
            <a:r>
              <a:rPr sz="4800" b="1">
                <a:solidFill>
                  <a:srgbClr val="087F8C"/>
                </a:solidFill>
                <a:latin typeface="Noto Sans CJK SC"/>
                <a:ea typeface="Noto Sans CJK SC"/>
              </a:rPr>
              <a:t>0</a:t>
            </a:r>
          </a:p>
        </p:txBody>
      </p:sp>
      <p:sp>
        <p:nvSpPr>
          <p:cNvPr id="15" name="TextBox 14"/>
          <p:cNvSpPr txBox="1"/>
          <p:nvPr/>
        </p:nvSpPr>
        <p:spPr>
          <a:xfrm>
            <a:off x="8138160" y="2962656"/>
            <a:ext cx="3200400" cy="502920"/>
          </a:xfrm>
          <a:prstGeom prst="rect">
            <a:avLst/>
          </a:prstGeom>
          <a:noFill/>
        </p:spPr>
        <p:txBody>
          <a:bodyPr wrap="none" lIns="0" rIns="0" tIns="0" bIns="0">
            <a:noAutofit/>
          </a:bodyPr>
          <a:lstStyle/>
          <a:p>
            <a:pPr>
              <a:lnSpc>
                <a:spcPts val="2772"/>
              </a:lnSpc>
              <a:spcBef>
                <a:spcPts val="0"/>
              </a:spcBef>
              <a:spcAft>
                <a:spcPts val="0"/>
              </a:spcAft>
            </a:pPr>
            <a:r>
              <a:rPr sz="2100" b="0">
                <a:solidFill>
                  <a:srgbClr val="152536"/>
                </a:solidFill>
                <a:latin typeface="Noto Sans CJK SC"/>
                <a:ea typeface="Noto Sans CJK SC"/>
              </a:rPr>
              <a:t>Oracle disagreements</a:t>
            </a:r>
          </a:p>
        </p:txBody>
      </p:sp>
      <p:sp>
        <p:nvSpPr>
          <p:cNvPr id="16" name="Rectangle 15"/>
          <p:cNvSpPr/>
          <p:nvPr/>
        </p:nvSpPr>
        <p:spPr>
          <a:xfrm>
            <a:off x="822960" y="4005072"/>
            <a:ext cx="10607040" cy="8686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187952"/>
            <a:ext cx="10149840" cy="484632"/>
          </a:xfrm>
          <a:prstGeom prst="rect">
            <a:avLst/>
          </a:prstGeom>
          <a:noFill/>
        </p:spPr>
        <p:txBody>
          <a:bodyPr wrap="none" lIns="0" rIns="0" tIns="0" bIns="0">
            <a:noAutofit/>
          </a:bodyPr>
          <a:lstStyle/>
          <a:p>
            <a:pPr>
              <a:lnSpc>
                <a:spcPts val="2508"/>
              </a:lnSpc>
              <a:spcBef>
                <a:spcPts val="0"/>
              </a:spcBef>
              <a:spcAft>
                <a:spcPts val="0"/>
              </a:spcAft>
            </a:pPr>
            <a:r>
              <a:rPr sz="1900" b="1">
                <a:solidFill>
                  <a:srgbClr val="152536"/>
                </a:solidFill>
                <a:latin typeface="Noto Sans CJK SC"/>
                <a:ea typeface="Noto Sans CJK SC"/>
              </a:rPr>
              <a:t>Five lifecycle checks pass: revocation, replacement, expiry, replay and revalidation</a:t>
            </a:r>
          </a:p>
        </p:txBody>
      </p:sp>
      <p:sp>
        <p:nvSpPr>
          <p:cNvPr id="18" name="TextBox 17"/>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This is finite conformance, not retrieval-quality or scalability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Evidence boundary: what can we say today?</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14</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77240" y="1783080"/>
            <a:ext cx="5029200" cy="32918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45720" cy="3291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947672"/>
            <a:ext cx="46634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Supported now</a:t>
            </a:r>
          </a:p>
        </p:txBody>
      </p:sp>
      <p:sp>
        <p:nvSpPr>
          <p:cNvPr id="11" name="TextBox 10"/>
          <p:cNvSpPr txBox="1"/>
          <p:nvPr/>
        </p:nvSpPr>
        <p:spPr>
          <a:xfrm>
            <a:off x="960120" y="2624328"/>
            <a:ext cx="4663440" cy="230428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Executable data-boundary specification</a:t>
            </a:r>
          </a:p>
          <a:p>
            <a:pPr>
              <a:lnSpc>
                <a:spcPts val="2376"/>
              </a:lnSpc>
              <a:spcBef>
                <a:spcPts val="0"/>
              </a:spcBef>
              <a:spcAft>
                <a:spcPts val="0"/>
              </a:spcAft>
            </a:pPr>
            <a:r>
              <a:rPr sz="1800" b="0">
                <a:solidFill>
                  <a:srgbClr val="152536"/>
                </a:solidFill>
                <a:latin typeface="Noto Sans CJK SC"/>
                <a:ea typeface="Noto Sans CJK SC"/>
              </a:rPr>
              <a:t>Ten-dimensional fault domain checked</a:t>
            </a:r>
          </a:p>
          <a:p>
            <a:pPr>
              <a:lnSpc>
                <a:spcPts val="2376"/>
              </a:lnSpc>
              <a:spcBef>
                <a:spcPts val="0"/>
              </a:spcBef>
              <a:spcAft>
                <a:spcPts val="0"/>
              </a:spcAft>
            </a:pPr>
            <a:r>
              <a:rPr sz="1800" b="0">
                <a:solidFill>
                  <a:srgbClr val="152536"/>
                </a:solidFill>
                <a:latin typeface="Noto Sans CJK SC"/>
                <a:ea typeface="Noto Sans CJK SC"/>
              </a:rPr>
              <a:t>Five lifecycle checks passed</a:t>
            </a:r>
          </a:p>
          <a:p>
            <a:pPr>
              <a:lnSpc>
                <a:spcPts val="2376"/>
              </a:lnSpc>
              <a:spcBef>
                <a:spcPts val="0"/>
              </a:spcBef>
              <a:spcAft>
                <a:spcPts val="0"/>
              </a:spcAft>
            </a:pPr>
            <a:r>
              <a:rPr sz="1800" b="0">
                <a:solidFill>
                  <a:srgbClr val="152536"/>
                </a:solidFill>
                <a:latin typeface="Noto Sans CJK SC"/>
                <a:ea typeface="Noto Sans CJK SC"/>
              </a:rPr>
              <a:t>Code, cases and hashes are inspectable</a:t>
            </a:r>
          </a:p>
        </p:txBody>
      </p:sp>
      <p:sp>
        <p:nvSpPr>
          <p:cNvPr id="12" name="Rectangle 11"/>
          <p:cNvSpPr/>
          <p:nvPr/>
        </p:nvSpPr>
        <p:spPr>
          <a:xfrm>
            <a:off x="6080760" y="1783080"/>
            <a:ext cx="5303520" cy="329184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1783080"/>
            <a:ext cx="45720" cy="3291840"/>
          </a:xfrm>
          <a:prstGeom prst="rect">
            <a:avLst/>
          </a:prstGeom>
          <a:solidFill>
            <a:srgbClr val="9A6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947672"/>
            <a:ext cx="4937759"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9A6517"/>
                </a:solidFill>
                <a:latin typeface="Noto Sans CJK SC"/>
                <a:ea typeface="Noto Sans CJK SC"/>
              </a:rPr>
              <a:t>Not established</a:t>
            </a:r>
          </a:p>
        </p:txBody>
      </p:sp>
      <p:sp>
        <p:nvSpPr>
          <p:cNvPr id="15" name="TextBox 14"/>
          <p:cNvSpPr txBox="1"/>
          <p:nvPr/>
        </p:nvSpPr>
        <p:spPr>
          <a:xfrm>
            <a:off x="6263640" y="2624328"/>
            <a:ext cx="4937759" cy="230428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Better real-task accuracy</a:t>
            </a:r>
          </a:p>
          <a:p>
            <a:pPr>
              <a:lnSpc>
                <a:spcPts val="2376"/>
              </a:lnSpc>
              <a:spcBef>
                <a:spcPts val="0"/>
              </a:spcBef>
              <a:spcAft>
                <a:spcPts val="0"/>
              </a:spcAft>
            </a:pPr>
            <a:r>
              <a:rPr sz="1800" b="0">
                <a:solidFill>
                  <a:srgbClr val="152536"/>
                </a:solidFill>
                <a:latin typeface="Noto Sans CJK SC"/>
                <a:ea typeface="Noto Sans CJK SC"/>
              </a:rPr>
              <a:t>Lower enterprise lifecycle cost</a:t>
            </a:r>
          </a:p>
          <a:p>
            <a:pPr>
              <a:lnSpc>
                <a:spcPts val="2376"/>
              </a:lnSpc>
              <a:spcBef>
                <a:spcPts val="0"/>
              </a:spcBef>
              <a:spcAft>
                <a:spcPts val="0"/>
              </a:spcAft>
            </a:pPr>
            <a:r>
              <a:rPr sz="1800" b="0">
                <a:solidFill>
                  <a:srgbClr val="152536"/>
                </a:solidFill>
                <a:latin typeface="Noto Sans CJK SC"/>
                <a:ea typeface="Noto Sans CJK SC"/>
              </a:rPr>
              <a:t>Distributed safety or scalability</a:t>
            </a:r>
          </a:p>
          <a:p>
            <a:pPr>
              <a:lnSpc>
                <a:spcPts val="2376"/>
              </a:lnSpc>
              <a:spcBef>
                <a:spcPts val="0"/>
              </a:spcBef>
              <a:spcAft>
                <a:spcPts val="0"/>
              </a:spcAft>
            </a:pPr>
            <a:r>
              <a:rPr sz="1800" b="0">
                <a:solidFill>
                  <a:srgbClr val="152536"/>
                </a:solidFill>
                <a:latin typeface="Noto Sans CJK SC"/>
                <a:ea typeface="Noto Sans CJK SC"/>
              </a:rPr>
              <a:t>P1 support or conference readiness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Recent work: execution, research and delivery</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15</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Prime Agent</a:t>
            </a:r>
          </a:p>
        </p:txBody>
      </p:sp>
      <p:sp>
        <p:nvSpPr>
          <p:cNvPr id="8" name="TextBox 7"/>
          <p:cNvSpPr txBox="1"/>
          <p:nvPr/>
        </p:nvSpPr>
        <p:spPr>
          <a:xfrm>
            <a:off x="432511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3"/>
              </a:rPr>
              <a:t>AutoResearch</a:t>
            </a:r>
          </a:p>
        </p:txBody>
      </p:sp>
      <p:sp>
        <p:nvSpPr>
          <p:cNvPr id="9" name="TextBox 8"/>
          <p:cNvSpPr txBox="1"/>
          <p:nvPr/>
        </p:nvSpPr>
        <p:spPr>
          <a:xfrm>
            <a:off x="8028431"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4"/>
              </a:rPr>
              <a:t>Apodex 1.1</a:t>
            </a:r>
          </a:p>
        </p:txBody>
      </p:sp>
      <p:sp>
        <p:nvSpPr>
          <p:cNvPr id="10" name="Rectangle 9"/>
          <p:cNvSpPr/>
          <p:nvPr/>
        </p:nvSpPr>
        <p:spPr>
          <a:xfrm>
            <a:off x="731520" y="1783080"/>
            <a:ext cx="3429000" cy="36118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783080"/>
            <a:ext cx="45720"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Prime Agent</a:t>
            </a:r>
          </a:p>
        </p:txBody>
      </p:sp>
      <p:sp>
        <p:nvSpPr>
          <p:cNvPr id="13" name="TextBox 12"/>
          <p:cNvSpPr txBox="1"/>
          <p:nvPr/>
        </p:nvSpPr>
        <p:spPr>
          <a:xfrm>
            <a:off x="914400" y="2624328"/>
            <a:ext cx="3063240" cy="262432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Persistent REPL, recursive</a:t>
            </a:r>
          </a:p>
          <a:p>
            <a:pPr>
              <a:lnSpc>
                <a:spcPts val="2244"/>
              </a:lnSpc>
              <a:spcBef>
                <a:spcPts val="0"/>
              </a:spcBef>
              <a:spcAft>
                <a:spcPts val="0"/>
              </a:spcAft>
            </a:pPr>
            <a:r>
              <a:rPr sz="1700" b="0">
                <a:solidFill>
                  <a:srgbClr val="152536"/>
                </a:solidFill>
                <a:latin typeface="Noto Sans CJK SC"/>
                <a:ea typeface="Noto Sans CJK SC"/>
              </a:rPr>
              <a:t>sessions, tree-wide</a:t>
            </a:r>
          </a:p>
          <a:p>
            <a:pPr>
              <a:lnSpc>
                <a:spcPts val="2244"/>
              </a:lnSpc>
              <a:spcBef>
                <a:spcPts val="0"/>
              </a:spcBef>
              <a:spcAft>
                <a:spcPts val="0"/>
              </a:spcAft>
            </a:pPr>
            <a:r>
              <a:rPr sz="1700" b="0">
                <a:solidFill>
                  <a:srgbClr val="152536"/>
                </a:solidFill>
                <a:latin typeface="Noto Sans CJK SC"/>
                <a:ea typeface="Noto Sans CJK SC"/>
              </a:rPr>
              <a:t>accounting</a:t>
            </a:r>
          </a:p>
          <a:p>
            <a:pPr>
              <a:lnSpc>
                <a:spcPts val="2244"/>
              </a:lnSpc>
              <a:spcBef>
                <a:spcPts val="0"/>
              </a:spcBef>
              <a:spcAft>
                <a:spcPts val="0"/>
              </a:spcAft>
            </a:pPr>
            <a:r>
              <a:rPr sz="1700" b="0">
                <a:solidFill>
                  <a:srgbClr val="152536"/>
                </a:solidFill>
                <a:latin typeface="Noto Sans CJK SC"/>
                <a:ea typeface="Noto Sans CJK SC"/>
              </a:rPr>
              <a:t>Transfer: control budget and</a:t>
            </a:r>
          </a:p>
          <a:p>
            <a:pPr>
              <a:lnSpc>
                <a:spcPts val="2244"/>
              </a:lnSpc>
              <a:spcBef>
                <a:spcPts val="0"/>
              </a:spcBef>
              <a:spcAft>
                <a:spcPts val="0"/>
              </a:spcAft>
            </a:pPr>
            <a:r>
              <a:rPr sz="1700" b="0">
                <a:solidFill>
                  <a:srgbClr val="152536"/>
                </a:solidFill>
                <a:latin typeface="Noto Sans CJK SC"/>
                <a:ea typeface="Noto Sans CJK SC"/>
              </a:rPr>
              <a:t>state</a:t>
            </a:r>
          </a:p>
          <a:p>
            <a:pPr>
              <a:lnSpc>
                <a:spcPts val="2244"/>
              </a:lnSpc>
              <a:spcBef>
                <a:spcPts val="0"/>
              </a:spcBef>
              <a:spcAft>
                <a:spcPts val="0"/>
              </a:spcAft>
            </a:pPr>
            <a:r>
              <a:rPr sz="1700" b="0">
                <a:solidFill>
                  <a:srgbClr val="152536"/>
                </a:solidFill>
                <a:latin typeface="Noto Sans CJK SC"/>
                <a:ea typeface="Noto Sans CJK SC"/>
              </a:rPr>
              <a:t>Limit: scores do not establish</a:t>
            </a:r>
          </a:p>
          <a:p>
            <a:pPr>
              <a:lnSpc>
                <a:spcPts val="2244"/>
              </a:lnSpc>
              <a:spcBef>
                <a:spcPts val="0"/>
              </a:spcBef>
              <a:spcAft>
                <a:spcPts val="0"/>
              </a:spcAft>
            </a:pPr>
            <a:r>
              <a:rPr sz="1700" b="0">
                <a:solidFill>
                  <a:srgbClr val="152536"/>
                </a:solidFill>
                <a:latin typeface="Noto Sans CJK SC"/>
                <a:ea typeface="Noto Sans CJK SC"/>
              </a:rPr>
              <a:t>P1</a:t>
            </a:r>
          </a:p>
        </p:txBody>
      </p:sp>
      <p:sp>
        <p:nvSpPr>
          <p:cNvPr id="14" name="Rectangle 13"/>
          <p:cNvSpPr/>
          <p:nvPr/>
        </p:nvSpPr>
        <p:spPr>
          <a:xfrm>
            <a:off x="4389120" y="1783080"/>
            <a:ext cx="3429000" cy="36118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83080"/>
            <a:ext cx="45720"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AutoResearch</a:t>
            </a:r>
          </a:p>
        </p:txBody>
      </p:sp>
      <p:sp>
        <p:nvSpPr>
          <p:cNvPr id="17" name="TextBox 16"/>
          <p:cNvSpPr txBox="1"/>
          <p:nvPr/>
        </p:nvSpPr>
        <p:spPr>
          <a:xfrm>
            <a:off x="4572000" y="2624328"/>
            <a:ext cx="3063240" cy="262432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Independent review and</a:t>
            </a:r>
          </a:p>
          <a:p>
            <a:pPr>
              <a:lnSpc>
                <a:spcPts val="2244"/>
              </a:lnSpc>
              <a:spcBef>
                <a:spcPts val="0"/>
              </a:spcBef>
              <a:spcAft>
                <a:spcPts val="0"/>
              </a:spcAft>
            </a:pPr>
            <a:r>
              <a:rPr sz="1700" b="0">
                <a:solidFill>
                  <a:srgbClr val="152536"/>
                </a:solidFill>
                <a:latin typeface="Noto Sans CJK SC"/>
                <a:ea typeface="Noto Sans CJK SC"/>
              </a:rPr>
              <a:t>claim–evidence binding</a:t>
            </a:r>
          </a:p>
          <a:p>
            <a:pPr>
              <a:lnSpc>
                <a:spcPts val="2244"/>
              </a:lnSpc>
              <a:spcBef>
                <a:spcPts val="0"/>
              </a:spcBef>
              <a:spcAft>
                <a:spcPts val="0"/>
              </a:spcAft>
            </a:pPr>
            <a:r>
              <a:rPr sz="1700" b="0">
                <a:solidFill>
                  <a:srgbClr val="152536"/>
                </a:solidFill>
                <a:latin typeface="Noto Sans CJK SC"/>
                <a:ea typeface="Noto Sans CJK SC"/>
              </a:rPr>
              <a:t>Transfer: require real artifacts</a:t>
            </a:r>
          </a:p>
          <a:p>
            <a:pPr>
              <a:lnSpc>
                <a:spcPts val="2244"/>
              </a:lnSpc>
              <a:spcBef>
                <a:spcPts val="0"/>
              </a:spcBef>
              <a:spcAft>
                <a:spcPts val="0"/>
              </a:spcAft>
            </a:pPr>
            <a:r>
              <a:rPr sz="1700" b="0">
                <a:solidFill>
                  <a:srgbClr val="152536"/>
                </a:solidFill>
                <a:latin typeface="Noto Sans CJK SC"/>
                <a:ea typeface="Noto Sans CJK SC"/>
              </a:rPr>
              <a:t>Limit: examples are not</a:t>
            </a:r>
          </a:p>
          <a:p>
            <a:pPr>
              <a:lnSpc>
                <a:spcPts val="2244"/>
              </a:lnSpc>
              <a:spcBef>
                <a:spcPts val="0"/>
              </a:spcBef>
              <a:spcAft>
                <a:spcPts val="0"/>
              </a:spcAft>
            </a:pPr>
            <a:r>
              <a:rPr sz="1700" b="0">
                <a:solidFill>
                  <a:srgbClr val="152536"/>
                </a:solidFill>
                <a:latin typeface="Noto Sans CJK SC"/>
                <a:ea typeface="Noto Sans CJK SC"/>
              </a:rPr>
              <a:t>universal reliability</a:t>
            </a:r>
          </a:p>
        </p:txBody>
      </p:sp>
      <p:sp>
        <p:nvSpPr>
          <p:cNvPr id="18" name="Rectangle 17"/>
          <p:cNvSpPr/>
          <p:nvPr/>
        </p:nvSpPr>
        <p:spPr>
          <a:xfrm>
            <a:off x="8046720" y="1783080"/>
            <a:ext cx="3429000" cy="36118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783080"/>
            <a:ext cx="45720"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Apodex 1.1</a:t>
            </a:r>
          </a:p>
        </p:txBody>
      </p:sp>
      <p:sp>
        <p:nvSpPr>
          <p:cNvPr id="21" name="TextBox 20"/>
          <p:cNvSpPr txBox="1"/>
          <p:nvPr/>
        </p:nvSpPr>
        <p:spPr>
          <a:xfrm>
            <a:off x="8229600" y="2624328"/>
            <a:ext cx="3063240" cy="262432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Evidence synthesis and</a:t>
            </a:r>
          </a:p>
          <a:p>
            <a:pPr>
              <a:lnSpc>
                <a:spcPts val="2244"/>
              </a:lnSpc>
              <a:spcBef>
                <a:spcPts val="0"/>
              </a:spcBef>
              <a:spcAft>
                <a:spcPts val="0"/>
              </a:spcAft>
            </a:pPr>
            <a:r>
              <a:rPr sz="1700" b="0">
                <a:solidFill>
                  <a:srgbClr val="152536"/>
                </a:solidFill>
                <a:latin typeface="Noto Sans CJK SC"/>
                <a:ea typeface="Noto Sans CJK SC"/>
              </a:rPr>
              <a:t>controlled delivery</a:t>
            </a:r>
          </a:p>
          <a:p>
            <a:pPr>
              <a:lnSpc>
                <a:spcPts val="2244"/>
              </a:lnSpc>
              <a:spcBef>
                <a:spcPts val="0"/>
              </a:spcBef>
              <a:spcAft>
                <a:spcPts val="0"/>
              </a:spcAft>
            </a:pPr>
            <a:r>
              <a:rPr sz="1700" b="0">
                <a:solidFill>
                  <a:srgbClr val="152536"/>
                </a:solidFill>
                <a:latin typeface="Noto Sans CJK SC"/>
                <a:ea typeface="Noto Sans CJK SC"/>
              </a:rPr>
              <a:t>Transfer: manifests and</a:t>
            </a:r>
          </a:p>
          <a:p>
            <a:pPr>
              <a:lnSpc>
                <a:spcPts val="2244"/>
              </a:lnSpc>
              <a:spcBef>
                <a:spcPts val="0"/>
              </a:spcBef>
              <a:spcAft>
                <a:spcPts val="0"/>
              </a:spcAft>
            </a:pPr>
            <a:r>
              <a:rPr sz="1700" b="0">
                <a:solidFill>
                  <a:srgbClr val="152536"/>
                </a:solidFill>
                <a:latin typeface="Noto Sans CJK SC"/>
                <a:ea typeface="Noto Sans CJK SC"/>
              </a:rPr>
              <a:t>validity</a:t>
            </a:r>
          </a:p>
          <a:p>
            <a:pPr>
              <a:lnSpc>
                <a:spcPts val="2244"/>
              </a:lnSpc>
              <a:spcBef>
                <a:spcPts val="0"/>
              </a:spcBef>
              <a:spcAft>
                <a:spcPts val="0"/>
              </a:spcAft>
            </a:pPr>
            <a:r>
              <a:rPr sz="1700" b="0">
                <a:solidFill>
                  <a:srgbClr val="152536"/>
                </a:solidFill>
                <a:latin typeface="Noto Sans CJK SC"/>
                <a:ea typeface="Noto Sans CJK SC"/>
              </a:rPr>
              <a:t>Limit: its scaling axes differ</a:t>
            </a:r>
          </a:p>
          <a:p>
            <a:pPr>
              <a:lnSpc>
                <a:spcPts val="2244"/>
              </a:lnSpc>
              <a:spcBef>
                <a:spcPts val="0"/>
              </a:spcBef>
              <a:spcAft>
                <a:spcPts val="0"/>
              </a:spcAft>
            </a:pPr>
            <a:r>
              <a:rPr sz="1700" b="0">
                <a:solidFill>
                  <a:srgbClr val="152536"/>
                </a:solidFill>
                <a:latin typeface="Noto Sans CJK SC"/>
                <a:ea typeface="Noto Sans CJK SC"/>
              </a:rPr>
              <a:t>from P1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Recent work: indexing, routing and source access</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16</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VoiceMem</a:t>
            </a:r>
          </a:p>
        </p:txBody>
      </p:sp>
      <p:sp>
        <p:nvSpPr>
          <p:cNvPr id="8" name="TextBox 7"/>
          <p:cNvSpPr txBox="1"/>
          <p:nvPr/>
        </p:nvSpPr>
        <p:spPr>
          <a:xfrm>
            <a:off x="432511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3"/>
              </a:rPr>
              <a:t>NeoHorse-1</a:t>
            </a:r>
          </a:p>
        </p:txBody>
      </p:sp>
      <p:sp>
        <p:nvSpPr>
          <p:cNvPr id="9" name="TextBox 8"/>
          <p:cNvSpPr txBox="1"/>
          <p:nvPr/>
        </p:nvSpPr>
        <p:spPr>
          <a:xfrm>
            <a:off x="8028431"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4"/>
              </a:rPr>
              <a:t>Beyond Top-K</a:t>
            </a:r>
          </a:p>
        </p:txBody>
      </p:sp>
      <p:sp>
        <p:nvSpPr>
          <p:cNvPr id="10" name="Rectangle 9"/>
          <p:cNvSpPr/>
          <p:nvPr/>
        </p:nvSpPr>
        <p:spPr>
          <a:xfrm>
            <a:off x="731520" y="1783080"/>
            <a:ext cx="3429000" cy="36118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783080"/>
            <a:ext cx="45720"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VoiceMem</a:t>
            </a:r>
          </a:p>
        </p:txBody>
      </p:sp>
      <p:sp>
        <p:nvSpPr>
          <p:cNvPr id="13" name="TextBox 12"/>
          <p:cNvSpPr txBox="1"/>
          <p:nvPr/>
        </p:nvSpPr>
        <p:spPr>
          <a:xfrm>
            <a:off x="914400" y="2624328"/>
            <a:ext cx="3063240" cy="262432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Separate upper index and</a:t>
            </a:r>
          </a:p>
          <a:p>
            <a:pPr>
              <a:lnSpc>
                <a:spcPts val="2244"/>
              </a:lnSpc>
              <a:spcBef>
                <a:spcPts val="0"/>
              </a:spcBef>
              <a:spcAft>
                <a:spcPts val="0"/>
              </a:spcAft>
            </a:pPr>
            <a:r>
              <a:rPr sz="1700" b="0">
                <a:solidFill>
                  <a:srgbClr val="152536"/>
                </a:solidFill>
                <a:latin typeface="Noto Sans CJK SC"/>
                <a:ea typeface="Noto Sans CJK SC"/>
              </a:rPr>
              <a:t>backend</a:t>
            </a:r>
          </a:p>
          <a:p>
            <a:pPr>
              <a:lnSpc>
                <a:spcPts val="2244"/>
              </a:lnSpc>
              <a:spcBef>
                <a:spcPts val="0"/>
              </a:spcBef>
              <a:spcAft>
                <a:spcPts val="0"/>
              </a:spcAft>
            </a:pPr>
            <a:r>
              <a:rPr sz="1700" b="0">
                <a:solidFill>
                  <a:srgbClr val="152536"/>
                </a:solidFill>
                <a:latin typeface="Noto Sans CJK SC"/>
                <a:ea typeface="Noto Sans CJK SC"/>
              </a:rPr>
              <a:t>Transfer: isolate index and</a:t>
            </a:r>
          </a:p>
          <a:p>
            <a:pPr>
              <a:lnSpc>
                <a:spcPts val="2244"/>
              </a:lnSpc>
              <a:spcBef>
                <a:spcPts val="0"/>
              </a:spcBef>
              <a:spcAft>
                <a:spcPts val="0"/>
              </a:spcAft>
            </a:pPr>
            <a:r>
              <a:rPr sz="1700" b="0">
                <a:solidFill>
                  <a:srgbClr val="152536"/>
                </a:solidFill>
                <a:latin typeface="Noto Sans CJK SC"/>
                <a:ea typeface="Noto Sans CJK SC"/>
              </a:rPr>
              <a:t>routing</a:t>
            </a:r>
          </a:p>
          <a:p>
            <a:pPr>
              <a:lnSpc>
                <a:spcPts val="2244"/>
              </a:lnSpc>
              <a:spcBef>
                <a:spcPts val="0"/>
              </a:spcBef>
              <a:spcAft>
                <a:spcPts val="0"/>
              </a:spcAft>
            </a:pPr>
            <a:r>
              <a:rPr sz="1700" b="0">
                <a:solidFill>
                  <a:srgbClr val="152536"/>
                </a:solidFill>
                <a:latin typeface="Noto Sans CJK SC"/>
                <a:ea typeface="Noto Sans CJK SC"/>
              </a:rPr>
              <a:t>Limit: retrieval latency is not</a:t>
            </a:r>
          </a:p>
          <a:p>
            <a:pPr>
              <a:lnSpc>
                <a:spcPts val="2244"/>
              </a:lnSpc>
              <a:spcBef>
                <a:spcPts val="0"/>
              </a:spcBef>
              <a:spcAft>
                <a:spcPts val="0"/>
              </a:spcAft>
            </a:pPr>
            <a:r>
              <a:rPr sz="1700" b="0">
                <a:solidFill>
                  <a:srgbClr val="152536"/>
                </a:solidFill>
                <a:latin typeface="Noto Sans CJK SC"/>
                <a:ea typeface="Noto Sans CJK SC"/>
              </a:rPr>
              <a:t>end-to-end latency</a:t>
            </a:r>
          </a:p>
        </p:txBody>
      </p:sp>
      <p:sp>
        <p:nvSpPr>
          <p:cNvPr id="14" name="Rectangle 13"/>
          <p:cNvSpPr/>
          <p:nvPr/>
        </p:nvSpPr>
        <p:spPr>
          <a:xfrm>
            <a:off x="4389120" y="1783080"/>
            <a:ext cx="3429000" cy="36118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83080"/>
            <a:ext cx="45720"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NeoHorse-1</a:t>
            </a:r>
          </a:p>
        </p:txBody>
      </p:sp>
      <p:sp>
        <p:nvSpPr>
          <p:cNvPr id="17" name="TextBox 16"/>
          <p:cNvSpPr txBox="1"/>
          <p:nvPr/>
        </p:nvSpPr>
        <p:spPr>
          <a:xfrm>
            <a:off x="4572000" y="2624328"/>
            <a:ext cx="3063240" cy="262432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Predicted demand ≠ served</a:t>
            </a:r>
          </a:p>
          <a:p>
            <a:pPr>
              <a:lnSpc>
                <a:spcPts val="2244"/>
              </a:lnSpc>
              <a:spcBef>
                <a:spcPts val="0"/>
              </a:spcBef>
              <a:spcAft>
                <a:spcPts val="0"/>
              </a:spcAft>
            </a:pPr>
            <a:r>
              <a:rPr sz="1700" b="0">
                <a:solidFill>
                  <a:srgbClr val="152536"/>
                </a:solidFill>
                <a:latin typeface="Noto Sans CJK SC"/>
                <a:ea typeface="Noto Sans CJK SC"/>
              </a:rPr>
              <a:t>route</a:t>
            </a:r>
          </a:p>
          <a:p>
            <a:pPr>
              <a:lnSpc>
                <a:spcPts val="2244"/>
              </a:lnSpc>
              <a:spcBef>
                <a:spcPts val="0"/>
              </a:spcBef>
              <a:spcAft>
                <a:spcPts val="0"/>
              </a:spcAft>
            </a:pPr>
            <a:r>
              <a:rPr sz="1700" b="0">
                <a:solidFill>
                  <a:srgbClr val="152536"/>
                </a:solidFill>
                <a:latin typeface="Noto Sans CJK SC"/>
                <a:ea typeface="Noto Sans CJK SC"/>
              </a:rPr>
              <a:t>Transfer: freeze models; log</a:t>
            </a:r>
          </a:p>
          <a:p>
            <a:pPr>
              <a:lnSpc>
                <a:spcPts val="2244"/>
              </a:lnSpc>
              <a:spcBef>
                <a:spcPts val="0"/>
              </a:spcBef>
              <a:spcAft>
                <a:spcPts val="0"/>
              </a:spcAft>
            </a:pPr>
            <a:r>
              <a:rPr sz="1700" b="0">
                <a:solidFill>
                  <a:srgbClr val="152536"/>
                </a:solidFill>
                <a:latin typeface="Noto Sans CJK SC"/>
                <a:ea typeface="Noto Sans CJK SC"/>
              </a:rPr>
              <a:t>rerouting</a:t>
            </a:r>
          </a:p>
          <a:p>
            <a:pPr>
              <a:lnSpc>
                <a:spcPts val="2244"/>
              </a:lnSpc>
              <a:spcBef>
                <a:spcPts val="0"/>
              </a:spcBef>
              <a:spcAft>
                <a:spcPts val="0"/>
              </a:spcAft>
            </a:pPr>
            <a:r>
              <a:rPr sz="1700" b="0">
                <a:solidFill>
                  <a:srgbClr val="152536"/>
                </a:solidFill>
                <a:latin typeface="Noto Sans CJK SC"/>
                <a:ea typeface="Noto Sans CJK SC"/>
              </a:rPr>
              <a:t>Limit: one update is not</a:t>
            </a:r>
          </a:p>
          <a:p>
            <a:pPr>
              <a:lnSpc>
                <a:spcPts val="2244"/>
              </a:lnSpc>
              <a:spcBef>
                <a:spcPts val="0"/>
              </a:spcBef>
              <a:spcAft>
                <a:spcPts val="0"/>
              </a:spcAft>
            </a:pPr>
            <a:r>
              <a:rPr sz="1700" b="0">
                <a:solidFill>
                  <a:srgbClr val="152536"/>
                </a:solidFill>
                <a:latin typeface="Noto Sans CJK SC"/>
                <a:ea typeface="Noto Sans CJK SC"/>
              </a:rPr>
              <a:t>sustained self-improvement</a:t>
            </a:r>
          </a:p>
        </p:txBody>
      </p:sp>
      <p:sp>
        <p:nvSpPr>
          <p:cNvPr id="18" name="Rectangle 17"/>
          <p:cNvSpPr/>
          <p:nvPr/>
        </p:nvSpPr>
        <p:spPr>
          <a:xfrm>
            <a:off x="8046720" y="1783080"/>
            <a:ext cx="3429000" cy="36118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783080"/>
            <a:ext cx="45720"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Beyond Top-K</a:t>
            </a:r>
          </a:p>
        </p:txBody>
      </p:sp>
      <p:sp>
        <p:nvSpPr>
          <p:cNvPr id="21" name="TextBox 20"/>
          <p:cNvSpPr txBox="1"/>
          <p:nvPr/>
        </p:nvSpPr>
        <p:spPr>
          <a:xfrm>
            <a:off x="8229600" y="2624328"/>
            <a:ext cx="3063240" cy="262432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Source structure, units and</a:t>
            </a:r>
          </a:p>
          <a:p>
            <a:pPr>
              <a:lnSpc>
                <a:spcPts val="2244"/>
              </a:lnSpc>
              <a:spcBef>
                <a:spcPts val="0"/>
              </a:spcBef>
              <a:spcAft>
                <a:spcPts val="0"/>
              </a:spcAft>
            </a:pPr>
            <a:r>
              <a:rPr sz="1700" b="0">
                <a:solidFill>
                  <a:srgbClr val="152536"/>
                </a:solidFill>
                <a:latin typeface="Noto Sans CJK SC"/>
                <a:ea typeface="Noto Sans CJK SC"/>
              </a:rPr>
              <a:t>time matter</a:t>
            </a:r>
          </a:p>
          <a:p>
            <a:pPr>
              <a:lnSpc>
                <a:spcPts val="2244"/>
              </a:lnSpc>
              <a:spcBef>
                <a:spcPts val="0"/>
              </a:spcBef>
              <a:spcAft>
                <a:spcPts val="0"/>
              </a:spcAft>
            </a:pPr>
            <a:r>
              <a:rPr sz="1700" b="0">
                <a:solidFill>
                  <a:srgbClr val="152536"/>
                </a:solidFill>
                <a:latin typeface="Noto Sans CJK SC"/>
                <a:ea typeface="Noto Sans CJK SC"/>
              </a:rPr>
              <a:t>Transfer: strong BM25 +</a:t>
            </a:r>
          </a:p>
          <a:p>
            <a:pPr>
              <a:lnSpc>
                <a:spcPts val="2244"/>
              </a:lnSpc>
              <a:spcBef>
                <a:spcPts val="0"/>
              </a:spcBef>
              <a:spcAft>
                <a:spcPts val="0"/>
              </a:spcAft>
            </a:pPr>
            <a:r>
              <a:rPr sz="1700" b="0">
                <a:solidFill>
                  <a:srgbClr val="152536"/>
                </a:solidFill>
                <a:latin typeface="Noto Sans CJK SC"/>
                <a:ea typeface="Noto Sans CJK SC"/>
              </a:rPr>
              <a:t>source controls</a:t>
            </a:r>
          </a:p>
          <a:p>
            <a:pPr>
              <a:lnSpc>
                <a:spcPts val="2244"/>
              </a:lnSpc>
              <a:spcBef>
                <a:spcPts val="0"/>
              </a:spcBef>
              <a:spcAft>
                <a:spcPts val="0"/>
              </a:spcAft>
            </a:pPr>
            <a:r>
              <a:rPr sz="1700" b="0">
                <a:solidFill>
                  <a:srgbClr val="152536"/>
                </a:solidFill>
                <a:latin typeface="Noto Sans CJK SC"/>
                <a:ea typeface="Noto Sans CJK SC"/>
              </a:rPr>
              <a:t>Limit: small, single-document</a:t>
            </a:r>
          </a:p>
          <a:p>
            <a:pPr>
              <a:lnSpc>
                <a:spcPts val="2244"/>
              </a:lnSpc>
              <a:spcBef>
                <a:spcPts val="0"/>
              </a:spcBef>
              <a:spcAft>
                <a:spcPts val="0"/>
              </a:spcAft>
            </a:pPr>
            <a:r>
              <a:rPr sz="1700" b="0">
                <a:solidFill>
                  <a:srgbClr val="152536"/>
                </a:solidFill>
                <a:latin typeface="Noto Sans CJK SC"/>
                <a:ea typeface="Noto Sans CJK SC"/>
              </a:rPr>
              <a:t>study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Methodological repairs in v29</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17</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31520" y="1737360"/>
            <a:ext cx="10698480" cy="685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19"/>
            <a:ext cx="2926080" cy="38404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Insufficient measurement</a:t>
            </a:r>
          </a:p>
        </p:txBody>
      </p:sp>
      <p:sp>
        <p:nvSpPr>
          <p:cNvPr id="10" name="TextBox 9"/>
          <p:cNvSpPr txBox="1"/>
          <p:nvPr/>
        </p:nvSpPr>
        <p:spPr>
          <a:xfrm>
            <a:off x="3977639" y="1865376"/>
            <a:ext cx="7269480" cy="512064"/>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Unresolved coverage, calibration or intervals → inconclusive</a:t>
            </a:r>
          </a:p>
        </p:txBody>
      </p:sp>
      <p:sp>
        <p:nvSpPr>
          <p:cNvPr id="11" name="Rectangle 10"/>
          <p:cNvSpPr/>
          <p:nvPr/>
        </p:nvSpPr>
        <p:spPr>
          <a:xfrm>
            <a:off x="731520" y="2551176"/>
            <a:ext cx="10698480" cy="685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88336"/>
            <a:ext cx="2926080" cy="384048"/>
          </a:xfrm>
          <a:prstGeom prst="rect">
            <a:avLst/>
          </a:prstGeom>
          <a:noFill/>
        </p:spPr>
        <p:txBody>
          <a:bodyPr wrap="none" lIns="0" rIns="0" tIns="0" bIns="0">
            <a:noAutofit/>
          </a:bodyPr>
          <a:lstStyle/>
          <a:p>
            <a:pPr>
              <a:lnSpc>
                <a:spcPts val="2376"/>
              </a:lnSpc>
              <a:spcBef>
                <a:spcPts val="0"/>
              </a:spcBef>
              <a:spcAft>
                <a:spcPts val="0"/>
              </a:spcAft>
            </a:pPr>
            <a:r>
              <a:rPr sz="1800" b="1">
                <a:solidFill>
                  <a:srgbClr val="087F8C"/>
                </a:solidFill>
                <a:latin typeface="Noto Sans CJK SC"/>
                <a:ea typeface="Noto Sans CJK SC"/>
              </a:rPr>
              <a:t>Clear obligation violation</a:t>
            </a:r>
          </a:p>
        </p:txBody>
      </p:sp>
      <p:sp>
        <p:nvSpPr>
          <p:cNvPr id="13" name="TextBox 12"/>
          <p:cNvSpPr txBox="1"/>
          <p:nvPr/>
        </p:nvSpPr>
        <p:spPr>
          <a:xfrm>
            <a:off x="3977639" y="2679192"/>
            <a:ext cx="7269480" cy="512064"/>
          </a:xfrm>
          <a:prstGeom prst="rect">
            <a:avLst/>
          </a:prstGeom>
          <a:noFill/>
        </p:spPr>
        <p:txBody>
          <a:bodyPr wrap="none" lIns="0" rIns="0" tIns="0" bIns="0">
            <a:noAutofit/>
          </a:bodyPr>
          <a:lstStyle/>
          <a:p>
            <a:pPr>
              <a:lnSpc>
                <a:spcPts val="2112"/>
              </a:lnSpc>
              <a:spcBef>
                <a:spcPts val="0"/>
              </a:spcBef>
              <a:spcAft>
                <a:spcPts val="0"/>
              </a:spcAft>
            </a:pPr>
            <a:r>
              <a:rPr sz="1600" b="0">
                <a:solidFill>
                  <a:srgbClr val="152536"/>
                </a:solidFill>
                <a:latin typeface="Noto Sans CJK SC"/>
                <a:ea typeface="Noto Sans CJK SC"/>
              </a:rPr>
              <a:t>Adequate evidence and violation beyond bound → conditional-engineering</a:t>
            </a:r>
          </a:p>
        </p:txBody>
      </p:sp>
      <p:sp>
        <p:nvSpPr>
          <p:cNvPr id="14" name="Rectangle 13"/>
          <p:cNvSpPr/>
          <p:nvPr/>
        </p:nvSpPr>
        <p:spPr>
          <a:xfrm>
            <a:off x="731520" y="3364991"/>
            <a:ext cx="10698480" cy="685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02151"/>
            <a:ext cx="2926080" cy="384048"/>
          </a:xfrm>
          <a:prstGeom prst="rect">
            <a:avLst/>
          </a:prstGeom>
          <a:noFill/>
        </p:spPr>
        <p:txBody>
          <a:bodyPr wrap="none" lIns="0" rIns="0" tIns="0" bIns="0">
            <a:noAutofit/>
          </a:bodyPr>
          <a:lstStyle/>
          <a:p>
            <a:pPr>
              <a:lnSpc>
                <a:spcPts val="2376"/>
              </a:lnSpc>
              <a:spcBef>
                <a:spcPts val="0"/>
              </a:spcBef>
              <a:spcAft>
                <a:spcPts val="0"/>
              </a:spcAft>
            </a:pPr>
            <a:r>
              <a:rPr sz="1800" b="1">
                <a:solidFill>
                  <a:srgbClr val="087F8C"/>
                </a:solidFill>
                <a:latin typeface="Noto Sans CJK SC"/>
                <a:ea typeface="Noto Sans CJK SC"/>
              </a:rPr>
              <a:t>All obligations pass</a:t>
            </a:r>
          </a:p>
        </p:txBody>
      </p:sp>
      <p:sp>
        <p:nvSpPr>
          <p:cNvPr id="16" name="TextBox 15"/>
          <p:cNvSpPr txBox="1"/>
          <p:nvPr/>
        </p:nvSpPr>
        <p:spPr>
          <a:xfrm>
            <a:off x="3977639" y="3493008"/>
            <a:ext cx="7269480" cy="512064"/>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Then classify P1 using semantic, interaction and cost intervals</a:t>
            </a:r>
          </a:p>
        </p:txBody>
      </p:sp>
      <p:sp>
        <p:nvSpPr>
          <p:cNvPr id="17" name="Rectangle 16"/>
          <p:cNvSpPr/>
          <p:nvPr/>
        </p:nvSpPr>
        <p:spPr>
          <a:xfrm>
            <a:off x="731520" y="4178808"/>
            <a:ext cx="10698480" cy="6858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315968"/>
            <a:ext cx="2926080" cy="384048"/>
          </a:xfrm>
          <a:prstGeom prst="rect">
            <a:avLst/>
          </a:prstGeom>
          <a:noFill/>
        </p:spPr>
        <p:txBody>
          <a:bodyPr wrap="none" lIns="0" rIns="0" tIns="0" bIns="0">
            <a:noAutofit/>
          </a:bodyPr>
          <a:lstStyle/>
          <a:p>
            <a:pPr>
              <a:lnSpc>
                <a:spcPts val="2376"/>
              </a:lnSpc>
              <a:spcBef>
                <a:spcPts val="0"/>
              </a:spcBef>
              <a:spcAft>
                <a:spcPts val="0"/>
              </a:spcAft>
            </a:pPr>
            <a:r>
              <a:rPr sz="1800" b="1">
                <a:solidFill>
                  <a:srgbClr val="087F8C"/>
                </a:solidFill>
                <a:latin typeface="Noto Sans CJK SC"/>
                <a:ea typeface="Noto Sans CJK SC"/>
              </a:rPr>
              <a:t>Margins and power</a:t>
            </a:r>
          </a:p>
        </p:txBody>
      </p:sp>
      <p:sp>
        <p:nvSpPr>
          <p:cNvPr id="19" name="TextBox 18"/>
          <p:cNvSpPr txBox="1"/>
          <p:nvPr/>
        </p:nvSpPr>
        <p:spPr>
          <a:xfrm>
            <a:off x="3977639" y="4306824"/>
            <a:ext cx="7269480" cy="512064"/>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Decision-derived margins; p95 power needs tail-aware simulation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Next experiment: isolate contract enforcement</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18</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Rectangle 7"/>
          <p:cNvSpPr/>
          <p:nvPr/>
        </p:nvSpPr>
        <p:spPr>
          <a:xfrm>
            <a:off x="731520" y="1755648"/>
            <a:ext cx="5074920" cy="32004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45720" cy="32004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20240"/>
            <a:ext cx="4709159"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Central causal contrast</a:t>
            </a:r>
          </a:p>
        </p:txBody>
      </p:sp>
      <p:sp>
        <p:nvSpPr>
          <p:cNvPr id="11" name="TextBox 10"/>
          <p:cNvSpPr txBox="1"/>
          <p:nvPr/>
        </p:nvSpPr>
        <p:spPr>
          <a:xfrm>
            <a:off x="914400" y="2596896"/>
            <a:ext cx="4709159" cy="221284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A: source-preserving prose catalog</a:t>
            </a:r>
          </a:p>
          <a:p>
            <a:pPr>
              <a:lnSpc>
                <a:spcPts val="2376"/>
              </a:lnSpc>
              <a:spcBef>
                <a:spcPts val="0"/>
              </a:spcBef>
              <a:spcAft>
                <a:spcPts val="0"/>
              </a:spcAft>
            </a:pPr>
            <a:r>
              <a:rPr sz="1800" b="0">
                <a:solidFill>
                  <a:srgbClr val="152536"/>
                </a:solidFill>
                <a:latin typeface="Noto Sans CJK SC"/>
                <a:ea typeface="Noto Sans CJK SC"/>
              </a:rPr>
              <a:t>B: same catalog + enforcement</a:t>
            </a:r>
          </a:p>
          <a:p>
            <a:pPr>
              <a:lnSpc>
                <a:spcPts val="2376"/>
              </a:lnSpc>
              <a:spcBef>
                <a:spcPts val="0"/>
              </a:spcBef>
              <a:spcAft>
                <a:spcPts val="0"/>
              </a:spcAft>
            </a:pPr>
            <a:r>
              <a:rPr sz="1800" b="0">
                <a:solidFill>
                  <a:srgbClr val="152536"/>
                </a:solidFill>
                <a:latin typeface="Noto Sans CJK SC"/>
                <a:ea typeface="Noto Sans CJK SC"/>
              </a:rPr>
              <a:t>Fix candidates, tools, model, budget</a:t>
            </a:r>
          </a:p>
          <a:p>
            <a:pPr>
              <a:lnSpc>
                <a:spcPts val="2376"/>
              </a:lnSpc>
              <a:spcBef>
                <a:spcPts val="0"/>
              </a:spcBef>
              <a:spcAft>
                <a:spcPts val="0"/>
              </a:spcAft>
            </a:pPr>
            <a:r>
              <a:rPr sz="1800" b="0">
                <a:solidFill>
                  <a:srgbClr val="152536"/>
                </a:solidFill>
                <a:latin typeface="Noto Sans CJK SC"/>
                <a:ea typeface="Noto Sans CJK SC"/>
              </a:rPr>
              <a:t>Hold out sources, templates and time</a:t>
            </a:r>
          </a:p>
        </p:txBody>
      </p:sp>
      <p:sp>
        <p:nvSpPr>
          <p:cNvPr id="12" name="Rectangle 11"/>
          <p:cNvSpPr/>
          <p:nvPr/>
        </p:nvSpPr>
        <p:spPr>
          <a:xfrm>
            <a:off x="6080760" y="1755648"/>
            <a:ext cx="5303520" cy="320040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1755648"/>
            <a:ext cx="45720" cy="32004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920240"/>
            <a:ext cx="4937759"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Report together</a:t>
            </a:r>
          </a:p>
        </p:txBody>
      </p:sp>
      <p:sp>
        <p:nvSpPr>
          <p:cNvPr id="15" name="TextBox 14"/>
          <p:cNvSpPr txBox="1"/>
          <p:nvPr/>
        </p:nvSpPr>
        <p:spPr>
          <a:xfrm>
            <a:off x="6263640" y="2596896"/>
            <a:ext cx="4937759" cy="221284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All fields correct with valid evidence</a:t>
            </a:r>
          </a:p>
          <a:p>
            <a:pPr>
              <a:lnSpc>
                <a:spcPts val="2376"/>
              </a:lnSpc>
              <a:spcBef>
                <a:spcPts val="0"/>
              </a:spcBef>
              <a:spcAft>
                <a:spcPts val="0"/>
              </a:spcAft>
            </a:pPr>
            <a:r>
              <a:rPr sz="1800" b="0">
                <a:solidFill>
                  <a:srgbClr val="152536"/>
                </a:solidFill>
                <a:latin typeface="Noto Sans CJK SC"/>
                <a:ea typeface="Noto Sans CJK SC"/>
              </a:rPr>
              <a:t>Unauthorized / stale release</a:t>
            </a:r>
          </a:p>
          <a:p>
            <a:pPr>
              <a:lnSpc>
                <a:spcPts val="2376"/>
              </a:lnSpc>
              <a:spcBef>
                <a:spcPts val="0"/>
              </a:spcBef>
              <a:spcAft>
                <a:spcPts val="0"/>
              </a:spcAft>
            </a:pPr>
            <a:r>
              <a:rPr sz="1800" b="0">
                <a:solidFill>
                  <a:srgbClr val="152536"/>
                </a:solidFill>
                <a:latin typeface="Noto Sans CJK SC"/>
                <a:ea typeface="Noto Sans CJK SC"/>
              </a:rPr>
              <a:t>False refusal on valid tasks</a:t>
            </a:r>
          </a:p>
          <a:p>
            <a:pPr>
              <a:lnSpc>
                <a:spcPts val="2376"/>
              </a:lnSpc>
              <a:spcBef>
                <a:spcPts val="0"/>
              </a:spcBef>
              <a:spcAft>
                <a:spcPts val="0"/>
              </a:spcAft>
            </a:pPr>
            <a:r>
              <a:rPr sz="1800" b="0">
                <a:solidFill>
                  <a:srgbClr val="152536"/>
                </a:solidFill>
                <a:latin typeface="Noto Sans CJK SC"/>
                <a:ea typeface="Noto Sans CJK SC"/>
              </a:rPr>
              <a:t>Build + maintenance + online cost</a:t>
            </a:r>
          </a:p>
        </p:txBody>
      </p:sp>
      <p:sp>
        <p:nvSpPr>
          <p:cNvPr id="16" name="TextBox 15"/>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Add strong retrieval baselines and ablations; separate navigation from governance.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Internal pilot: start with one bounded workflow</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Proposed plan; no internal pilot is claimed</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19</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9" name="Rectangle 8"/>
          <p:cNvSpPr/>
          <p:nvPr/>
        </p:nvSpPr>
        <p:spPr>
          <a:xfrm>
            <a:off x="731520" y="1783080"/>
            <a:ext cx="3429000" cy="33832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783080"/>
            <a:ext cx="45720" cy="3383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Phase 1: specify</a:t>
            </a:r>
          </a:p>
        </p:txBody>
      </p:sp>
      <p:sp>
        <p:nvSpPr>
          <p:cNvPr id="12" name="TextBox 11"/>
          <p:cNvSpPr txBox="1"/>
          <p:nvPr/>
        </p:nvSpPr>
        <p:spPr>
          <a:xfrm>
            <a:off x="914400" y="2624328"/>
            <a:ext cx="3063240" cy="239572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Select output fields and</a:t>
            </a:r>
          </a:p>
          <a:p>
            <a:pPr>
              <a:lnSpc>
                <a:spcPts val="2376"/>
              </a:lnSpc>
              <a:spcBef>
                <a:spcPts val="0"/>
              </a:spcBef>
              <a:spcAft>
                <a:spcPts val="0"/>
              </a:spcAft>
            </a:pPr>
            <a:r>
              <a:rPr sz="1800" b="0">
                <a:solidFill>
                  <a:srgbClr val="152536"/>
                </a:solidFill>
                <a:latin typeface="Noto Sans CJK SC"/>
                <a:ea typeface="Noto Sans CJK SC"/>
              </a:rPr>
              <a:t>sources</a:t>
            </a:r>
          </a:p>
          <a:p>
            <a:pPr>
              <a:lnSpc>
                <a:spcPts val="2376"/>
              </a:lnSpc>
              <a:spcBef>
                <a:spcPts val="0"/>
              </a:spcBef>
              <a:spcAft>
                <a:spcPts val="0"/>
              </a:spcAft>
            </a:pPr>
            <a:r>
              <a:rPr sz="1800" b="0">
                <a:solidFill>
                  <a:srgbClr val="152536"/>
                </a:solidFill>
                <a:latin typeface="Noto Sans CJK SC"/>
                <a:ea typeface="Noto Sans CJK SC"/>
              </a:rPr>
              <a:t>Define units, periods and</a:t>
            </a:r>
          </a:p>
          <a:p>
            <a:pPr>
              <a:lnSpc>
                <a:spcPts val="2376"/>
              </a:lnSpc>
              <a:spcBef>
                <a:spcPts val="0"/>
              </a:spcBef>
              <a:spcAft>
                <a:spcPts val="0"/>
              </a:spcAft>
            </a:pPr>
            <a:r>
              <a:rPr sz="1800" b="0">
                <a:solidFill>
                  <a:srgbClr val="152536"/>
                </a:solidFill>
                <a:latin typeface="Noto Sans CJK SC"/>
                <a:ea typeface="Noto Sans CJK SC"/>
              </a:rPr>
              <a:t>access</a:t>
            </a:r>
          </a:p>
          <a:p>
            <a:pPr>
              <a:lnSpc>
                <a:spcPts val="2376"/>
              </a:lnSpc>
              <a:spcBef>
                <a:spcPts val="0"/>
              </a:spcBef>
              <a:spcAft>
                <a:spcPts val="0"/>
              </a:spcAft>
            </a:pPr>
            <a:r>
              <a:rPr sz="1800" b="0">
                <a:solidFill>
                  <a:srgbClr val="152536"/>
                </a:solidFill>
                <a:latin typeface="Noto Sans CJK SC"/>
                <a:ea typeface="Noto Sans CJK SC"/>
              </a:rPr>
              <a:t>Label valid and refusal</a:t>
            </a:r>
          </a:p>
          <a:p>
            <a:pPr>
              <a:lnSpc>
                <a:spcPts val="2376"/>
              </a:lnSpc>
              <a:spcBef>
                <a:spcPts val="0"/>
              </a:spcBef>
              <a:spcAft>
                <a:spcPts val="0"/>
              </a:spcAft>
            </a:pPr>
            <a:r>
              <a:rPr sz="1800" b="0">
                <a:solidFill>
                  <a:srgbClr val="152536"/>
                </a:solidFill>
                <a:latin typeface="Noto Sans CJK SC"/>
                <a:ea typeface="Noto Sans CJK SC"/>
              </a:rPr>
              <a:t>cases</a:t>
            </a:r>
          </a:p>
        </p:txBody>
      </p:sp>
      <p:sp>
        <p:nvSpPr>
          <p:cNvPr id="13" name="Rectangle 12"/>
          <p:cNvSpPr/>
          <p:nvPr/>
        </p:nvSpPr>
        <p:spPr>
          <a:xfrm>
            <a:off x="4389120" y="1783080"/>
            <a:ext cx="3429000" cy="33832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783080"/>
            <a:ext cx="45720" cy="3383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Phase 2: integrate</a:t>
            </a:r>
          </a:p>
        </p:txBody>
      </p:sp>
      <p:sp>
        <p:nvSpPr>
          <p:cNvPr id="16" name="TextBox 15"/>
          <p:cNvSpPr txBox="1"/>
          <p:nvPr/>
        </p:nvSpPr>
        <p:spPr>
          <a:xfrm>
            <a:off x="4572000" y="2624328"/>
            <a:ext cx="3063240" cy="239572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Integrate one real read</a:t>
            </a:r>
          </a:p>
          <a:p>
            <a:pPr>
              <a:lnSpc>
                <a:spcPts val="2376"/>
              </a:lnSpc>
              <a:spcBef>
                <a:spcPts val="0"/>
              </a:spcBef>
              <a:spcAft>
                <a:spcPts val="0"/>
              </a:spcAft>
            </a:pPr>
            <a:r>
              <a:rPr sz="1800" b="0">
                <a:solidFill>
                  <a:srgbClr val="152536"/>
                </a:solidFill>
                <a:latin typeface="Noto Sans CJK SC"/>
                <a:ea typeface="Noto Sans CJK SC"/>
              </a:rPr>
              <a:t>adapter</a:t>
            </a:r>
          </a:p>
          <a:p>
            <a:pPr>
              <a:lnSpc>
                <a:spcPts val="2376"/>
              </a:lnSpc>
              <a:spcBef>
                <a:spcPts val="0"/>
              </a:spcBef>
              <a:spcAft>
                <a:spcPts val="0"/>
              </a:spcAft>
            </a:pPr>
            <a:r>
              <a:rPr sz="1800" b="0">
                <a:solidFill>
                  <a:srgbClr val="152536"/>
                </a:solidFill>
                <a:latin typeface="Noto Sans CJK SC"/>
                <a:ea typeface="Noto Sans CJK SC"/>
              </a:rPr>
              <a:t>Implement execution-time</a:t>
            </a:r>
          </a:p>
          <a:p>
            <a:pPr>
              <a:lnSpc>
                <a:spcPts val="2376"/>
              </a:lnSpc>
              <a:spcBef>
                <a:spcPts val="0"/>
              </a:spcBef>
              <a:spcAft>
                <a:spcPts val="0"/>
              </a:spcAft>
            </a:pPr>
            <a:r>
              <a:rPr sz="1800" b="0">
                <a:solidFill>
                  <a:srgbClr val="152536"/>
                </a:solidFill>
                <a:latin typeface="Noto Sans CJK SC"/>
                <a:ea typeface="Noto Sans CJK SC"/>
              </a:rPr>
              <a:t>checks</a:t>
            </a:r>
          </a:p>
          <a:p>
            <a:pPr>
              <a:lnSpc>
                <a:spcPts val="2376"/>
              </a:lnSpc>
              <a:spcBef>
                <a:spcPts val="0"/>
              </a:spcBef>
              <a:spcAft>
                <a:spcPts val="0"/>
              </a:spcAft>
            </a:pPr>
            <a:r>
              <a:rPr sz="1800" b="0">
                <a:solidFill>
                  <a:srgbClr val="152536"/>
                </a:solidFill>
                <a:latin typeface="Noto Sans CJK SC"/>
                <a:ea typeface="Noto Sans CJK SC"/>
              </a:rPr>
              <a:t>Audit mediation with</a:t>
            </a:r>
          </a:p>
          <a:p>
            <a:pPr>
              <a:lnSpc>
                <a:spcPts val="2376"/>
              </a:lnSpc>
              <a:spcBef>
                <a:spcPts val="0"/>
              </a:spcBef>
              <a:spcAft>
                <a:spcPts val="0"/>
              </a:spcAft>
            </a:pPr>
            <a:r>
              <a:rPr sz="1800" b="0">
                <a:solidFill>
                  <a:srgbClr val="152536"/>
                </a:solidFill>
                <a:latin typeface="Noto Sans CJK SC"/>
                <a:ea typeface="Noto Sans CJK SC"/>
              </a:rPr>
              <a:t>independent logs</a:t>
            </a:r>
          </a:p>
        </p:txBody>
      </p:sp>
      <p:sp>
        <p:nvSpPr>
          <p:cNvPr id="17" name="Rectangle 16"/>
          <p:cNvSpPr/>
          <p:nvPr/>
        </p:nvSpPr>
        <p:spPr>
          <a:xfrm>
            <a:off x="8046720" y="1783080"/>
            <a:ext cx="3429000" cy="3383280"/>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783080"/>
            <a:ext cx="45720" cy="3383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947672"/>
            <a:ext cx="3063240" cy="475488"/>
          </a:xfrm>
          <a:prstGeom prst="rect">
            <a:avLst/>
          </a:prstGeom>
          <a:noFill/>
        </p:spPr>
        <p:txBody>
          <a:bodyPr wrap="none" lIns="0" rIns="0" tIns="0" bIns="0">
            <a:noAutofit/>
          </a:bodyPr>
          <a:lstStyle/>
          <a:p>
            <a:pPr>
              <a:lnSpc>
                <a:spcPts val="2772"/>
              </a:lnSpc>
              <a:spcBef>
                <a:spcPts val="0"/>
              </a:spcBef>
              <a:spcAft>
                <a:spcPts val="0"/>
              </a:spcAft>
            </a:pPr>
            <a:r>
              <a:rPr sz="2100" b="1">
                <a:solidFill>
                  <a:srgbClr val="087F8C"/>
                </a:solidFill>
                <a:latin typeface="Noto Sans CJK SC"/>
                <a:ea typeface="Noto Sans CJK SC"/>
              </a:rPr>
              <a:t>Phase 3: evaluate</a:t>
            </a:r>
          </a:p>
        </p:txBody>
      </p:sp>
      <p:sp>
        <p:nvSpPr>
          <p:cNvPr id="20" name="TextBox 19"/>
          <p:cNvSpPr txBox="1"/>
          <p:nvPr/>
        </p:nvSpPr>
        <p:spPr>
          <a:xfrm>
            <a:off x="8229600" y="2624328"/>
            <a:ext cx="3063240" cy="2395728"/>
          </a:xfrm>
          <a:prstGeom prst="rect">
            <a:avLst/>
          </a:prstGeom>
          <a:noFill/>
        </p:spPr>
        <p:txBody>
          <a:bodyPr wrap="none" lIns="0" rIns="0" tIns="0" bIns="0">
            <a:noAutofit/>
          </a:bodyPr>
          <a:lstStyle/>
          <a:p>
            <a:pPr>
              <a:lnSpc>
                <a:spcPts val="2376"/>
              </a:lnSpc>
              <a:spcBef>
                <a:spcPts val="0"/>
              </a:spcBef>
              <a:spcAft>
                <a:spcPts val="0"/>
              </a:spcAft>
            </a:pPr>
            <a:r>
              <a:rPr sz="1800" b="0">
                <a:solidFill>
                  <a:srgbClr val="152536"/>
                </a:solidFill>
                <a:latin typeface="Noto Sans CJK SC"/>
                <a:ea typeface="Noto Sans CJK SC"/>
              </a:rPr>
              <a:t>Run fixed-budget</a:t>
            </a:r>
          </a:p>
          <a:p>
            <a:pPr>
              <a:lnSpc>
                <a:spcPts val="2376"/>
              </a:lnSpc>
              <a:spcBef>
                <a:spcPts val="0"/>
              </a:spcBef>
              <a:spcAft>
                <a:spcPts val="0"/>
              </a:spcAft>
            </a:pPr>
            <a:r>
              <a:rPr sz="1800" b="0">
                <a:solidFill>
                  <a:srgbClr val="152536"/>
                </a:solidFill>
                <a:latin typeface="Noto Sans CJK SC"/>
                <a:ea typeface="Noto Sans CJK SC"/>
              </a:rPr>
              <a:t>comparisons</a:t>
            </a:r>
          </a:p>
          <a:p>
            <a:pPr>
              <a:lnSpc>
                <a:spcPts val="2376"/>
              </a:lnSpc>
              <a:spcBef>
                <a:spcPts val="0"/>
              </a:spcBef>
              <a:spcAft>
                <a:spcPts val="0"/>
              </a:spcAft>
            </a:pPr>
            <a:r>
              <a:rPr sz="1800" b="0">
                <a:solidFill>
                  <a:srgbClr val="152536"/>
                </a:solidFill>
                <a:latin typeface="Noto Sans CJK SC"/>
                <a:ea typeface="Noto Sans CJK SC"/>
              </a:rPr>
              <a:t>Report refusal, quality and</a:t>
            </a:r>
          </a:p>
          <a:p>
            <a:pPr>
              <a:lnSpc>
                <a:spcPts val="2376"/>
              </a:lnSpc>
              <a:spcBef>
                <a:spcPts val="0"/>
              </a:spcBef>
              <a:spcAft>
                <a:spcPts val="0"/>
              </a:spcAft>
            </a:pPr>
            <a:r>
              <a:rPr sz="1800" b="0">
                <a:solidFill>
                  <a:srgbClr val="152536"/>
                </a:solidFill>
                <a:latin typeface="Noto Sans CJK SC"/>
                <a:ea typeface="Noto Sans CJK SC"/>
              </a:rPr>
              <a:t>total cost</a:t>
            </a:r>
          </a:p>
          <a:p>
            <a:pPr>
              <a:lnSpc>
                <a:spcPts val="2376"/>
              </a:lnSpc>
              <a:spcBef>
                <a:spcPts val="0"/>
              </a:spcBef>
              <a:spcAft>
                <a:spcPts val="0"/>
              </a:spcAft>
            </a:pPr>
            <a:r>
              <a:rPr sz="1800" b="0">
                <a:solidFill>
                  <a:srgbClr val="152536"/>
                </a:solidFill>
                <a:latin typeface="Noto Sans CJK SC"/>
                <a:ea typeface="Noto Sans CJK SC"/>
              </a:rPr>
              <a:t>Expand only after evidence</a:t>
            </a:r>
          </a:p>
          <a:p>
            <a:pPr>
              <a:lnSpc>
                <a:spcPts val="2376"/>
              </a:lnSpc>
              <a:spcBef>
                <a:spcPts val="0"/>
              </a:spcBef>
              <a:spcAft>
                <a:spcPts val="0"/>
              </a:spcAft>
            </a:pPr>
            <a:r>
              <a:rPr sz="1800" b="0">
                <a:solidFill>
                  <a:srgbClr val="152536"/>
                </a:solidFill>
                <a:latin typeface="Noto Sans CJK SC"/>
                <a:ea typeface="Noto Sans CJK SC"/>
              </a:rPr>
              <a:t>gates pass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Venue choice follows the contribution and evidence</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Dates checked on 2026-09-10; the current manuscript still needs empirical studies</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20</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SIGMOD 2027 CFP</a:t>
            </a:r>
          </a:p>
        </p:txBody>
      </p:sp>
      <p:sp>
        <p:nvSpPr>
          <p:cNvPr id="9" name="TextBox 8"/>
          <p:cNvSpPr txBox="1"/>
          <p:nvPr/>
        </p:nvSpPr>
        <p:spPr>
          <a:xfrm>
            <a:off x="432511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3"/>
              </a:rPr>
              <a:t>OSDI 2027 CFP</a:t>
            </a:r>
          </a:p>
        </p:txBody>
      </p:sp>
      <p:sp>
        <p:nvSpPr>
          <p:cNvPr id="10" name="TextBox 9"/>
          <p:cNvSpPr txBox="1"/>
          <p:nvPr/>
        </p:nvSpPr>
        <p:spPr>
          <a:xfrm>
            <a:off x="8028431"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4"/>
              </a:rPr>
              <a:t>ICSE 2027 CFP</a:t>
            </a:r>
          </a:p>
        </p:txBody>
      </p:sp>
      <p:sp>
        <p:nvSpPr>
          <p:cNvPr id="11" name="Rectangle 10"/>
          <p:cNvSpPr/>
          <p:nvPr/>
        </p:nvSpPr>
        <p:spPr>
          <a:xfrm>
            <a:off x="731520" y="1783080"/>
            <a:ext cx="10698480" cy="94183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20240"/>
            <a:ext cx="3108960" cy="411480"/>
          </a:xfrm>
          <a:prstGeom prst="rect">
            <a:avLst/>
          </a:prstGeom>
          <a:noFill/>
        </p:spPr>
        <p:txBody>
          <a:bodyPr wrap="none" lIns="0" rIns="0" tIns="0" bIns="0">
            <a:noAutofit/>
          </a:bodyPr>
          <a:lstStyle/>
          <a:p>
            <a:pPr>
              <a:lnSpc>
                <a:spcPts val="2640"/>
              </a:lnSpc>
              <a:spcBef>
                <a:spcPts val="0"/>
              </a:spcBef>
              <a:spcAft>
                <a:spcPts val="0"/>
              </a:spcAft>
            </a:pPr>
            <a:r>
              <a:rPr sz="2000" b="1">
                <a:solidFill>
                  <a:srgbClr val="087F8C"/>
                </a:solidFill>
                <a:latin typeface="Noto Sans CJK SC"/>
                <a:ea typeface="Noto Sans CJK SC"/>
              </a:rPr>
              <a:t>SIGMOD / PACMMOD</a:t>
            </a:r>
          </a:p>
        </p:txBody>
      </p:sp>
      <p:sp>
        <p:nvSpPr>
          <p:cNvPr id="13" name="TextBox 12"/>
          <p:cNvSpPr txBox="1"/>
          <p:nvPr/>
        </p:nvSpPr>
        <p:spPr>
          <a:xfrm>
            <a:off x="3931920" y="1892807"/>
            <a:ext cx="7269480" cy="38404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Data contracts, heterogeneous data, maintenance cost</a:t>
            </a:r>
          </a:p>
        </p:txBody>
      </p:sp>
      <p:sp>
        <p:nvSpPr>
          <p:cNvPr id="14" name="TextBox 13"/>
          <p:cNvSpPr txBox="1"/>
          <p:nvPr/>
        </p:nvSpPr>
        <p:spPr>
          <a:xfrm>
            <a:off x="3931920" y="2322576"/>
            <a:ext cx="7269480" cy="310896"/>
          </a:xfrm>
          <a:prstGeom prst="rect">
            <a:avLst/>
          </a:prstGeom>
          <a:noFill/>
        </p:spPr>
        <p:txBody>
          <a:bodyPr wrap="none" lIns="0" rIns="0" tIns="0" bIns="0">
            <a:noAutofit/>
          </a:bodyPr>
          <a:lstStyle/>
          <a:p>
            <a:pPr>
              <a:lnSpc>
                <a:spcPts val="1848"/>
              </a:lnSpc>
              <a:spcBef>
                <a:spcPts val="0"/>
              </a:spcBef>
              <a:spcAft>
                <a:spcPts val="0"/>
              </a:spcAft>
            </a:pPr>
            <a:r>
              <a:rPr sz="1400" b="0">
                <a:solidFill>
                  <a:srgbClr val="596A78"/>
                </a:solidFill>
                <a:latin typeface="Noto Sans CJK SC"/>
                <a:ea typeface="Noto Sans CJK SC"/>
              </a:rPr>
              <a:t>Abstract Oct 10; paper Oct 17, AoE</a:t>
            </a:r>
          </a:p>
        </p:txBody>
      </p:sp>
      <p:sp>
        <p:nvSpPr>
          <p:cNvPr id="15" name="Rectangle 14"/>
          <p:cNvSpPr/>
          <p:nvPr/>
        </p:nvSpPr>
        <p:spPr>
          <a:xfrm>
            <a:off x="731520" y="2871215"/>
            <a:ext cx="10698480" cy="94183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008375"/>
            <a:ext cx="3108960" cy="411480"/>
          </a:xfrm>
          <a:prstGeom prst="rect">
            <a:avLst/>
          </a:prstGeom>
          <a:noFill/>
        </p:spPr>
        <p:txBody>
          <a:bodyPr wrap="none" lIns="0" rIns="0" tIns="0" bIns="0">
            <a:noAutofit/>
          </a:bodyPr>
          <a:lstStyle/>
          <a:p>
            <a:pPr>
              <a:lnSpc>
                <a:spcPts val="2640"/>
              </a:lnSpc>
              <a:spcBef>
                <a:spcPts val="0"/>
              </a:spcBef>
              <a:spcAft>
                <a:spcPts val="0"/>
              </a:spcAft>
            </a:pPr>
            <a:r>
              <a:rPr sz="2000" b="1">
                <a:solidFill>
                  <a:srgbClr val="087F8C"/>
                </a:solidFill>
                <a:latin typeface="Noto Sans CJK SC"/>
                <a:ea typeface="Noto Sans CJK SC"/>
              </a:rPr>
              <a:t>OSDI 2027</a:t>
            </a:r>
          </a:p>
        </p:txBody>
      </p:sp>
      <p:sp>
        <p:nvSpPr>
          <p:cNvPr id="17" name="TextBox 16"/>
          <p:cNvSpPr txBox="1"/>
          <p:nvPr/>
        </p:nvSpPr>
        <p:spPr>
          <a:xfrm>
            <a:off x="3931920" y="2980944"/>
            <a:ext cx="7269480" cy="38404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Implemented runtime, monitoring, scale and failures</a:t>
            </a:r>
          </a:p>
        </p:txBody>
      </p:sp>
      <p:sp>
        <p:nvSpPr>
          <p:cNvPr id="18" name="TextBox 17"/>
          <p:cNvSpPr txBox="1"/>
          <p:nvPr/>
        </p:nvSpPr>
        <p:spPr>
          <a:xfrm>
            <a:off x="3931920" y="3410711"/>
            <a:ext cx="7269480" cy="310896"/>
          </a:xfrm>
          <a:prstGeom prst="rect">
            <a:avLst/>
          </a:prstGeom>
          <a:noFill/>
        </p:spPr>
        <p:txBody>
          <a:bodyPr wrap="none" lIns="0" rIns="0" tIns="0" bIns="0">
            <a:noAutofit/>
          </a:bodyPr>
          <a:lstStyle/>
          <a:p>
            <a:pPr>
              <a:lnSpc>
                <a:spcPts val="1848"/>
              </a:lnSpc>
              <a:spcBef>
                <a:spcPts val="0"/>
              </a:spcBef>
              <a:spcAft>
                <a:spcPts val="0"/>
              </a:spcAft>
            </a:pPr>
            <a:r>
              <a:rPr sz="1400" b="0">
                <a:solidFill>
                  <a:srgbClr val="596A78"/>
                </a:solidFill>
                <a:latin typeface="Noto Sans CJK SC"/>
                <a:ea typeface="Noto Sans CJK SC"/>
              </a:rPr>
              <a:t>Abstract Dec 1; paper Dec 8, 22:59 UTC</a:t>
            </a:r>
          </a:p>
        </p:txBody>
      </p:sp>
      <p:sp>
        <p:nvSpPr>
          <p:cNvPr id="19" name="Rectangle 18"/>
          <p:cNvSpPr/>
          <p:nvPr/>
        </p:nvSpPr>
        <p:spPr>
          <a:xfrm>
            <a:off x="731520" y="3959352"/>
            <a:ext cx="10698480" cy="941832"/>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096512"/>
            <a:ext cx="3108960" cy="411480"/>
          </a:xfrm>
          <a:prstGeom prst="rect">
            <a:avLst/>
          </a:prstGeom>
          <a:noFill/>
        </p:spPr>
        <p:txBody>
          <a:bodyPr wrap="none" lIns="0" rIns="0" tIns="0" bIns="0">
            <a:noAutofit/>
          </a:bodyPr>
          <a:lstStyle/>
          <a:p>
            <a:pPr>
              <a:lnSpc>
                <a:spcPts val="2640"/>
              </a:lnSpc>
              <a:spcBef>
                <a:spcPts val="0"/>
              </a:spcBef>
              <a:spcAft>
                <a:spcPts val="0"/>
              </a:spcAft>
            </a:pPr>
            <a:r>
              <a:rPr sz="2000" b="1">
                <a:solidFill>
                  <a:srgbClr val="087F8C"/>
                </a:solidFill>
                <a:latin typeface="Noto Sans CJK SC"/>
                <a:ea typeface="Noto Sans CJK SC"/>
              </a:rPr>
              <a:t>ICSE / FSE</a:t>
            </a:r>
          </a:p>
        </p:txBody>
      </p:sp>
      <p:sp>
        <p:nvSpPr>
          <p:cNvPr id="21" name="TextBox 20"/>
          <p:cNvSpPr txBox="1"/>
          <p:nvPr/>
        </p:nvSpPr>
        <p:spPr>
          <a:xfrm>
            <a:off x="3931920" y="4069080"/>
            <a:ext cx="7269480" cy="384048"/>
          </a:xfrm>
          <a:prstGeom prst="rect">
            <a:avLst/>
          </a:prstGeom>
          <a:noFill/>
        </p:spPr>
        <p:txBody>
          <a:bodyPr wrap="none" lIns="0" rIns="0" tIns="0" bIns="0">
            <a:noAutofit/>
          </a:bodyPr>
          <a:lstStyle/>
          <a:p>
            <a:pPr>
              <a:lnSpc>
                <a:spcPts val="2244"/>
              </a:lnSpc>
              <a:spcBef>
                <a:spcPts val="0"/>
              </a:spcBef>
              <a:spcAft>
                <a:spcPts val="0"/>
              </a:spcAft>
            </a:pPr>
            <a:r>
              <a:rPr sz="1700" b="0">
                <a:solidFill>
                  <a:srgbClr val="152536"/>
                </a:solidFill>
                <a:latin typeface="Noto Sans CJK SC"/>
                <a:ea typeface="Noto Sans CJK SC"/>
              </a:rPr>
              <a:t>Contract evolution, change impact, maintainability</a:t>
            </a:r>
          </a:p>
        </p:txBody>
      </p:sp>
      <p:sp>
        <p:nvSpPr>
          <p:cNvPr id="22" name="TextBox 21"/>
          <p:cNvSpPr txBox="1"/>
          <p:nvPr/>
        </p:nvSpPr>
        <p:spPr>
          <a:xfrm>
            <a:off x="3931920" y="4498848"/>
            <a:ext cx="7269480" cy="310896"/>
          </a:xfrm>
          <a:prstGeom prst="rect">
            <a:avLst/>
          </a:prstGeom>
          <a:noFill/>
        </p:spPr>
        <p:txBody>
          <a:bodyPr wrap="none" lIns="0" rIns="0" tIns="0" bIns="0">
            <a:noAutofit/>
          </a:bodyPr>
          <a:lstStyle/>
          <a:p>
            <a:pPr>
              <a:lnSpc>
                <a:spcPts val="1848"/>
              </a:lnSpc>
              <a:spcBef>
                <a:spcPts val="0"/>
              </a:spcBef>
              <a:spcAft>
                <a:spcPts val="0"/>
              </a:spcAft>
            </a:pPr>
            <a:r>
              <a:rPr sz="1400" b="0">
                <a:solidFill>
                  <a:srgbClr val="596A78"/>
                </a:solidFill>
                <a:latin typeface="Noto Sans CJK SC"/>
                <a:ea typeface="Noto Sans CJK SC"/>
              </a:rPr>
              <a:t>ICSE 2027 closed; FSE dates unverified</a:t>
            </a:r>
          </a:p>
        </p:txBody>
      </p:sp>
      <p:sp>
        <p:nvSpPr>
          <p:cNvPr id="23" name="TextBox 22"/>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Choose the primary research question, then fund the evidence it requires.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Three decisions for the internal discussion</a:t>
            </a:r>
          </a:p>
        </p:txBody>
      </p:sp>
      <p:cxnSp>
        <p:nvCxnSpPr>
          <p:cNvPr id="4" name="Connector 3"/>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6" name="TextBox 5"/>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21</a:t>
            </a:r>
          </a:p>
        </p:txBody>
      </p:sp>
      <p:sp>
        <p:nvSpPr>
          <p:cNvPr id="7" name="TextBox 6"/>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v29 manuscript / 论文源码</a:t>
            </a:r>
          </a:p>
        </p:txBody>
      </p:sp>
      <p:sp>
        <p:nvSpPr>
          <p:cNvPr id="8" name="TextBox 7"/>
          <p:cNvSpPr txBox="1"/>
          <p:nvPr/>
        </p:nvSpPr>
        <p:spPr>
          <a:xfrm>
            <a:off x="822960" y="1737360"/>
            <a:ext cx="3337560" cy="502920"/>
          </a:xfrm>
          <a:prstGeom prst="rect">
            <a:avLst/>
          </a:prstGeom>
          <a:noFill/>
        </p:spPr>
        <p:txBody>
          <a:bodyPr wrap="none" lIns="0" rIns="0" tIns="0" bIns="0">
            <a:noAutofit/>
          </a:bodyPr>
          <a:lstStyle/>
          <a:p>
            <a:pPr>
              <a:lnSpc>
                <a:spcPts val="2904"/>
              </a:lnSpc>
              <a:spcBef>
                <a:spcPts val="0"/>
              </a:spcBef>
              <a:spcAft>
                <a:spcPts val="0"/>
              </a:spcAft>
            </a:pPr>
            <a:r>
              <a:rPr sz="2200" b="1">
                <a:solidFill>
                  <a:srgbClr val="087F8C"/>
                </a:solidFill>
                <a:latin typeface="Noto Sans CJK SC"/>
                <a:ea typeface="Noto Sans CJK SC"/>
              </a:rPr>
              <a:t>01  Choose the question</a:t>
            </a:r>
          </a:p>
        </p:txBody>
      </p:sp>
      <p:sp>
        <p:nvSpPr>
          <p:cNvPr id="9" name="TextBox 8"/>
          <p:cNvSpPr txBox="1"/>
          <p:nvPr/>
        </p:nvSpPr>
        <p:spPr>
          <a:xfrm>
            <a:off x="4389120" y="1755648"/>
            <a:ext cx="6766560" cy="768096"/>
          </a:xfrm>
          <a:prstGeom prst="rect">
            <a:avLst/>
          </a:prstGeom>
          <a:noFill/>
        </p:spPr>
        <p:txBody>
          <a:bodyPr wrap="none" lIns="0" rIns="0" tIns="0" bIns="0">
            <a:noAutofit/>
          </a:bodyPr>
          <a:lstStyle/>
          <a:p>
            <a:pPr>
              <a:lnSpc>
                <a:spcPts val="2640"/>
              </a:lnSpc>
              <a:spcBef>
                <a:spcPts val="0"/>
              </a:spcBef>
              <a:spcAft>
                <a:spcPts val="0"/>
              </a:spcAft>
            </a:pPr>
            <a:r>
              <a:rPr sz="2000" b="0">
                <a:solidFill>
                  <a:srgbClr val="152536"/>
                </a:solidFill>
                <a:latin typeface="Noto Sans CJK SC"/>
                <a:ea typeface="Noto Sans CJK SC"/>
              </a:rPr>
              <a:t>Data-use contracts first, or a full capability–capacity</a:t>
            </a:r>
          </a:p>
          <a:p>
            <a:pPr>
              <a:lnSpc>
                <a:spcPts val="2640"/>
              </a:lnSpc>
              <a:spcBef>
                <a:spcPts val="0"/>
              </a:spcBef>
              <a:spcAft>
                <a:spcPts val="0"/>
              </a:spcAft>
            </a:pPr>
            <a:r>
              <a:rPr sz="2000" b="0">
                <a:solidFill>
                  <a:srgbClr val="152536"/>
                </a:solidFill>
                <a:latin typeface="Noto Sans CJK SC"/>
                <a:ea typeface="Noto Sans CJK SC"/>
              </a:rPr>
              <a:t>study?</a:t>
            </a:r>
          </a:p>
        </p:txBody>
      </p:sp>
      <p:sp>
        <p:nvSpPr>
          <p:cNvPr id="10" name="TextBox 9"/>
          <p:cNvSpPr txBox="1"/>
          <p:nvPr/>
        </p:nvSpPr>
        <p:spPr>
          <a:xfrm>
            <a:off x="822960" y="2788920"/>
            <a:ext cx="3337560" cy="50292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02  Choose the evidence setting</a:t>
            </a:r>
          </a:p>
        </p:txBody>
      </p:sp>
      <p:sp>
        <p:nvSpPr>
          <p:cNvPr id="11" name="TextBox 10"/>
          <p:cNvSpPr txBox="1"/>
          <p:nvPr/>
        </p:nvSpPr>
        <p:spPr>
          <a:xfrm>
            <a:off x="4389120" y="2807208"/>
            <a:ext cx="6766560" cy="768096"/>
          </a:xfrm>
          <a:prstGeom prst="rect">
            <a:avLst/>
          </a:prstGeom>
          <a:noFill/>
        </p:spPr>
        <p:txBody>
          <a:bodyPr wrap="none" lIns="0" rIns="0" tIns="0" bIns="0">
            <a:noAutofit/>
          </a:bodyPr>
          <a:lstStyle/>
          <a:p>
            <a:pPr>
              <a:lnSpc>
                <a:spcPts val="2640"/>
              </a:lnSpc>
              <a:spcBef>
                <a:spcPts val="0"/>
              </a:spcBef>
              <a:spcAft>
                <a:spcPts val="0"/>
              </a:spcAft>
            </a:pPr>
            <a:r>
              <a:rPr sz="2000" b="0">
                <a:solidFill>
                  <a:srgbClr val="152536"/>
                </a:solidFill>
                <a:latin typeface="Noto Sans CJK SC"/>
                <a:ea typeface="Noto Sans CJK SC"/>
              </a:rPr>
              <a:t>Which real workflow has clear sources, authority and</a:t>
            </a:r>
          </a:p>
          <a:p>
            <a:pPr>
              <a:lnSpc>
                <a:spcPts val="2640"/>
              </a:lnSpc>
              <a:spcBef>
                <a:spcPts val="0"/>
              </a:spcBef>
              <a:spcAft>
                <a:spcPts val="0"/>
              </a:spcAft>
            </a:pPr>
            <a:r>
              <a:rPr sz="2000" b="0">
                <a:solidFill>
                  <a:srgbClr val="152536"/>
                </a:solidFill>
                <a:latin typeface="Noto Sans CJK SC"/>
                <a:ea typeface="Noto Sans CJK SC"/>
              </a:rPr>
              <a:t>verifiable outputs?</a:t>
            </a:r>
          </a:p>
        </p:txBody>
      </p:sp>
      <p:sp>
        <p:nvSpPr>
          <p:cNvPr id="12" name="TextBox 11"/>
          <p:cNvSpPr txBox="1"/>
          <p:nvPr/>
        </p:nvSpPr>
        <p:spPr>
          <a:xfrm>
            <a:off x="822960" y="3840479"/>
            <a:ext cx="3337560" cy="502920"/>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rPr>
              <a:t>03  Define acceptance criteria</a:t>
            </a:r>
          </a:p>
        </p:txBody>
      </p:sp>
      <p:sp>
        <p:nvSpPr>
          <p:cNvPr id="13" name="TextBox 12"/>
          <p:cNvSpPr txBox="1"/>
          <p:nvPr/>
        </p:nvSpPr>
        <p:spPr>
          <a:xfrm>
            <a:off x="4389120" y="3858767"/>
            <a:ext cx="6766560" cy="768096"/>
          </a:xfrm>
          <a:prstGeom prst="rect">
            <a:avLst/>
          </a:prstGeom>
          <a:noFill/>
        </p:spPr>
        <p:txBody>
          <a:bodyPr wrap="none" lIns="0" rIns="0" tIns="0" bIns="0">
            <a:noAutofit/>
          </a:bodyPr>
          <a:lstStyle/>
          <a:p>
            <a:pPr>
              <a:lnSpc>
                <a:spcPts val="2640"/>
              </a:lnSpc>
              <a:spcBef>
                <a:spcPts val="0"/>
              </a:spcBef>
              <a:spcAft>
                <a:spcPts val="0"/>
              </a:spcAft>
            </a:pPr>
            <a:r>
              <a:rPr sz="2000" b="0">
                <a:solidFill>
                  <a:srgbClr val="152536"/>
                </a:solidFill>
                <a:latin typeface="Noto Sans CJK SC"/>
                <a:ea typeface="Noto Sans CJK SC"/>
              </a:rPr>
              <a:t>Who owns acceptable quality degradation, false refusal</a:t>
            </a:r>
          </a:p>
          <a:p>
            <a:pPr>
              <a:lnSpc>
                <a:spcPts val="2640"/>
              </a:lnSpc>
              <a:spcBef>
                <a:spcPts val="0"/>
              </a:spcBef>
              <a:spcAft>
                <a:spcPts val="0"/>
              </a:spcAft>
            </a:pPr>
            <a:r>
              <a:rPr sz="2000" b="0">
                <a:solidFill>
                  <a:srgbClr val="152536"/>
                </a:solidFill>
                <a:latin typeface="Noto Sans CJK SC"/>
                <a:ea typeface="Noto Sans CJK SC"/>
              </a:rPr>
              <a:t>and total cost?</a:t>
            </a:r>
          </a:p>
        </p:txBody>
      </p:sp>
      <p:sp>
        <p:nvSpPr>
          <p:cNvPr id="14" name="TextBox 13"/>
          <p:cNvSpPr txBox="1"/>
          <p:nvPr/>
        </p:nvSpPr>
        <p:spPr>
          <a:xfrm>
            <a:off x="685800" y="5358384"/>
            <a:ext cx="10881360" cy="512064"/>
          </a:xfrm>
          <a:prstGeom prst="rect">
            <a:avLst/>
          </a:prstGeom>
          <a:noFill/>
        </p:spPr>
        <p:txBody>
          <a:bodyPr wrap="none" lIns="0" rIns="0" tIns="0" bIns="0">
            <a:noAutofit/>
          </a:bodyPr>
          <a:lstStyle/>
          <a:p>
            <a:pPr>
              <a:lnSpc>
                <a:spcPts val="2508"/>
              </a:lnSpc>
              <a:spcBef>
                <a:spcPts val="0"/>
              </a:spcBef>
              <a:spcAft>
                <a:spcPts val="0"/>
              </a:spcAft>
            </a:pPr>
            <a:r>
              <a:rPr sz="1900" b="1">
                <a:solidFill>
                  <a:srgbClr val="154C79"/>
                </a:solidFill>
                <a:latin typeface="Noto Sans CJK SC"/>
                <a:ea typeface="Noto Sans CJK SC"/>
              </a:rPr>
              <a:t>v29 turns an architectural claim into something executable and falsifiable.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38328"/>
            <a:ext cx="64008" cy="43891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1018520" cy="658368"/>
          </a:xfrm>
          <a:prstGeom prst="rect">
            <a:avLst/>
          </a:prstGeom>
          <a:noFill/>
        </p:spPr>
        <p:txBody>
          <a:bodyPr wrap="none" lIns="0" rIns="0" tIns="0" bIns="0">
            <a:noAutofit/>
          </a:bodyPr>
          <a:lstStyle/>
          <a:p>
            <a:pPr>
              <a:lnSpc>
                <a:spcPts val="3696"/>
              </a:lnSpc>
              <a:spcBef>
                <a:spcPts val="0"/>
              </a:spcBef>
              <a:spcAft>
                <a:spcPts val="0"/>
              </a:spcAft>
            </a:pPr>
            <a:r>
              <a:rPr sz="2800" b="1">
                <a:solidFill>
                  <a:srgbClr val="152536"/>
                </a:solidFill>
                <a:latin typeface="Noto Sans CJK SC"/>
                <a:ea typeface="Noto Sans CJK SC"/>
              </a:rPr>
              <a:t>Reading and reproduction</a:t>
            </a:r>
          </a:p>
        </p:txBody>
      </p:sp>
      <p:sp>
        <p:nvSpPr>
          <p:cNvPr id="4" name="TextBox 3"/>
          <p:cNvSpPr txBox="1"/>
          <p:nvPr/>
        </p:nvSpPr>
        <p:spPr>
          <a:xfrm>
            <a:off x="621792" y="987552"/>
            <a:ext cx="10972800" cy="502920"/>
          </a:xfrm>
          <a:prstGeom prst="rect">
            <a:avLst/>
          </a:prstGeom>
          <a:noFill/>
        </p:spPr>
        <p:txBody>
          <a:bodyPr wrap="none" lIns="0" rIns="0" tIns="0" bIns="0">
            <a:noAutofit/>
          </a:bodyPr>
          <a:lstStyle/>
          <a:p>
            <a:pPr>
              <a:lnSpc>
                <a:spcPts val="1980"/>
              </a:lnSpc>
              <a:spcBef>
                <a:spcPts val="0"/>
              </a:spcBef>
              <a:spcAft>
                <a:spcPts val="0"/>
              </a:spcAft>
            </a:pPr>
            <a:r>
              <a:rPr sz="1500" b="0">
                <a:solidFill>
                  <a:srgbClr val="596A78"/>
                </a:solidFill>
                <a:latin typeface="Noto Sans CJK SC"/>
                <a:ea typeface="Noto Sans CJK SC"/>
              </a:rPr>
              <a:t>Five new readings plus one recheck; links point to the original papers</a:t>
            </a:r>
          </a:p>
        </p:txBody>
      </p:sp>
      <p:cxnSp>
        <p:nvCxnSpPr>
          <p:cNvPr id="5" name="Connector 4"/>
          <p:cNvCxnSpPr/>
          <p:nvPr/>
        </p:nvCxnSpPr>
        <p:spPr>
          <a:xfrm>
            <a:off x="621792" y="6291072"/>
            <a:ext cx="10954512" cy="0"/>
          </a:xfrm>
          <a:prstGeom prst="line">
            <a:avLst/>
          </a:prstGeom>
          <a:ln w="19050">
            <a:solidFill>
              <a:srgbClr val="CBD5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792" y="6419088"/>
            <a:ext cx="8412480" cy="182880"/>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rPr>
              <a:t>Internal sharing · Research manuscript v29 · 2026-09-10</a:t>
            </a:r>
          </a:p>
        </p:txBody>
      </p:sp>
      <p:sp>
        <p:nvSpPr>
          <p:cNvPr id="7" name="TextBox 6"/>
          <p:cNvSpPr txBox="1"/>
          <p:nvPr/>
        </p:nvSpPr>
        <p:spPr>
          <a:xfrm>
            <a:off x="10972800" y="6409944"/>
            <a:ext cx="594360" cy="228600"/>
          </a:xfrm>
          <a:prstGeom prst="rect">
            <a:avLst/>
          </a:prstGeom>
          <a:noFill/>
        </p:spPr>
        <p:txBody>
          <a:bodyPr wrap="none" lIns="0" rIns="0" tIns="0" bIns="0">
            <a:noAutofit/>
          </a:bodyPr>
          <a:lstStyle/>
          <a:p>
            <a:pPr>
              <a:lnSpc>
                <a:spcPts val="1320"/>
              </a:lnSpc>
              <a:spcBef>
                <a:spcPts val="0"/>
              </a:spcBef>
              <a:spcAft>
                <a:spcPts val="0"/>
              </a:spcAft>
            </a:pPr>
            <a:r>
              <a:rPr sz="1000" b="0">
                <a:solidFill>
                  <a:srgbClr val="596A78"/>
                </a:solidFill>
                <a:latin typeface="Noto Sans CJK SC"/>
                <a:ea typeface="Noto Sans CJK SC"/>
              </a:rPr>
              <a:t>22</a:t>
            </a:r>
          </a:p>
        </p:txBody>
      </p:sp>
      <p:sp>
        <p:nvSpPr>
          <p:cNvPr id="8" name="TextBox 7"/>
          <p:cNvSpPr txBox="1"/>
          <p:nvPr/>
        </p:nvSpPr>
        <p:spPr>
          <a:xfrm>
            <a:off x="62179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2"/>
              </a:rPr>
              <a:t>Existing arXiv</a:t>
            </a:r>
          </a:p>
        </p:txBody>
      </p:sp>
      <p:sp>
        <p:nvSpPr>
          <p:cNvPr id="9" name="TextBox 8"/>
          <p:cNvSpPr txBox="1"/>
          <p:nvPr/>
        </p:nvSpPr>
        <p:spPr>
          <a:xfrm>
            <a:off x="4325112" y="6035040"/>
            <a:ext cx="3611880" cy="201168"/>
          </a:xfrm>
          <a:prstGeom prst="rect">
            <a:avLst/>
          </a:prstGeom>
          <a:noFill/>
        </p:spPr>
        <p:txBody>
          <a:bodyPr wrap="none" lIns="0" rIns="0" tIns="0" bIns="0">
            <a:noAutofit/>
          </a:bodyPr>
          <a:lstStyle/>
          <a:p>
            <a:pPr>
              <a:lnSpc>
                <a:spcPts val="1188"/>
              </a:lnSpc>
              <a:spcBef>
                <a:spcPts val="0"/>
              </a:spcBef>
              <a:spcAft>
                <a:spcPts val="0"/>
              </a:spcAft>
            </a:pPr>
            <a:r>
              <a:rPr sz="900" b="0">
                <a:solidFill>
                  <a:srgbClr val="596A78"/>
                </a:solidFill>
                <a:latin typeface="Noto Sans CJK SC"/>
                <a:ea typeface="Noto Sans CJK SC"/>
                <a:hlinkClick r:id="rId3"/>
              </a:rPr>
              <a:t>v29 evidence record</a:t>
            </a:r>
          </a:p>
        </p:txBody>
      </p:sp>
      <p:sp>
        <p:nvSpPr>
          <p:cNvPr id="10" name="TextBox 9"/>
          <p:cNvSpPr txBox="1"/>
          <p:nvPr/>
        </p:nvSpPr>
        <p:spPr>
          <a:xfrm>
            <a:off x="822960" y="1673352"/>
            <a:ext cx="3063240" cy="33832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hlinkClick r:id="rId5"/>
              </a:rPr>
              <a:t>Prime Agent</a:t>
            </a:r>
          </a:p>
        </p:txBody>
      </p:sp>
      <p:sp>
        <p:nvSpPr>
          <p:cNvPr id="11" name="TextBox 10"/>
          <p:cNvSpPr txBox="1"/>
          <p:nvPr/>
        </p:nvSpPr>
        <p:spPr>
          <a:xfrm>
            <a:off x="3977639" y="1682496"/>
            <a:ext cx="7315200" cy="292608"/>
          </a:xfrm>
          <a:prstGeom prst="rect">
            <a:avLst/>
          </a:prstGeom>
          <a:noFill/>
        </p:spPr>
        <p:txBody>
          <a:bodyPr wrap="none" lIns="0" rIns="0" tIns="0" bIns="0">
            <a:noAutofit/>
          </a:bodyPr>
          <a:lstStyle/>
          <a:p>
            <a:pPr>
              <a:lnSpc>
                <a:spcPts val="1716"/>
              </a:lnSpc>
              <a:spcBef>
                <a:spcPts val="0"/>
              </a:spcBef>
              <a:spcAft>
                <a:spcPts val="0"/>
              </a:spcAft>
            </a:pPr>
            <a:r>
              <a:rPr sz="1300" b="0">
                <a:solidFill>
                  <a:srgbClr val="596A78"/>
                </a:solidFill>
                <a:latin typeface="Noto Sans CJK SC"/>
                <a:ea typeface="Noto Sans CJK SC"/>
                <a:hlinkClick r:id="rId5"/>
              </a:rPr>
              <a:t>https://arxiv.org/html/2608.23552v1</a:t>
            </a:r>
          </a:p>
        </p:txBody>
      </p:sp>
      <p:sp>
        <p:nvSpPr>
          <p:cNvPr id="12" name="TextBox 11"/>
          <p:cNvSpPr txBox="1"/>
          <p:nvPr/>
        </p:nvSpPr>
        <p:spPr>
          <a:xfrm>
            <a:off x="822960" y="2139696"/>
            <a:ext cx="3063240" cy="33832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hlinkClick r:id="rId6"/>
              </a:rPr>
              <a:t>AutoResearch</a:t>
            </a:r>
          </a:p>
        </p:txBody>
      </p:sp>
      <p:sp>
        <p:nvSpPr>
          <p:cNvPr id="13" name="TextBox 12"/>
          <p:cNvSpPr txBox="1"/>
          <p:nvPr/>
        </p:nvSpPr>
        <p:spPr>
          <a:xfrm>
            <a:off x="3977639" y="2148839"/>
            <a:ext cx="7315200" cy="292608"/>
          </a:xfrm>
          <a:prstGeom prst="rect">
            <a:avLst/>
          </a:prstGeom>
          <a:noFill/>
        </p:spPr>
        <p:txBody>
          <a:bodyPr wrap="none" lIns="0" rIns="0" tIns="0" bIns="0">
            <a:noAutofit/>
          </a:bodyPr>
          <a:lstStyle/>
          <a:p>
            <a:pPr>
              <a:lnSpc>
                <a:spcPts val="1716"/>
              </a:lnSpc>
              <a:spcBef>
                <a:spcPts val="0"/>
              </a:spcBef>
              <a:spcAft>
                <a:spcPts val="0"/>
              </a:spcAft>
            </a:pPr>
            <a:r>
              <a:rPr sz="1300" b="0">
                <a:solidFill>
                  <a:srgbClr val="596A78"/>
                </a:solidFill>
                <a:latin typeface="Noto Sans CJK SC"/>
                <a:ea typeface="Noto Sans CJK SC"/>
                <a:hlinkClick r:id="rId6"/>
              </a:rPr>
              <a:t>https://arxiv.org/html/2608.17906v1</a:t>
            </a:r>
          </a:p>
        </p:txBody>
      </p:sp>
      <p:sp>
        <p:nvSpPr>
          <p:cNvPr id="14" name="TextBox 13"/>
          <p:cNvSpPr txBox="1"/>
          <p:nvPr/>
        </p:nvSpPr>
        <p:spPr>
          <a:xfrm>
            <a:off x="822960" y="2606040"/>
            <a:ext cx="3063240" cy="33832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hlinkClick r:id="rId7"/>
              </a:rPr>
              <a:t>Apodex 1.1</a:t>
            </a:r>
          </a:p>
        </p:txBody>
      </p:sp>
      <p:sp>
        <p:nvSpPr>
          <p:cNvPr id="15" name="TextBox 14"/>
          <p:cNvSpPr txBox="1"/>
          <p:nvPr/>
        </p:nvSpPr>
        <p:spPr>
          <a:xfrm>
            <a:off x="3977639" y="2615184"/>
            <a:ext cx="7315200" cy="292608"/>
          </a:xfrm>
          <a:prstGeom prst="rect">
            <a:avLst/>
          </a:prstGeom>
          <a:noFill/>
        </p:spPr>
        <p:txBody>
          <a:bodyPr wrap="none" lIns="0" rIns="0" tIns="0" bIns="0">
            <a:noAutofit/>
          </a:bodyPr>
          <a:lstStyle/>
          <a:p>
            <a:pPr>
              <a:lnSpc>
                <a:spcPts val="1716"/>
              </a:lnSpc>
              <a:spcBef>
                <a:spcPts val="0"/>
              </a:spcBef>
              <a:spcAft>
                <a:spcPts val="0"/>
              </a:spcAft>
            </a:pPr>
            <a:r>
              <a:rPr sz="1300" b="0">
                <a:solidFill>
                  <a:srgbClr val="596A78"/>
                </a:solidFill>
                <a:latin typeface="Noto Sans CJK SC"/>
                <a:ea typeface="Noto Sans CJK SC"/>
                <a:hlinkClick r:id="rId7"/>
              </a:rPr>
              <a:t>https://arxiv.org/html/2608.23283v1</a:t>
            </a:r>
          </a:p>
        </p:txBody>
      </p:sp>
      <p:sp>
        <p:nvSpPr>
          <p:cNvPr id="16" name="TextBox 15"/>
          <p:cNvSpPr txBox="1"/>
          <p:nvPr/>
        </p:nvSpPr>
        <p:spPr>
          <a:xfrm>
            <a:off x="822960" y="3072384"/>
            <a:ext cx="3063240" cy="33832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hlinkClick r:id="rId8"/>
              </a:rPr>
              <a:t>VoiceMem</a:t>
            </a:r>
          </a:p>
        </p:txBody>
      </p:sp>
      <p:sp>
        <p:nvSpPr>
          <p:cNvPr id="17" name="TextBox 16"/>
          <p:cNvSpPr txBox="1"/>
          <p:nvPr/>
        </p:nvSpPr>
        <p:spPr>
          <a:xfrm>
            <a:off x="3977639" y="3081528"/>
            <a:ext cx="7315200" cy="292608"/>
          </a:xfrm>
          <a:prstGeom prst="rect">
            <a:avLst/>
          </a:prstGeom>
          <a:noFill/>
        </p:spPr>
        <p:txBody>
          <a:bodyPr wrap="none" lIns="0" rIns="0" tIns="0" bIns="0">
            <a:noAutofit/>
          </a:bodyPr>
          <a:lstStyle/>
          <a:p>
            <a:pPr>
              <a:lnSpc>
                <a:spcPts val="1716"/>
              </a:lnSpc>
              <a:spcBef>
                <a:spcPts val="0"/>
              </a:spcBef>
              <a:spcAft>
                <a:spcPts val="0"/>
              </a:spcAft>
            </a:pPr>
            <a:r>
              <a:rPr sz="1300" b="0">
                <a:solidFill>
                  <a:srgbClr val="596A78"/>
                </a:solidFill>
                <a:latin typeface="Noto Sans CJK SC"/>
                <a:ea typeface="Noto Sans CJK SC"/>
                <a:hlinkClick r:id="rId8"/>
              </a:rPr>
              <a:t>https://arxiv.org/html/2608.26005v1</a:t>
            </a:r>
          </a:p>
        </p:txBody>
      </p:sp>
      <p:sp>
        <p:nvSpPr>
          <p:cNvPr id="18" name="TextBox 17"/>
          <p:cNvSpPr txBox="1"/>
          <p:nvPr/>
        </p:nvSpPr>
        <p:spPr>
          <a:xfrm>
            <a:off x="822960" y="3538728"/>
            <a:ext cx="3063240" cy="33832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hlinkClick r:id="rId9"/>
              </a:rPr>
              <a:t>NeoHorse-1</a:t>
            </a:r>
          </a:p>
        </p:txBody>
      </p:sp>
      <p:sp>
        <p:nvSpPr>
          <p:cNvPr id="19" name="TextBox 18"/>
          <p:cNvSpPr txBox="1"/>
          <p:nvPr/>
        </p:nvSpPr>
        <p:spPr>
          <a:xfrm>
            <a:off x="3977639" y="3547872"/>
            <a:ext cx="7315200" cy="292608"/>
          </a:xfrm>
          <a:prstGeom prst="rect">
            <a:avLst/>
          </a:prstGeom>
          <a:noFill/>
        </p:spPr>
        <p:txBody>
          <a:bodyPr wrap="none" lIns="0" rIns="0" tIns="0" bIns="0">
            <a:noAutofit/>
          </a:bodyPr>
          <a:lstStyle/>
          <a:p>
            <a:pPr>
              <a:lnSpc>
                <a:spcPts val="1716"/>
              </a:lnSpc>
              <a:spcBef>
                <a:spcPts val="0"/>
              </a:spcBef>
              <a:spcAft>
                <a:spcPts val="0"/>
              </a:spcAft>
            </a:pPr>
            <a:r>
              <a:rPr sz="1300" b="0">
                <a:solidFill>
                  <a:srgbClr val="596A78"/>
                </a:solidFill>
                <a:latin typeface="Noto Sans CJK SC"/>
                <a:ea typeface="Noto Sans CJK SC"/>
                <a:hlinkClick r:id="rId9"/>
              </a:rPr>
              <a:t>https://arxiv.org/html/2609.08183v1</a:t>
            </a:r>
          </a:p>
        </p:txBody>
      </p:sp>
      <p:sp>
        <p:nvSpPr>
          <p:cNvPr id="20" name="TextBox 19"/>
          <p:cNvSpPr txBox="1"/>
          <p:nvPr/>
        </p:nvSpPr>
        <p:spPr>
          <a:xfrm>
            <a:off x="822960" y="4005072"/>
            <a:ext cx="3063240" cy="338328"/>
          </a:xfrm>
          <a:prstGeom prst="rect">
            <a:avLst/>
          </a:prstGeom>
          <a:noFill/>
        </p:spPr>
        <p:txBody>
          <a:bodyPr wrap="none" lIns="0" rIns="0" tIns="0" bIns="0">
            <a:noAutofit/>
          </a:bodyPr>
          <a:lstStyle/>
          <a:p>
            <a:pPr>
              <a:lnSpc>
                <a:spcPts val="2244"/>
              </a:lnSpc>
              <a:spcBef>
                <a:spcPts val="0"/>
              </a:spcBef>
              <a:spcAft>
                <a:spcPts val="0"/>
              </a:spcAft>
            </a:pPr>
            <a:r>
              <a:rPr sz="1700" b="1">
                <a:solidFill>
                  <a:srgbClr val="087F8C"/>
                </a:solidFill>
                <a:latin typeface="Noto Sans CJK SC"/>
                <a:ea typeface="Noto Sans CJK SC"/>
                <a:hlinkClick r:id="rId10"/>
              </a:rPr>
              <a:t>Beyond Top-K</a:t>
            </a:r>
          </a:p>
        </p:txBody>
      </p:sp>
      <p:sp>
        <p:nvSpPr>
          <p:cNvPr id="21" name="TextBox 20"/>
          <p:cNvSpPr txBox="1"/>
          <p:nvPr/>
        </p:nvSpPr>
        <p:spPr>
          <a:xfrm>
            <a:off x="3977639" y="4014215"/>
            <a:ext cx="7315200" cy="292608"/>
          </a:xfrm>
          <a:prstGeom prst="rect">
            <a:avLst/>
          </a:prstGeom>
          <a:noFill/>
        </p:spPr>
        <p:txBody>
          <a:bodyPr wrap="none" lIns="0" rIns="0" tIns="0" bIns="0">
            <a:noAutofit/>
          </a:bodyPr>
          <a:lstStyle/>
          <a:p>
            <a:pPr>
              <a:lnSpc>
                <a:spcPts val="1716"/>
              </a:lnSpc>
              <a:spcBef>
                <a:spcPts val="0"/>
              </a:spcBef>
              <a:spcAft>
                <a:spcPts val="0"/>
              </a:spcAft>
            </a:pPr>
            <a:r>
              <a:rPr sz="1300" b="0">
                <a:solidFill>
                  <a:srgbClr val="596A78"/>
                </a:solidFill>
                <a:latin typeface="Noto Sans CJK SC"/>
                <a:ea typeface="Noto Sans CJK SC"/>
                <a:hlinkClick r:id="rId10"/>
              </a:rPr>
              <a:t>https://arxiv.org/html/2608.06305v1</a:t>
            </a:r>
          </a:p>
        </p:txBody>
      </p:sp>
      <p:sp>
        <p:nvSpPr>
          <p:cNvPr id="22" name="Rectangle 21"/>
          <p:cNvSpPr/>
          <p:nvPr/>
        </p:nvSpPr>
        <p:spPr>
          <a:xfrm>
            <a:off x="822960" y="4736592"/>
            <a:ext cx="10561320" cy="832104"/>
          </a:xfrm>
          <a:prstGeom prst="rect">
            <a:avLst/>
          </a:prstGeom>
          <a:solidFill>
            <a:srgbClr val="EE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4882896"/>
            <a:ext cx="10195560" cy="539496"/>
          </a:xfrm>
          <a:prstGeom prst="rect">
            <a:avLst/>
          </a:prstGeom>
          <a:noFill/>
        </p:spPr>
        <p:txBody>
          <a:bodyPr wrap="none" lIns="0" rIns="0" tIns="0" bIns="0">
            <a:noAutofit/>
          </a:bodyPr>
          <a:lstStyle/>
          <a:p>
            <a:pPr>
              <a:lnSpc>
                <a:spcPts val="2112"/>
              </a:lnSpc>
              <a:spcBef>
                <a:spcPts val="0"/>
              </a:spcBef>
              <a:spcAft>
                <a:spcPts val="0"/>
              </a:spcAft>
            </a:pPr>
            <a:r>
              <a:rPr sz="1600" b="0">
                <a:solidFill>
                  <a:srgbClr val="154C79"/>
                </a:solidFill>
                <a:latin typeface="Noto Sans CJK SC"/>
                <a:ea typeface="Noto Sans CJK SC"/>
              </a:rPr>
              <a:t>Reproduce: artifact_v29/evaluate.py + test_contract.py</a:t>
            </a:r>
          </a:p>
          <a:p>
            <a:pPr>
              <a:lnSpc>
                <a:spcPts val="2112"/>
              </a:lnSpc>
              <a:spcBef>
                <a:spcPts val="0"/>
              </a:spcBef>
              <a:spcAft>
                <a:spcPts val="0"/>
              </a:spcAft>
            </a:pPr>
            <a:r>
              <a:rPr sz="1600" b="0">
                <a:solidFill>
                  <a:srgbClr val="154C79"/>
                </a:solidFill>
                <a:latin typeface="Noto Sans CJK SC"/>
                <a:ea typeface="Noto Sans CJK SC"/>
              </a:rPr>
              <a:t>Raw evidence: fault-cases.csv / summary.json; P1 not evaluated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Contract-Centered Agentic Runtimes: v29 Internal Sharing</dc:title>
  <dc:subject>Data Wiki, Theme Wiki, 5W1H+Which, executable contracts and evidence boundaries</dc:subject>
  <dc:creator>Yaxiao Liu; Pengbo Liu; Yiwen Liu; Yihua Guan; Zhenghe Hou; Jiaxing Song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