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920240"/>
            <a:ext cx="10241280" cy="457200"/>
          </a:xfrm>
          <a:prstGeom prst="rect">
            <a:avLst/>
          </a:prstGeom>
          <a:noFill/>
        </p:spPr>
        <p:txBody>
          <a:bodyPr wrap="square" anchor="t" lIns="36576" rIns="36576" tIns="18288" bIns="18288">
            <a:spAutoFit/>
          </a:bodyPr>
          <a:lstStyle/>
          <a:p>
            <a:pPr algn="l">
              <a:lnSpc>
                <a:spcPct val="115000"/>
              </a:lnSpc>
              <a:spcAft>
                <a:spcPts val="300"/>
              </a:spcAft>
            </a:pPr>
            <a:r>
              <a:rPr sz="1500" b="1">
                <a:solidFill>
                  <a:srgbClr val="5B21B6"/>
                </a:solidFill>
                <a:latin typeface="Microsoft YaHei"/>
                <a:ea typeface="Microsoft YaHei"/>
                <a:cs typeface="Microsoft YaHei"/>
              </a:rPr>
              <a:t>架构评审 · v25</a:t>
            </a:r>
          </a:p>
        </p:txBody>
      </p:sp>
      <p:sp>
        <p:nvSpPr>
          <p:cNvPr id="4" name="TextBox 3"/>
          <p:cNvSpPr txBox="1"/>
          <p:nvPr/>
        </p:nvSpPr>
        <p:spPr>
          <a:xfrm>
            <a:off x="868680" y="2395728"/>
            <a:ext cx="10424160" cy="1371600"/>
          </a:xfrm>
          <a:prstGeom prst="rect">
            <a:avLst/>
          </a:prstGeom>
          <a:noFill/>
        </p:spPr>
        <p:txBody>
          <a:bodyPr wrap="square" anchor="t" lIns="36576" rIns="36576" tIns="18288" bIns="18288">
            <a:spAutoFit/>
          </a:bodyPr>
          <a:lstStyle/>
          <a:p>
            <a:pPr algn="l">
              <a:lnSpc>
                <a:spcPct val="115000"/>
              </a:lnSpc>
              <a:spcAft>
                <a:spcPts val="300"/>
              </a:spcAft>
            </a:pPr>
            <a:r>
              <a:rPr sz="4000" b="1">
                <a:solidFill>
                  <a:srgbClr val="111827"/>
                </a:solidFill>
                <a:latin typeface="Microsoft YaHei"/>
                <a:ea typeface="Microsoft YaHei"/>
                <a:cs typeface="Microsoft YaHei"/>
              </a:rPr>
              <a:t>契约中心的可扩展 · 可管理</a:t>
            </a:r>
          </a:p>
          <a:p>
            <a:pPr algn="l">
              <a:lnSpc>
                <a:spcPct val="115000"/>
              </a:lnSpc>
              <a:spcAft>
                <a:spcPts val="300"/>
              </a:spcAft>
            </a:pPr>
            <a:r>
              <a:rPr sz="4000" b="1">
                <a:solidFill>
                  <a:srgbClr val="111827"/>
                </a:solidFill>
                <a:latin typeface="Microsoft YaHei"/>
                <a:ea typeface="Microsoft YaHei"/>
                <a:cs typeface="Microsoft YaHei"/>
              </a:rPr>
              <a:t>Agentic Runtime 参考架构</a:t>
            </a:r>
          </a:p>
        </p:txBody>
      </p:sp>
      <p:sp>
        <p:nvSpPr>
          <p:cNvPr id="5" name="TextBox 4"/>
          <p:cNvSpPr txBox="1"/>
          <p:nvPr/>
        </p:nvSpPr>
        <p:spPr>
          <a:xfrm>
            <a:off x="868680" y="3968496"/>
            <a:ext cx="10058400" cy="822960"/>
          </a:xfrm>
          <a:prstGeom prst="rect">
            <a:avLst/>
          </a:prstGeom>
          <a:noFill/>
        </p:spPr>
        <p:txBody>
          <a:bodyPr wrap="square" anchor="t" lIns="36576" rIns="36576" tIns="18288" bIns="18288">
            <a:spAutoFit/>
          </a:bodyPr>
          <a:lstStyle/>
          <a:p>
            <a:pPr algn="l">
              <a:lnSpc>
                <a:spcPct val="115000"/>
              </a:lnSpc>
              <a:spcAft>
                <a:spcPts val="300"/>
              </a:spcAft>
            </a:pPr>
            <a:r>
              <a:rPr sz="1300" b="0">
                <a:solidFill>
                  <a:srgbClr val="6B7280"/>
                </a:solidFill>
                <a:latin typeface="Microsoft YaHei"/>
                <a:ea typeface="Microsoft YaHei"/>
                <a:cs typeface="Microsoft YaHei"/>
              </a:rPr>
              <a:t>A Contract-Centered Architecture for Scalable and Manageable Agentic Runtimes</a:t>
            </a:r>
          </a:p>
          <a:p>
            <a:pPr algn="l">
              <a:lnSpc>
                <a:spcPct val="115000"/>
              </a:lnSpc>
              <a:spcAft>
                <a:spcPts val="300"/>
              </a:spcAft>
            </a:pPr>
            <a:r>
              <a:rPr sz="1300" b="0">
                <a:solidFill>
                  <a:srgbClr val="C2410C"/>
                </a:solidFill>
                <a:latin typeface="Microsoft YaHei"/>
                <a:ea typeface="Microsoft YaHei"/>
                <a:cs typeface="Microsoft YaHei"/>
              </a:rPr>
              <a:t>本次评审议题：撤销 v21/v22 拆分，合回单篇 v25</a:t>
            </a:r>
          </a:p>
        </p:txBody>
      </p:sp>
      <p:sp>
        <p:nvSpPr>
          <p:cNvPr id="6" name="Rounded Rectangle 5"/>
          <p:cNvSpPr/>
          <p:nvPr/>
        </p:nvSpPr>
        <p:spPr>
          <a:xfrm>
            <a:off x="868680" y="5074920"/>
            <a:ext cx="3127248" cy="960120"/>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1E40AF"/>
                </a:solidFill>
                <a:latin typeface="Microsoft YaHei"/>
                <a:ea typeface="Microsoft YaHei"/>
                <a:cs typeface="Microsoft YaHei"/>
              </a:rPr>
              <a:t>责任模型</a:t>
            </a:r>
          </a:p>
          <a:p>
            <a:pPr algn="l">
              <a:lnSpc>
                <a:spcPct val="114000"/>
              </a:lnSpc>
              <a:spcBef>
                <a:spcPts val="300"/>
              </a:spcBef>
            </a:pPr>
            <a:r>
              <a:rPr sz="1050">
                <a:solidFill>
                  <a:srgbClr val="111827"/>
                </a:solidFill>
                <a:latin typeface="Microsoft YaHei"/>
                <a:ea typeface="Microsoft YaHei"/>
                <a:cs typeface="Microsoft YaHei"/>
              </a:rPr>
              <a:t>Skill / Harness / Scaffold / 数据底座</a:t>
            </a:r>
          </a:p>
        </p:txBody>
      </p:sp>
      <p:sp>
        <p:nvSpPr>
          <p:cNvPr id="7" name="Rounded Rectangle 6"/>
          <p:cNvSpPr/>
          <p:nvPr/>
        </p:nvSpPr>
        <p:spPr>
          <a:xfrm>
            <a:off x="4206240" y="5074920"/>
            <a:ext cx="3127248" cy="96012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5B21B6"/>
                </a:solidFill>
                <a:latin typeface="Microsoft YaHei"/>
                <a:ea typeface="Microsoft YaHei"/>
                <a:cs typeface="Microsoft YaHei"/>
              </a:rPr>
              <a:t>唯一主命题</a:t>
            </a:r>
          </a:p>
          <a:p>
            <a:pPr algn="l">
              <a:lnSpc>
                <a:spcPct val="114000"/>
              </a:lnSpc>
              <a:spcBef>
                <a:spcPts val="300"/>
              </a:spcBef>
            </a:pPr>
            <a:r>
              <a:rPr sz="1050">
                <a:solidFill>
                  <a:srgbClr val="111827"/>
                </a:solidFill>
                <a:latin typeface="Microsoft YaHei"/>
                <a:ea typeface="Microsoft YaHei"/>
                <a:cs typeface="Microsoft YaHei"/>
              </a:rPr>
              <a:t>P1 cost-aware separability</a:t>
            </a:r>
          </a:p>
        </p:txBody>
      </p:sp>
      <p:sp>
        <p:nvSpPr>
          <p:cNvPr id="8" name="Rounded Rectangle 7"/>
          <p:cNvSpPr/>
          <p:nvPr/>
        </p:nvSpPr>
        <p:spPr>
          <a:xfrm>
            <a:off x="7543800" y="5074920"/>
            <a:ext cx="3127248" cy="96012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C2410C"/>
                </a:solidFill>
                <a:latin typeface="Microsoft YaHei"/>
                <a:ea typeface="Microsoft YaHei"/>
                <a:cs typeface="Microsoft YaHei"/>
              </a:rPr>
              <a:t>判决规则</a:t>
            </a:r>
          </a:p>
          <a:p>
            <a:pPr algn="l">
              <a:lnSpc>
                <a:spcPct val="114000"/>
              </a:lnSpc>
              <a:spcBef>
                <a:spcPts val="300"/>
              </a:spcBef>
            </a:pPr>
            <a:r>
              <a:rPr sz="1050">
                <a:solidFill>
                  <a:srgbClr val="111827"/>
                </a:solidFill>
                <a:latin typeface="Microsoft YaHei"/>
                <a:ea typeface="Microsoft YaHei"/>
                <a:cs typeface="Microsoft YaHei"/>
              </a:rPr>
              <a:t>四态：支持 / 证伪 / 条件工程 / 不可判</a:t>
            </a:r>
          </a:p>
        </p:txBody>
      </p:sp>
      <p:sp>
        <p:nvSpPr>
          <p:cNvPr id="9" name="TextBox 8"/>
          <p:cNvSpPr txBox="1"/>
          <p:nvPr/>
        </p:nvSpPr>
        <p:spPr>
          <a:xfrm>
            <a:off x="868680" y="6263640"/>
            <a:ext cx="7315200" cy="274320"/>
          </a:xfrm>
          <a:prstGeom prst="rect">
            <a:avLst/>
          </a:prstGeom>
          <a:noFill/>
        </p:spPr>
        <p:txBody>
          <a:bodyPr wrap="square" anchor="t" lIns="36576" rIns="36576" tIns="18288" bIns="18288">
            <a:spAutoFit/>
          </a:bodyPr>
          <a:lstStyle/>
          <a:p>
            <a:pPr algn="l">
              <a:lnSpc>
                <a:spcPct val="115000"/>
              </a:lnSpc>
              <a:spcAft>
                <a:spcPts val="300"/>
              </a:spcAft>
            </a:pPr>
            <a:r>
              <a:rPr sz="1000" b="0">
                <a:solidFill>
                  <a:srgbClr val="6B7280"/>
                </a:solidFill>
                <a:latin typeface="Microsoft YaHei"/>
                <a:ea typeface="Microsoft YaHei"/>
                <a:cs typeface="Microsoft YaHei"/>
              </a:rPr>
              <a:t>2026-08-22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本次评审要回答的三个问题</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议程与判据</a:t>
            </a:r>
          </a:p>
        </p:txBody>
      </p:sp>
      <p:sp>
        <p:nvSpPr>
          <p:cNvPr id="4" name="Rounded Rectangle 3"/>
          <p:cNvSpPr/>
          <p:nvPr/>
        </p:nvSpPr>
        <p:spPr>
          <a:xfrm>
            <a:off x="11140135" y="402336"/>
            <a:ext cx="484632"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议程</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11064240" cy="1417320"/>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1E40AF"/>
                </a:solidFill>
                <a:latin typeface="Microsoft YaHei"/>
                <a:ea typeface="Microsoft YaHei"/>
                <a:cs typeface="Microsoft YaHei"/>
              </a:rPr>
              <a:t>① 合回单篇是否正确？</a:t>
            </a:r>
          </a:p>
          <a:p>
            <a:pPr algn="l">
              <a:lnSpc>
                <a:spcPct val="114000"/>
              </a:lnSpc>
              <a:spcBef>
                <a:spcPts val="300"/>
              </a:spcBef>
            </a:pPr>
            <a:r>
              <a:rPr sz="1050">
                <a:solidFill>
                  <a:srgbClr val="111827"/>
                </a:solidFill>
                <a:latin typeface="Microsoft YaHei"/>
                <a:ea typeface="Microsoft YaHei"/>
                <a:cs typeface="Microsoft YaHei"/>
              </a:rPr>
              <a:t>v21/v22 拆分产生 4 处硬不一致：标题字面相同、契约元组字母冲突、</a:t>
            </a:r>
          </a:p>
          <a:p>
            <a:pPr algn="l">
              <a:lnSpc>
                <a:spcPct val="114000"/>
              </a:lnSpc>
              <a:spcBef>
                <a:spcPts val="300"/>
              </a:spcBef>
            </a:pPr>
            <a:r>
              <a:rPr sz="1050">
                <a:solidFill>
                  <a:srgbClr val="111827"/>
                </a:solidFill>
                <a:latin typeface="Microsoft YaHei"/>
                <a:ea typeface="Microsoft YaHei"/>
                <a:cs typeface="Microsoft YaHei"/>
              </a:rPr>
              <a:t>随机化单位互相矛盾、两篇零交叉引用。合并可一次性消除全部 4 处。</a:t>
            </a:r>
          </a:p>
          <a:p>
            <a:pPr algn="l">
              <a:lnSpc>
                <a:spcPct val="114000"/>
              </a:lnSpc>
              <a:spcBef>
                <a:spcPts val="300"/>
              </a:spcBef>
            </a:pPr>
            <a:r>
              <a:rPr sz="1050">
                <a:solidFill>
                  <a:srgbClr val="111827"/>
                </a:solidFill>
                <a:latin typeface="Microsoft YaHei"/>
                <a:ea typeface="Microsoft YaHei"/>
                <a:cs typeface="Microsoft YaHei"/>
              </a:rPr>
              <a:t>代价：放弃 v22 作为独立可投测量协议论文的形态。</a:t>
            </a:r>
          </a:p>
        </p:txBody>
      </p:sp>
      <p:sp>
        <p:nvSpPr>
          <p:cNvPr id="7" name="Rounded Rectangle 6"/>
          <p:cNvSpPr/>
          <p:nvPr/>
        </p:nvSpPr>
        <p:spPr>
          <a:xfrm>
            <a:off x="566928" y="3218688"/>
            <a:ext cx="11064240" cy="141732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5B21B6"/>
                </a:solidFill>
                <a:latin typeface="Microsoft YaHei"/>
                <a:ea typeface="Microsoft YaHei"/>
                <a:cs typeface="Microsoft YaHei"/>
              </a:rPr>
              <a:t>② 四态判决是否成立？</a:t>
            </a:r>
          </a:p>
          <a:p>
            <a:pPr algn="l">
              <a:lnSpc>
                <a:spcPct val="114000"/>
              </a:lnSpc>
              <a:spcBef>
                <a:spcPts val="300"/>
              </a:spcBef>
            </a:pPr>
            <a:r>
              <a:rPr sz="1050">
                <a:solidFill>
                  <a:srgbClr val="111827"/>
                </a:solidFill>
                <a:latin typeface="Microsoft YaHei"/>
                <a:ea typeface="Microsoft YaHei"/>
                <a:cs typeface="Microsoft YaHei"/>
              </a:rPr>
              <a:t>六项义务是合取，任一不过阈则 P1 不可判 —— inconclusive 概率膨胀。</a:t>
            </a:r>
          </a:p>
          <a:p>
            <a:pPr algn="l">
              <a:lnSpc>
                <a:spcPct val="114000"/>
              </a:lnSpc>
              <a:spcBef>
                <a:spcPts val="300"/>
              </a:spcBef>
            </a:pPr>
            <a:r>
              <a:rPr sz="1050">
                <a:solidFill>
                  <a:srgbClr val="111827"/>
                </a:solidFill>
                <a:latin typeface="Microsoft YaHei"/>
                <a:ea typeface="Microsoft YaHei"/>
                <a:cs typeface="Microsoft YaHei"/>
              </a:rPr>
              <a:t>企业篇原有 conditional-engineering 降级档，聚焦篇没有。</a:t>
            </a:r>
          </a:p>
          <a:p>
            <a:pPr algn="l">
              <a:lnSpc>
                <a:spcPct val="114000"/>
              </a:lnSpc>
              <a:spcBef>
                <a:spcPts val="300"/>
              </a:spcBef>
            </a:pPr>
            <a:r>
              <a:rPr sz="1050">
                <a:solidFill>
                  <a:srgbClr val="111827"/>
                </a:solidFill>
                <a:latin typeface="Microsoft YaHei"/>
                <a:ea typeface="Microsoft YaHei"/>
                <a:cs typeface="Microsoft YaHei"/>
              </a:rPr>
              <a:t>本版升为全局第四态，使单个难测渠道不再永久锁死研究线。</a:t>
            </a:r>
          </a:p>
        </p:txBody>
      </p:sp>
      <p:sp>
        <p:nvSpPr>
          <p:cNvPr id="8" name="Rounded Rectangle 7"/>
          <p:cNvSpPr/>
          <p:nvPr/>
        </p:nvSpPr>
        <p:spPr>
          <a:xfrm>
            <a:off x="566928" y="4791456"/>
            <a:ext cx="11064240" cy="141732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C2410C"/>
                </a:solidFill>
                <a:latin typeface="Microsoft YaHei"/>
                <a:ea typeface="Microsoft YaHei"/>
                <a:cs typeface="Microsoft YaHei"/>
              </a:rPr>
              <a:t>③ 证据边界是否诚实？</a:t>
            </a:r>
          </a:p>
          <a:p>
            <a:pPr algn="l">
              <a:lnSpc>
                <a:spcPct val="114000"/>
              </a:lnSpc>
              <a:spcBef>
                <a:spcPts val="300"/>
              </a:spcBef>
            </a:pPr>
            <a:r>
              <a:rPr sz="1050">
                <a:solidFill>
                  <a:srgbClr val="111827"/>
                </a:solidFill>
                <a:latin typeface="Microsoft YaHei"/>
                <a:ea typeface="Microsoft YaHei"/>
                <a:cs typeface="Microsoft YaHei"/>
              </a:rPr>
              <a:t>本架构至今零实测结果，v22 与 v23 复核连续两轮标记为首要风险。</a:t>
            </a:r>
          </a:p>
          <a:p>
            <a:pPr algn="l">
              <a:lnSpc>
                <a:spcPct val="114000"/>
              </a:lnSpc>
              <a:spcBef>
                <a:spcPts val="300"/>
              </a:spcBef>
            </a:pPr>
            <a:r>
              <a:rPr sz="1050">
                <a:solidFill>
                  <a:srgbClr val="111827"/>
                </a:solidFill>
                <a:latin typeface="Microsoft YaHei"/>
                <a:ea typeface="Microsoft YaHei"/>
                <a:cs typeface="Microsoft YaHei"/>
              </a:rPr>
              <a:t>评审需确认：是否接受以 research-program paper 形态推进，</a:t>
            </a:r>
          </a:p>
          <a:p>
            <a:pPr algn="l">
              <a:lnSpc>
                <a:spcPct val="114000"/>
              </a:lnSpc>
              <a:spcBef>
                <a:spcPts val="300"/>
              </a:spcBef>
            </a:pPr>
            <a:r>
              <a:rPr sz="1050">
                <a:solidFill>
                  <a:srgbClr val="111827"/>
                </a:solidFill>
                <a:latin typeface="Microsoft YaHei"/>
                <a:ea typeface="Microsoft YaHei"/>
                <a:cs typeface="Microsoft YaHei"/>
              </a:rPr>
              <a:t>还是先跑单集群 2×2 可行性 pilot。</a:t>
            </a:r>
          </a:p>
        </p:txBody>
      </p:sp>
      <p:sp>
        <p:nvSpPr>
          <p:cNvPr id="9" name="TextBox 8"/>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判据均已落在 academy/v25-outline.md</a:t>
            </a:r>
          </a:p>
        </p:txBody>
      </p:sp>
      <p:sp>
        <p:nvSpPr>
          <p:cNvPr id="10" name="TextBox 9"/>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一句话主张与单一研究问题</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narrow contribution，不是泛化的三层架构</a:t>
            </a:r>
          </a:p>
        </p:txBody>
      </p:sp>
      <p:sp>
        <p:nvSpPr>
          <p:cNvPr id="4" name="Rounded Rectangle 3"/>
          <p:cNvSpPr/>
          <p:nvPr/>
        </p:nvSpPr>
        <p:spPr>
          <a:xfrm>
            <a:off x="11034979" y="402336"/>
            <a:ext cx="589788"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主命题</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11064240" cy="118872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500" b="1">
                <a:solidFill>
                  <a:srgbClr val="5B21B6"/>
                </a:solidFill>
                <a:latin typeface="Microsoft YaHei"/>
                <a:ea typeface="Microsoft YaHei"/>
                <a:cs typeface="Microsoft YaHei"/>
              </a:rPr>
              <a:t>研究问题（全文唯一）</a:t>
            </a:r>
          </a:p>
          <a:p>
            <a:pPr algn="l">
              <a:lnSpc>
                <a:spcPct val="114000"/>
              </a:lnSpc>
              <a:spcBef>
                <a:spcPts val="300"/>
              </a:spcBef>
            </a:pPr>
            <a:r>
              <a:rPr sz="1300">
                <a:solidFill>
                  <a:srgbClr val="111827"/>
                </a:solidFill>
                <a:latin typeface="Microsoft YaHei"/>
                <a:ea typeface="Microsoft YaHei"/>
                <a:cs typeface="Microsoft YaHei"/>
              </a:rPr>
              <a:t>能否让 runtime 在激活可独立部署的能力时不实质改变容量响应，同时在扩容时不实质改变能力语义，且执法成本可接受？</a:t>
            </a:r>
          </a:p>
        </p:txBody>
      </p:sp>
      <p:sp>
        <p:nvSpPr>
          <p:cNvPr id="7" name="Rounded Rectangle 6"/>
          <p:cNvSpPr/>
          <p:nvPr/>
        </p:nvSpPr>
        <p:spPr>
          <a:xfrm>
            <a:off x="566928" y="3035808"/>
            <a:ext cx="5413248" cy="1481328"/>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1E40AF"/>
                </a:solidFill>
                <a:latin typeface="Microsoft YaHei"/>
                <a:ea typeface="Microsoft YaHei"/>
                <a:cs typeface="Microsoft YaHei"/>
              </a:rPr>
              <a:t>逻辑扩展 = 激活能力</a:t>
            </a:r>
          </a:p>
          <a:p>
            <a:pPr algn="l">
              <a:lnSpc>
                <a:spcPct val="114000"/>
              </a:lnSpc>
              <a:spcBef>
                <a:spcPts val="300"/>
              </a:spcBef>
            </a:pPr>
            <a:r>
              <a:rPr sz="1050">
                <a:solidFill>
                  <a:srgbClr val="111827"/>
                </a:solidFill>
                <a:latin typeface="Microsoft YaHei"/>
                <a:ea typeface="Microsoft YaHei"/>
                <a:cs typeface="Microsoft YaHei"/>
              </a:rPr>
              <a:t>改变 activated capability configuration c</a:t>
            </a:r>
          </a:p>
          <a:p>
            <a:pPr algn="l">
              <a:lnSpc>
                <a:spcPct val="114000"/>
              </a:lnSpc>
              <a:spcBef>
                <a:spcPts val="300"/>
              </a:spcBef>
            </a:pPr>
            <a:r>
              <a:rPr sz="1050">
                <a:solidFill>
                  <a:srgbClr val="111827"/>
                </a:solidFill>
                <a:latin typeface="Microsoft YaHei"/>
                <a:ea typeface="Microsoft YaHei"/>
                <a:cs typeface="Microsoft YaHei"/>
              </a:rPr>
              <a:t>= 在既有工作负载的准入路径上激活版本化 Skill bundle</a:t>
            </a:r>
          </a:p>
          <a:p>
            <a:pPr algn="l">
              <a:lnSpc>
                <a:spcPct val="114000"/>
              </a:lnSpc>
              <a:spcBef>
                <a:spcPts val="300"/>
              </a:spcBef>
            </a:pPr>
            <a:r>
              <a:rPr sz="1050">
                <a:solidFill>
                  <a:srgbClr val="111827"/>
                </a:solidFill>
                <a:latin typeface="Microsoft YaHei"/>
                <a:ea typeface="Microsoft YaHei"/>
                <a:cs typeface="Microsoft YaHei"/>
              </a:rPr>
              <a:t>注册表里加不激活的条目 → 不是 treatment</a:t>
            </a:r>
          </a:p>
        </p:txBody>
      </p:sp>
      <p:sp>
        <p:nvSpPr>
          <p:cNvPr id="8" name="Rounded Rectangle 7"/>
          <p:cNvSpPr/>
          <p:nvPr/>
        </p:nvSpPr>
        <p:spPr>
          <a:xfrm>
            <a:off x="6217920" y="3035808"/>
            <a:ext cx="5413248" cy="1481328"/>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C2410C"/>
                </a:solidFill>
                <a:latin typeface="Microsoft YaHei"/>
                <a:ea typeface="Microsoft YaHei"/>
                <a:cs typeface="Microsoft YaHei"/>
              </a:rPr>
              <a:t>物理扩展 = 兼容扩容</a:t>
            </a:r>
          </a:p>
          <a:p>
            <a:pPr algn="l">
              <a:lnSpc>
                <a:spcPct val="114000"/>
              </a:lnSpc>
              <a:spcBef>
                <a:spcPts val="300"/>
              </a:spcBef>
            </a:pPr>
            <a:r>
              <a:rPr sz="1050">
                <a:solidFill>
                  <a:srgbClr val="111827"/>
                </a:solidFill>
                <a:latin typeface="Microsoft YaHei"/>
                <a:ea typeface="Microsoft YaHei"/>
                <a:cs typeface="Microsoft YaHei"/>
              </a:rPr>
              <a:t>改变 Scaffold capacity configuration s</a:t>
            </a:r>
          </a:p>
          <a:p>
            <a:pPr algn="l">
              <a:lnSpc>
                <a:spcPct val="114000"/>
              </a:lnSpc>
              <a:spcBef>
                <a:spcPts val="300"/>
              </a:spcBef>
            </a:pPr>
            <a:r>
              <a:rPr sz="1050">
                <a:solidFill>
                  <a:srgbClr val="111827"/>
                </a:solidFill>
                <a:latin typeface="Microsoft YaHei"/>
                <a:ea typeface="Microsoft YaHei"/>
                <a:cs typeface="Microsoft YaHei"/>
              </a:rPr>
              <a:t>= 改 worker 数 / 资源类别 / 隔离拓扑</a:t>
            </a:r>
          </a:p>
          <a:p>
            <a:pPr algn="l">
              <a:lnSpc>
                <a:spcPct val="114000"/>
              </a:lnSpc>
              <a:spcBef>
                <a:spcPts val="300"/>
              </a:spcBef>
            </a:pPr>
            <a:r>
              <a:rPr sz="1050">
                <a:solidFill>
                  <a:srgbClr val="111827"/>
                </a:solidFill>
                <a:latin typeface="Microsoft YaHei"/>
                <a:ea typeface="Microsoft YaHei"/>
                <a:cs typeface="Microsoft YaHei"/>
              </a:rPr>
              <a:t>逻辑准入策略、模型设置、数据快照保持固定</a:t>
            </a:r>
          </a:p>
        </p:txBody>
      </p:sp>
      <p:sp>
        <p:nvSpPr>
          <p:cNvPr id="9" name="Rounded Rectangle 8"/>
          <p:cNvSpPr/>
          <p:nvPr/>
        </p:nvSpPr>
        <p:spPr>
          <a:xfrm>
            <a:off x="566928" y="4700016"/>
            <a:ext cx="11064240" cy="1298448"/>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374151"/>
                </a:solidFill>
                <a:latin typeface="Microsoft YaHei"/>
                <a:ea typeface="Microsoft YaHei"/>
                <a:cs typeface="Microsoft YaHei"/>
              </a:rPr>
              <a:t>声明的边界</a:t>
            </a:r>
          </a:p>
          <a:p>
            <a:pPr algn="l">
              <a:lnSpc>
                <a:spcPct val="114000"/>
              </a:lnSpc>
              <a:spcBef>
                <a:spcPts val="300"/>
              </a:spcBef>
            </a:pPr>
            <a:r>
              <a:rPr sz="1050">
                <a:solidFill>
                  <a:srgbClr val="111827"/>
                </a:solidFill>
                <a:latin typeface="Microsoft YaHei"/>
                <a:ea typeface="Microsoft YaHei"/>
                <a:cs typeface="Microsoft YaHei"/>
              </a:rPr>
              <a:t>① 这不是普适模块化，也不是证明某个实现可扩展；是对指定 runtime、workload、policy、数据快照与兼容容量区间的经验判断。</a:t>
            </a:r>
          </a:p>
          <a:p>
            <a:pPr algn="l">
              <a:lnSpc>
                <a:spcPct val="114000"/>
              </a:lnSpc>
              <a:spcBef>
                <a:spcPts val="300"/>
              </a:spcBef>
            </a:pPr>
            <a:r>
              <a:rPr sz="1050">
                <a:solidFill>
                  <a:srgbClr val="111827"/>
                </a:solidFill>
                <a:latin typeface="Microsoft YaHei"/>
                <a:ea typeface="Microsoft YaHei"/>
                <a:cs typeface="Microsoft YaHei"/>
              </a:rPr>
              <a:t>② P1 不约束 Scaffold 主效应 —— 扩容让吞吐变好是预期的，不构成对 P1 的证伪。</a:t>
            </a:r>
          </a:p>
        </p:txBody>
      </p:sp>
      <p:sp>
        <p:nvSpPr>
          <p:cNvPr id="10" name="TextBox 9"/>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来源：separability-study main.tex §1–§2</a:t>
            </a:r>
          </a:p>
        </p:txBody>
      </p:sp>
      <p:sp>
        <p:nvSpPr>
          <p:cNvPr id="11" name="TextBox 10"/>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四个责任对象</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责任边界，不是必须的团队或服务划分</a:t>
            </a:r>
          </a:p>
        </p:txBody>
      </p:sp>
      <p:sp>
        <p:nvSpPr>
          <p:cNvPr id="4" name="Rounded Rectangle 3"/>
          <p:cNvSpPr/>
          <p:nvPr/>
        </p:nvSpPr>
        <p:spPr>
          <a:xfrm>
            <a:off x="10929823" y="402336"/>
            <a:ext cx="694944"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责任模型</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2688336" cy="3017520"/>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700" b="1">
                <a:solidFill>
                  <a:srgbClr val="1E40AF"/>
                </a:solidFill>
                <a:latin typeface="Microsoft YaHei"/>
                <a:ea typeface="Microsoft YaHei"/>
                <a:cs typeface="Microsoft YaHei"/>
              </a:rPr>
              <a:t>Skill</a:t>
            </a:r>
          </a:p>
          <a:p>
            <a:pPr algn="l">
              <a:lnSpc>
                <a:spcPct val="114000"/>
              </a:lnSpc>
              <a:spcBef>
                <a:spcPts val="300"/>
              </a:spcBef>
            </a:pPr>
            <a:r>
              <a:rPr sz="1150">
                <a:solidFill>
                  <a:srgbClr val="111827"/>
                </a:solidFill>
                <a:latin typeface="Microsoft YaHei"/>
                <a:ea typeface="Microsoft YaHei"/>
                <a:cs typeface="Microsoft YaHei"/>
              </a:rPr>
              <a:t>版本化行为</a:t>
            </a:r>
          </a:p>
          <a:p>
            <a:pPr algn="l">
              <a:lnSpc>
                <a:spcPct val="114000"/>
              </a:lnSpc>
              <a:spcBef>
                <a:spcPts val="300"/>
              </a:spcBef>
            </a:pPr>
            <a:r>
              <a:rPr sz="980">
                <a:solidFill>
                  <a:srgbClr val="111827"/>
                </a:solidFill>
                <a:latin typeface="Microsoft YaHei"/>
                <a:ea typeface="Microsoft YaHei"/>
                <a:cs typeface="Microsoft YaHei"/>
              </a:rPr>
              <a:t>拥有任务意图、类型化输入输出、</a:t>
            </a:r>
          </a:p>
          <a:p>
            <a:pPr algn="l">
              <a:lnSpc>
                <a:spcPct val="114000"/>
              </a:lnSpc>
              <a:spcBef>
                <a:spcPts val="300"/>
              </a:spcBef>
            </a:pPr>
            <a:r>
              <a:rPr sz="980">
                <a:solidFill>
                  <a:srgbClr val="111827"/>
                </a:solidFill>
                <a:latin typeface="Microsoft YaHei"/>
                <a:ea typeface="Microsoft YaHei"/>
                <a:cs typeface="Microsoft YaHei"/>
              </a:rPr>
              <a:t>许可效果、前置条件、测试、发布身份</a:t>
            </a:r>
          </a:p>
          <a:p>
            <a:pPr algn="l">
              <a:lnSpc>
                <a:spcPct val="114000"/>
              </a:lnSpc>
              <a:spcBef>
                <a:spcPts val="300"/>
              </a:spcBef>
            </a:pPr>
            <a:r>
              <a:rPr sz="980">
                <a:solidFill>
                  <a:srgbClr val="111827"/>
                </a:solidFill>
                <a:latin typeface="Microsoft YaHei"/>
                <a:ea typeface="Microsoft YaHei"/>
                <a:cs typeface="Microsoft YaHei"/>
              </a:rPr>
              <a:t>不选物理放置、不自授凭证</a:t>
            </a:r>
          </a:p>
        </p:txBody>
      </p:sp>
      <p:sp>
        <p:nvSpPr>
          <p:cNvPr id="7" name="Rounded Rectangle 6"/>
          <p:cNvSpPr/>
          <p:nvPr/>
        </p:nvSpPr>
        <p:spPr>
          <a:xfrm>
            <a:off x="3401568" y="1664208"/>
            <a:ext cx="2688336" cy="301752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700" b="1">
                <a:solidFill>
                  <a:srgbClr val="5B21B6"/>
                </a:solidFill>
                <a:latin typeface="Microsoft YaHei"/>
                <a:ea typeface="Microsoft YaHei"/>
                <a:cs typeface="Microsoft YaHei"/>
              </a:rPr>
              <a:t>Harness</a:t>
            </a:r>
          </a:p>
          <a:p>
            <a:pPr algn="l">
              <a:lnSpc>
                <a:spcPct val="114000"/>
              </a:lnSpc>
              <a:spcBef>
                <a:spcPts val="300"/>
              </a:spcBef>
            </a:pPr>
            <a:r>
              <a:rPr sz="1150">
                <a:solidFill>
                  <a:srgbClr val="111827"/>
                </a:solidFill>
                <a:latin typeface="Microsoft YaHei"/>
                <a:ea typeface="Microsoft YaHei"/>
                <a:cs typeface="Microsoft YaHei"/>
              </a:rPr>
              <a:t>逻辑准入与控制</a:t>
            </a:r>
          </a:p>
          <a:p>
            <a:pPr algn="l">
              <a:lnSpc>
                <a:spcPct val="114000"/>
              </a:lnSpc>
              <a:spcBef>
                <a:spcPts val="300"/>
              </a:spcBef>
            </a:pPr>
            <a:r>
              <a:rPr sz="980">
                <a:solidFill>
                  <a:srgbClr val="111827"/>
                </a:solidFill>
                <a:latin typeface="Microsoft YaHei"/>
                <a:ea typeface="Microsoft YaHei"/>
                <a:cs typeface="Microsoft YaHei"/>
              </a:rPr>
              <a:t>把请求 + 激活 bundle 编译为解析后契约</a:t>
            </a:r>
          </a:p>
          <a:p>
            <a:pPr algn="l">
              <a:lnSpc>
                <a:spcPct val="114000"/>
              </a:lnSpc>
              <a:spcBef>
                <a:spcPts val="300"/>
              </a:spcBef>
            </a:pPr>
            <a:r>
              <a:rPr sz="980">
                <a:solidFill>
                  <a:srgbClr val="111827"/>
                </a:solidFill>
                <a:latin typeface="Microsoft YaHei"/>
                <a:ea typeface="Microsoft YaHei"/>
                <a:cs typeface="Microsoft YaHei"/>
              </a:rPr>
              <a:t>路径构造、schema 校验、策略求值、</a:t>
            </a:r>
          </a:p>
          <a:p>
            <a:pPr algn="l">
              <a:lnSpc>
                <a:spcPct val="114000"/>
              </a:lnSpc>
              <a:spcBef>
                <a:spcPts val="300"/>
              </a:spcBef>
            </a:pPr>
            <a:r>
              <a:rPr sz="980">
                <a:solidFill>
                  <a:srgbClr val="111827"/>
                </a:solidFill>
                <a:latin typeface="Microsoft YaHei"/>
                <a:ea typeface="Microsoft YaHei"/>
                <a:cs typeface="Microsoft YaHei"/>
              </a:rPr>
              <a:t>效果授权、预算、版本身份、证据义务</a:t>
            </a:r>
          </a:p>
        </p:txBody>
      </p:sp>
      <p:sp>
        <p:nvSpPr>
          <p:cNvPr id="8" name="Rounded Rectangle 7"/>
          <p:cNvSpPr/>
          <p:nvPr/>
        </p:nvSpPr>
        <p:spPr>
          <a:xfrm>
            <a:off x="6236208" y="1664208"/>
            <a:ext cx="2688336" cy="301752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700" b="1">
                <a:solidFill>
                  <a:srgbClr val="C2410C"/>
                </a:solidFill>
                <a:latin typeface="Microsoft YaHei"/>
                <a:ea typeface="Microsoft YaHei"/>
                <a:cs typeface="Microsoft YaHei"/>
              </a:rPr>
              <a:t>Scaffold</a:t>
            </a:r>
          </a:p>
          <a:p>
            <a:pPr algn="l">
              <a:lnSpc>
                <a:spcPct val="114000"/>
              </a:lnSpc>
              <a:spcBef>
                <a:spcPts val="300"/>
              </a:spcBef>
            </a:pPr>
            <a:r>
              <a:rPr sz="1150">
                <a:solidFill>
                  <a:srgbClr val="111827"/>
                </a:solidFill>
                <a:latin typeface="Microsoft YaHei"/>
                <a:ea typeface="Microsoft YaHei"/>
                <a:cs typeface="Microsoft YaHei"/>
              </a:rPr>
              <a:t>物理执行与隔离</a:t>
            </a:r>
          </a:p>
          <a:p>
            <a:pPr algn="l">
              <a:lnSpc>
                <a:spcPct val="114000"/>
              </a:lnSpc>
              <a:spcBef>
                <a:spcPts val="300"/>
              </a:spcBef>
            </a:pPr>
            <a:r>
              <a:rPr sz="980">
                <a:solidFill>
                  <a:srgbClr val="111827"/>
                </a:solidFill>
                <a:latin typeface="Microsoft YaHei"/>
                <a:ea typeface="Microsoft YaHei"/>
                <a:cs typeface="Microsoft YaHei"/>
              </a:rPr>
              <a:t>算力、进程/容器边界、网络与数据局部性、</a:t>
            </a:r>
          </a:p>
          <a:p>
            <a:pPr algn="l">
              <a:lnSpc>
                <a:spcPct val="114000"/>
              </a:lnSpc>
              <a:spcBef>
                <a:spcPts val="300"/>
              </a:spcBef>
            </a:pPr>
            <a:r>
              <a:rPr sz="980">
                <a:solidFill>
                  <a:srgbClr val="111827"/>
                </a:solidFill>
                <a:latin typeface="Microsoft YaHei"/>
                <a:ea typeface="Microsoft YaHei"/>
                <a:cs typeface="Microsoft YaHei"/>
              </a:rPr>
              <a:t>运行时身份、资源计量、排队、故障隔离、attestation</a:t>
            </a:r>
          </a:p>
          <a:p>
            <a:pPr algn="l">
              <a:lnSpc>
                <a:spcPct val="114000"/>
              </a:lnSpc>
              <a:spcBef>
                <a:spcPts val="300"/>
              </a:spcBef>
            </a:pPr>
            <a:r>
              <a:rPr sz="980">
                <a:solidFill>
                  <a:srgbClr val="111827"/>
                </a:solidFill>
                <a:latin typeface="Microsoft YaHei"/>
                <a:ea typeface="Microsoft YaHei"/>
                <a:cs typeface="Microsoft YaHei"/>
              </a:rPr>
              <a:t>向 Harness 暴露资源事实，不重解释任务目标</a:t>
            </a:r>
          </a:p>
        </p:txBody>
      </p:sp>
      <p:sp>
        <p:nvSpPr>
          <p:cNvPr id="9" name="Rounded Rectangle 8"/>
          <p:cNvSpPr/>
          <p:nvPr/>
        </p:nvSpPr>
        <p:spPr>
          <a:xfrm>
            <a:off x="9070848" y="1664208"/>
            <a:ext cx="2688336" cy="3017520"/>
          </a:xfrm>
          <a:prstGeom prst="roundRect">
            <a:avLst>
              <a:gd name="adj" fmla="val 6000"/>
            </a:avLst>
          </a:prstGeom>
          <a:solidFill>
            <a:srgbClr val="ECFDF5"/>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700" b="1">
                <a:solidFill>
                  <a:srgbClr val="047857"/>
                </a:solidFill>
                <a:latin typeface="Microsoft YaHei"/>
                <a:ea typeface="Microsoft YaHei"/>
                <a:cs typeface="Microsoft YaHei"/>
              </a:rPr>
              <a:t>外置数据底座</a:t>
            </a:r>
          </a:p>
          <a:p>
            <a:pPr algn="l">
              <a:lnSpc>
                <a:spcPct val="114000"/>
              </a:lnSpc>
              <a:spcBef>
                <a:spcPts val="300"/>
              </a:spcBef>
            </a:pPr>
            <a:r>
              <a:rPr sz="1150">
                <a:solidFill>
                  <a:srgbClr val="111827"/>
                </a:solidFill>
                <a:latin typeface="Microsoft YaHei"/>
                <a:ea typeface="Microsoft YaHei"/>
                <a:cs typeface="Microsoft YaHei"/>
              </a:rPr>
              <a:t>权威语义与快照</a:t>
            </a:r>
          </a:p>
          <a:p>
            <a:pPr algn="l">
              <a:lnSpc>
                <a:spcPct val="114000"/>
              </a:lnSpc>
              <a:spcBef>
                <a:spcPts val="300"/>
              </a:spcBef>
            </a:pPr>
            <a:r>
              <a:rPr sz="980">
                <a:solidFill>
                  <a:srgbClr val="111827"/>
                </a:solidFill>
                <a:latin typeface="Microsoft YaHei"/>
                <a:ea typeface="Microsoft YaHei"/>
                <a:cs typeface="Microsoft YaHei"/>
              </a:rPr>
              <a:t>来源权威、语义定义、快照、血缘、</a:t>
            </a:r>
          </a:p>
          <a:p>
            <a:pPr algn="l">
              <a:lnSpc>
                <a:spcPct val="114000"/>
              </a:lnSpc>
              <a:spcBef>
                <a:spcPts val="300"/>
              </a:spcBef>
            </a:pPr>
            <a:r>
              <a:rPr sz="980">
                <a:solidFill>
                  <a:srgbClr val="111827"/>
                </a:solidFill>
                <a:latin typeface="Microsoft YaHei"/>
                <a:ea typeface="Microsoft YaHei"/>
                <a:cs typeface="Microsoft YaHei"/>
              </a:rPr>
              <a:t>凭证、留存、策略相关数据事实</a:t>
            </a:r>
          </a:p>
          <a:p>
            <a:pPr algn="l">
              <a:lnSpc>
                <a:spcPct val="114000"/>
              </a:lnSpc>
              <a:spcBef>
                <a:spcPts val="300"/>
              </a:spcBef>
            </a:pPr>
            <a:r>
              <a:rPr sz="980">
                <a:solidFill>
                  <a:srgbClr val="111827"/>
                </a:solidFill>
                <a:latin typeface="Microsoft YaHei"/>
                <a:ea typeface="Microsoft YaHei"/>
                <a:cs typeface="Microsoft YaHei"/>
              </a:rPr>
              <a:t>既不是隐藏的 Scaffold 库，也不是 Skill 私有缓存</a:t>
            </a:r>
          </a:p>
        </p:txBody>
      </p:sp>
      <p:sp>
        <p:nvSpPr>
          <p:cNvPr id="10" name="Rounded Rectangle 9"/>
          <p:cNvSpPr/>
          <p:nvPr/>
        </p:nvSpPr>
        <p:spPr>
          <a:xfrm>
            <a:off x="566928" y="4882896"/>
            <a:ext cx="11064240" cy="100584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一个实现可以把多个对象合并，但它的测量仍必须区分**逻辑准入、物理执行、数据权威**三者。</a:t>
            </a:r>
          </a:p>
          <a:p>
            <a:pPr algn="l">
              <a:lnSpc>
                <a:spcPct val="114000"/>
              </a:lnSpc>
              <a:spcBef>
                <a:spcPts val="300"/>
              </a:spcBef>
            </a:pPr>
            <a:r>
              <a:rPr sz="1050">
                <a:solidFill>
                  <a:srgbClr val="111827"/>
                </a:solidFill>
                <a:latin typeface="Microsoft YaHei"/>
                <a:ea typeface="Microsoft YaHei"/>
                <a:cs typeface="Microsoft YaHei"/>
              </a:rPr>
              <a:t>信息隐藏只在被隐藏的决策拥有显式接口与归属时才有价值（Parnas 1972）。</a:t>
            </a:r>
          </a:p>
        </p:txBody>
      </p:sp>
      <p:sp>
        <p:nvSpPr>
          <p:cNvPr id="11" name="TextBox 10"/>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契约元组本版统一为 C=⟨I,O,G,A,B,V⟩（原企业篇 ⟨I,O,G,B,E,T⟩ 已废弃）</a:t>
            </a:r>
          </a:p>
        </p:txBody>
      </p:sp>
      <p:sp>
        <p:nvSpPr>
          <p:cNvPr id="12" name="TextBox 11"/>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契约边界：C = ⟨I, O, G, A, B, V⟩</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解析后契约是可检查的最小单元；每个字段可独立被拒</a:t>
            </a:r>
          </a:p>
        </p:txBody>
      </p:sp>
      <p:sp>
        <p:nvSpPr>
          <p:cNvPr id="4" name="Rounded Rectangle 3"/>
          <p:cNvSpPr/>
          <p:nvPr/>
        </p:nvSpPr>
        <p:spPr>
          <a:xfrm>
            <a:off x="10824667" y="402336"/>
            <a:ext cx="800100"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R2 统一</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82496"/>
            <a:ext cx="1783080" cy="146304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2200" b="1">
                <a:solidFill>
                  <a:srgbClr val="5B21B6"/>
                </a:solidFill>
                <a:latin typeface="Microsoft YaHei"/>
                <a:ea typeface="Microsoft YaHei"/>
                <a:cs typeface="Microsoft YaHei"/>
              </a:rPr>
              <a:t>I</a:t>
            </a:r>
          </a:p>
          <a:p>
            <a:pPr algn="l">
              <a:lnSpc>
                <a:spcPct val="114000"/>
              </a:lnSpc>
              <a:spcBef>
                <a:spcPts val="300"/>
              </a:spcBef>
            </a:pPr>
            <a:r>
              <a:rPr sz="1100">
                <a:solidFill>
                  <a:srgbClr val="111827"/>
                </a:solidFill>
                <a:latin typeface="Microsoft YaHei"/>
                <a:ea typeface="Microsoft YaHei"/>
                <a:cs typeface="Microsoft YaHei"/>
              </a:rPr>
              <a:t>类型化输入</a:t>
            </a:r>
          </a:p>
          <a:p>
            <a:pPr algn="l">
              <a:lnSpc>
                <a:spcPct val="114000"/>
              </a:lnSpc>
              <a:spcBef>
                <a:spcPts val="300"/>
              </a:spcBef>
            </a:pPr>
            <a:r>
              <a:rPr sz="919">
                <a:solidFill>
                  <a:srgbClr val="111827"/>
                </a:solidFill>
                <a:latin typeface="Microsoft YaHei"/>
                <a:ea typeface="Microsoft YaHei"/>
                <a:cs typeface="Microsoft YaHei"/>
              </a:rPr>
              <a:t>字段、取值、容差、口径</a:t>
            </a:r>
          </a:p>
        </p:txBody>
      </p:sp>
      <p:sp>
        <p:nvSpPr>
          <p:cNvPr id="7" name="Rounded Rectangle 6"/>
          <p:cNvSpPr/>
          <p:nvPr/>
        </p:nvSpPr>
        <p:spPr>
          <a:xfrm>
            <a:off x="2421331" y="1682496"/>
            <a:ext cx="1783080" cy="146304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2200" b="1">
                <a:solidFill>
                  <a:srgbClr val="5B21B6"/>
                </a:solidFill>
                <a:latin typeface="Microsoft YaHei"/>
                <a:ea typeface="Microsoft YaHei"/>
                <a:cs typeface="Microsoft YaHei"/>
              </a:rPr>
              <a:t>O</a:t>
            </a:r>
          </a:p>
          <a:p>
            <a:pPr algn="l">
              <a:lnSpc>
                <a:spcPct val="114000"/>
              </a:lnSpc>
              <a:spcBef>
                <a:spcPts val="300"/>
              </a:spcBef>
            </a:pPr>
            <a:r>
              <a:rPr sz="1100">
                <a:solidFill>
                  <a:srgbClr val="111827"/>
                </a:solidFill>
                <a:latin typeface="Microsoft YaHei"/>
                <a:ea typeface="Microsoft YaHei"/>
                <a:cs typeface="Microsoft YaHei"/>
              </a:rPr>
              <a:t>类型化输出</a:t>
            </a:r>
          </a:p>
          <a:p>
            <a:pPr algn="l">
              <a:lnSpc>
                <a:spcPct val="114000"/>
              </a:lnSpc>
              <a:spcBef>
                <a:spcPts val="300"/>
              </a:spcBef>
            </a:pPr>
            <a:r>
              <a:rPr sz="919">
                <a:solidFill>
                  <a:srgbClr val="111827"/>
                </a:solidFill>
                <a:latin typeface="Microsoft YaHei"/>
                <a:ea typeface="Microsoft YaHei"/>
                <a:cs typeface="Microsoft YaHei"/>
              </a:rPr>
              <a:t>结果子域 σ_out、schema</a:t>
            </a:r>
          </a:p>
        </p:txBody>
      </p:sp>
      <p:sp>
        <p:nvSpPr>
          <p:cNvPr id="8" name="Rounded Rectangle 7"/>
          <p:cNvSpPr/>
          <p:nvPr/>
        </p:nvSpPr>
        <p:spPr>
          <a:xfrm>
            <a:off x="4275734" y="1682496"/>
            <a:ext cx="1783080" cy="146304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2200" b="1">
                <a:solidFill>
                  <a:srgbClr val="5B21B6"/>
                </a:solidFill>
                <a:latin typeface="Microsoft YaHei"/>
                <a:ea typeface="Microsoft YaHei"/>
                <a:cs typeface="Microsoft YaHei"/>
              </a:rPr>
              <a:t>G</a:t>
            </a:r>
          </a:p>
          <a:p>
            <a:pPr algn="l">
              <a:lnSpc>
                <a:spcPct val="114000"/>
              </a:lnSpc>
              <a:spcBef>
                <a:spcPts val="300"/>
              </a:spcBef>
            </a:pPr>
            <a:r>
              <a:rPr sz="1100">
                <a:solidFill>
                  <a:srgbClr val="111827"/>
                </a:solidFill>
                <a:latin typeface="Microsoft YaHei"/>
                <a:ea typeface="Microsoft YaHei"/>
                <a:cs typeface="Microsoft YaHei"/>
              </a:rPr>
              <a:t>激活图</a:t>
            </a:r>
          </a:p>
          <a:p>
            <a:pPr algn="l">
              <a:lnSpc>
                <a:spcPct val="114000"/>
              </a:lnSpc>
              <a:spcBef>
                <a:spcPts val="300"/>
              </a:spcBef>
            </a:pPr>
            <a:r>
              <a:rPr sz="919">
                <a:solidFill>
                  <a:srgbClr val="111827"/>
                </a:solidFill>
                <a:latin typeface="Microsoft YaHei"/>
                <a:ea typeface="Microsoft YaHei"/>
                <a:cs typeface="Microsoft YaHei"/>
              </a:rPr>
              <a:t>节点与边、类型化衔接</a:t>
            </a:r>
          </a:p>
        </p:txBody>
      </p:sp>
      <p:sp>
        <p:nvSpPr>
          <p:cNvPr id="9" name="Rounded Rectangle 8"/>
          <p:cNvSpPr/>
          <p:nvPr/>
        </p:nvSpPr>
        <p:spPr>
          <a:xfrm>
            <a:off x="6130137" y="1682496"/>
            <a:ext cx="1783080" cy="146304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2200" b="1">
                <a:solidFill>
                  <a:srgbClr val="5B21B6"/>
                </a:solidFill>
                <a:latin typeface="Microsoft YaHei"/>
                <a:ea typeface="Microsoft YaHei"/>
                <a:cs typeface="Microsoft YaHei"/>
              </a:rPr>
              <a:t>A</a:t>
            </a:r>
          </a:p>
          <a:p>
            <a:pPr algn="l">
              <a:lnSpc>
                <a:spcPct val="114000"/>
              </a:lnSpc>
              <a:spcBef>
                <a:spcPts val="300"/>
              </a:spcBef>
            </a:pPr>
            <a:r>
              <a:rPr sz="1100">
                <a:solidFill>
                  <a:srgbClr val="111827"/>
                </a:solidFill>
                <a:latin typeface="Microsoft YaHei"/>
                <a:ea typeface="Microsoft YaHei"/>
                <a:cs typeface="Microsoft YaHei"/>
              </a:rPr>
              <a:t>授权与效果集</a:t>
            </a:r>
          </a:p>
          <a:p>
            <a:pPr algn="l">
              <a:lnSpc>
                <a:spcPct val="114000"/>
              </a:lnSpc>
              <a:spcBef>
                <a:spcPts val="300"/>
              </a:spcBef>
            </a:pPr>
            <a:r>
              <a:rPr sz="919">
                <a:solidFill>
                  <a:srgbClr val="111827"/>
                </a:solidFill>
                <a:latin typeface="Microsoft YaHei"/>
                <a:ea typeface="Microsoft YaHei"/>
                <a:cs typeface="Microsoft YaHei"/>
              </a:rPr>
              <a:t>authority、effects、证据义务</a:t>
            </a:r>
          </a:p>
        </p:txBody>
      </p:sp>
      <p:sp>
        <p:nvSpPr>
          <p:cNvPr id="10" name="Rounded Rectangle 9"/>
          <p:cNvSpPr/>
          <p:nvPr/>
        </p:nvSpPr>
        <p:spPr>
          <a:xfrm>
            <a:off x="7984540" y="1682496"/>
            <a:ext cx="1783080" cy="146304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2200" b="1">
                <a:solidFill>
                  <a:srgbClr val="5B21B6"/>
                </a:solidFill>
                <a:latin typeface="Microsoft YaHei"/>
                <a:ea typeface="Microsoft YaHei"/>
                <a:cs typeface="Microsoft YaHei"/>
              </a:rPr>
              <a:t>B</a:t>
            </a:r>
          </a:p>
          <a:p>
            <a:pPr algn="l">
              <a:lnSpc>
                <a:spcPct val="114000"/>
              </a:lnSpc>
              <a:spcBef>
                <a:spcPts val="300"/>
              </a:spcBef>
            </a:pPr>
            <a:r>
              <a:rPr sz="1100">
                <a:solidFill>
                  <a:srgbClr val="111827"/>
                </a:solidFill>
                <a:latin typeface="Microsoft YaHei"/>
                <a:ea typeface="Microsoft YaHei"/>
                <a:cs typeface="Microsoft YaHei"/>
              </a:rPr>
              <a:t>预算与绑定</a:t>
            </a:r>
          </a:p>
          <a:p>
            <a:pPr algn="l">
              <a:lnSpc>
                <a:spcPct val="114000"/>
              </a:lnSpc>
              <a:spcBef>
                <a:spcPts val="300"/>
              </a:spcBef>
            </a:pPr>
            <a:r>
              <a:rPr sz="919">
                <a:solidFill>
                  <a:srgbClr val="111827"/>
                </a:solidFill>
                <a:latin typeface="Microsoft YaHei"/>
                <a:ea typeface="Microsoft YaHei"/>
                <a:cs typeface="Microsoft YaHei"/>
              </a:rPr>
              <a:t>资源类别、上限、并发、隔离、驻留</a:t>
            </a:r>
          </a:p>
        </p:txBody>
      </p:sp>
      <p:sp>
        <p:nvSpPr>
          <p:cNvPr id="11" name="Rounded Rectangle 10"/>
          <p:cNvSpPr/>
          <p:nvPr/>
        </p:nvSpPr>
        <p:spPr>
          <a:xfrm>
            <a:off x="9838943" y="1682496"/>
            <a:ext cx="1783080" cy="146304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2200" b="1">
                <a:solidFill>
                  <a:srgbClr val="5B21B6"/>
                </a:solidFill>
                <a:latin typeface="Microsoft YaHei"/>
                <a:ea typeface="Microsoft YaHei"/>
                <a:cs typeface="Microsoft YaHei"/>
              </a:rPr>
              <a:t>V</a:t>
            </a:r>
          </a:p>
          <a:p>
            <a:pPr algn="l">
              <a:lnSpc>
                <a:spcPct val="114000"/>
              </a:lnSpc>
              <a:spcBef>
                <a:spcPts val="300"/>
              </a:spcBef>
            </a:pPr>
            <a:r>
              <a:rPr sz="1100">
                <a:solidFill>
                  <a:srgbClr val="111827"/>
                </a:solidFill>
                <a:latin typeface="Microsoft YaHei"/>
                <a:ea typeface="Microsoft YaHei"/>
                <a:cs typeface="Microsoft YaHei"/>
              </a:rPr>
              <a:t>版本钉定</a:t>
            </a:r>
          </a:p>
          <a:p>
            <a:pPr algn="l">
              <a:lnSpc>
                <a:spcPct val="114000"/>
              </a:lnSpc>
              <a:spcBef>
                <a:spcPts val="300"/>
              </a:spcBef>
            </a:pPr>
            <a:r>
              <a:rPr sz="919">
                <a:solidFill>
                  <a:srgbClr val="111827"/>
                </a:solidFill>
                <a:latin typeface="Microsoft YaHei"/>
                <a:ea typeface="Microsoft YaHei"/>
                <a:cs typeface="Microsoft YaHei"/>
              </a:rPr>
              <a:t>policy / model / data / verifier / trace</a:t>
            </a:r>
          </a:p>
        </p:txBody>
      </p:sp>
      <p:sp>
        <p:nvSpPr>
          <p:cNvPr id="12" name="Rounded Rectangle 11"/>
          <p:cNvSpPr/>
          <p:nvPr/>
        </p:nvSpPr>
        <p:spPr>
          <a:xfrm>
            <a:off x="566928" y="3346704"/>
            <a:ext cx="5413248" cy="1353312"/>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374151"/>
                </a:solidFill>
                <a:latin typeface="Microsoft YaHei"/>
                <a:ea typeface="Microsoft YaHei"/>
                <a:cs typeface="Microsoft YaHei"/>
              </a:rPr>
              <a:t>为什么这是关键</a:t>
            </a:r>
          </a:p>
          <a:p>
            <a:pPr algn="l">
              <a:lnSpc>
                <a:spcPct val="114000"/>
              </a:lnSpc>
              <a:spcBef>
                <a:spcPts val="300"/>
              </a:spcBef>
            </a:pPr>
            <a:r>
              <a:rPr sz="1050">
                <a:solidFill>
                  <a:srgbClr val="111827"/>
                </a:solidFill>
                <a:latin typeface="Microsoft YaHei"/>
                <a:ea typeface="Microsoft YaHei"/>
                <a:cs typeface="Microsoft YaHei"/>
              </a:rPr>
              <a:t>契约让**选择性激活**可观测：注册表可以有很多 Skill，</a:t>
            </a:r>
          </a:p>
          <a:p>
            <a:pPr algn="l">
              <a:lnSpc>
                <a:spcPct val="114000"/>
              </a:lnSpc>
              <a:spcBef>
                <a:spcPts val="300"/>
              </a:spcBef>
            </a:pPr>
            <a:r>
              <a:rPr sz="1050">
                <a:solidFill>
                  <a:srgbClr val="111827"/>
                </a:solidFill>
                <a:latin typeface="Microsoft YaHei"/>
                <a:ea typeface="Microsoft YaHei"/>
                <a:cs typeface="Microsoft YaHei"/>
              </a:rPr>
              <a:t>但只有准入路径上的激活行为改变时 c 才改变。</a:t>
            </a:r>
          </a:p>
          <a:p>
            <a:pPr algn="l">
              <a:lnSpc>
                <a:spcPct val="114000"/>
              </a:lnSpc>
              <a:spcBef>
                <a:spcPts val="300"/>
              </a:spcBef>
            </a:pPr>
            <a:r>
              <a:rPr sz="1050">
                <a:solidFill>
                  <a:srgbClr val="111827"/>
                </a:solidFill>
                <a:latin typeface="Microsoft YaHei"/>
                <a:ea typeface="Microsoft YaHei"/>
                <a:cs typeface="Microsoft YaHei"/>
              </a:rPr>
              <a:t>这防止把注册表基数误当成能力干预，给实验一个稳定的处理身份。</a:t>
            </a:r>
          </a:p>
        </p:txBody>
      </p:sp>
      <p:sp>
        <p:nvSpPr>
          <p:cNvPr id="13" name="Rounded Rectangle 12"/>
          <p:cNvSpPr/>
          <p:nvPr/>
        </p:nvSpPr>
        <p:spPr>
          <a:xfrm>
            <a:off x="6217920" y="3346704"/>
            <a:ext cx="5413248" cy="1353312"/>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991B1B"/>
                </a:solidFill>
                <a:latin typeface="Microsoft YaHei"/>
                <a:ea typeface="Microsoft YaHei"/>
                <a:cs typeface="Microsoft YaHei"/>
              </a:rPr>
              <a:t>规划是概率的，准入不是</a:t>
            </a:r>
          </a:p>
          <a:p>
            <a:pPr algn="l">
              <a:lnSpc>
                <a:spcPct val="114000"/>
              </a:lnSpc>
              <a:spcBef>
                <a:spcPts val="300"/>
              </a:spcBef>
            </a:pPr>
            <a:r>
              <a:rPr sz="1050">
                <a:solidFill>
                  <a:srgbClr val="111827"/>
                </a:solidFill>
                <a:latin typeface="Microsoft YaHei"/>
                <a:ea typeface="Microsoft YaHei"/>
                <a:cs typeface="Microsoft YaHei"/>
              </a:rPr>
              <a:t>Planner / executor 输出是**对授权的请求**，永不是授权本身。</a:t>
            </a:r>
          </a:p>
          <a:p>
            <a:pPr algn="l">
              <a:lnSpc>
                <a:spcPct val="114000"/>
              </a:lnSpc>
              <a:spcBef>
                <a:spcPts val="300"/>
              </a:spcBef>
            </a:pPr>
            <a:r>
              <a:rPr sz="1050">
                <a:solidFill>
                  <a:srgbClr val="111827"/>
                </a:solidFill>
                <a:latin typeface="Microsoft YaHei"/>
                <a:ea typeface="Microsoft YaHei"/>
                <a:cs typeface="Microsoft YaHei"/>
              </a:rPr>
              <a:t>给定固定契约与策略快照，准入决策必须可重放；</a:t>
            </a:r>
          </a:p>
          <a:p>
            <a:pPr algn="l">
              <a:lnSpc>
                <a:spcPct val="114000"/>
              </a:lnSpc>
              <a:spcBef>
                <a:spcPts val="300"/>
              </a:spcBef>
            </a:pPr>
            <a:r>
              <a:rPr sz="1050">
                <a:solidFill>
                  <a:srgbClr val="111827"/>
                </a:solidFill>
                <a:latin typeface="Microsoft YaHei"/>
                <a:ea typeface="Microsoft YaHei"/>
                <a:cs typeface="Microsoft YaHei"/>
              </a:rPr>
              <a:t>计划生成不必可重放。这是应对 prompt injection 的方式 ——</a:t>
            </a:r>
          </a:p>
          <a:p>
            <a:pPr algn="l">
              <a:lnSpc>
                <a:spcPct val="114000"/>
              </a:lnSpc>
              <a:spcBef>
                <a:spcPts val="300"/>
              </a:spcBef>
            </a:pPr>
            <a:r>
              <a:rPr sz="1050">
                <a:solidFill>
                  <a:srgbClr val="111827"/>
                </a:solidFill>
                <a:latin typeface="Microsoft YaHei"/>
                <a:ea typeface="Microsoft YaHei"/>
                <a:cs typeface="Microsoft YaHei"/>
              </a:rPr>
              <a:t>靠契约解析，而不是靠指令过滤。</a:t>
            </a:r>
          </a:p>
        </p:txBody>
      </p:sp>
      <p:sp>
        <p:nvSpPr>
          <p:cNvPr id="14" name="Rounded Rectangle 13"/>
          <p:cNvSpPr/>
          <p:nvPr/>
        </p:nvSpPr>
        <p:spPr>
          <a:xfrm>
            <a:off x="566928" y="4901184"/>
            <a:ext cx="11064240" cy="969264"/>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1E40AF"/>
                </a:solidFill>
                <a:latin typeface="Microsoft YaHei"/>
                <a:ea typeface="Microsoft YaHei"/>
                <a:cs typeface="Microsoft YaHei"/>
              </a:rPr>
              <a:t>有界组合（bounded composition）</a:t>
            </a:r>
          </a:p>
          <a:p>
            <a:pPr algn="l">
              <a:lnSpc>
                <a:spcPct val="114000"/>
              </a:lnSpc>
              <a:spcBef>
                <a:spcPts val="300"/>
              </a:spcBef>
            </a:pPr>
            <a:r>
              <a:rPr sz="1050">
                <a:solidFill>
                  <a:srgbClr val="111827"/>
                </a:solidFill>
                <a:latin typeface="Microsoft YaHei"/>
                <a:ea typeface="Microsoft YaHei"/>
                <a:cs typeface="Microsoft YaHei"/>
              </a:rPr>
              <a:t>运行中的路径发现超出授权的需求时，当前 agent **不就地获得**该授权，而是返回类型化的未满足依赖；</a:t>
            </a:r>
          </a:p>
          <a:p>
            <a:pPr algn="l">
              <a:lnSpc>
                <a:spcPct val="114000"/>
              </a:lnSpc>
              <a:spcBef>
                <a:spcPts val="300"/>
              </a:spcBef>
            </a:pPr>
            <a:r>
              <a:rPr sz="1050">
                <a:solidFill>
                  <a:srgbClr val="111827"/>
                </a:solidFill>
                <a:latin typeface="Microsoft YaHei"/>
                <a:ea typeface="Microsoft YaHei"/>
                <a:cs typeface="Microsoft YaHei"/>
              </a:rPr>
              <a:t>Harness 可解析一个新的有界子 agent 契约并作为子节点准入。终止取决于声明的后置条件，而非模型判断。</a:t>
            </a:r>
          </a:p>
        </p:txBody>
      </p:sp>
      <p:sp>
        <p:nvSpPr>
          <p:cNvPr id="15" name="TextBox 14"/>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
            </a:r>
          </a:p>
        </p:txBody>
      </p:sp>
      <p:sp>
        <p:nvSpPr>
          <p:cNvPr id="16" name="TextBox 15"/>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控制面 / 数据面切分</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画两个面不等于分离了 —— 完整中介与调度独立性义务必须观测每一次穿越</a:t>
            </a:r>
          </a:p>
        </p:txBody>
      </p:sp>
      <p:sp>
        <p:nvSpPr>
          <p:cNvPr id="4" name="Rounded Rectangle 3"/>
          <p:cNvSpPr/>
          <p:nvPr/>
        </p:nvSpPr>
        <p:spPr>
          <a:xfrm>
            <a:off x="11140135" y="402336"/>
            <a:ext cx="484632"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架构</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5413248" cy="219456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5B21B6"/>
                </a:solidFill>
                <a:latin typeface="Microsoft YaHei"/>
                <a:ea typeface="Microsoft YaHei"/>
                <a:cs typeface="Microsoft YaHei"/>
              </a:rPr>
              <a:t>控制面 CP（∝ 状态事件）</a:t>
            </a:r>
          </a:p>
          <a:p>
            <a:pPr algn="l">
              <a:lnSpc>
                <a:spcPct val="114000"/>
              </a:lnSpc>
              <a:spcBef>
                <a:spcPts val="300"/>
              </a:spcBef>
            </a:pPr>
            <a:r>
              <a:rPr sz="1050">
                <a:solidFill>
                  <a:srgbClr val="111827"/>
                </a:solidFill>
                <a:latin typeface="Microsoft YaHei"/>
                <a:ea typeface="Microsoft YaHei"/>
                <a:cs typeface="Microsoft YaHei"/>
              </a:rPr>
              <a:t>注册表、策略、准入、放置逻辑</a:t>
            </a:r>
          </a:p>
          <a:p>
            <a:pPr algn="l">
              <a:lnSpc>
                <a:spcPct val="114000"/>
              </a:lnSpc>
              <a:spcBef>
                <a:spcPts val="300"/>
              </a:spcBef>
            </a:pPr>
            <a:r>
              <a:rPr sz="1050">
                <a:solidFill>
                  <a:srgbClr val="111827"/>
                </a:solidFill>
                <a:latin typeface="Microsoft YaHei"/>
                <a:ea typeface="Microsoft YaHei"/>
                <a:cs typeface="Microsoft YaHei"/>
              </a:rPr>
              <a:t>契约翻译、路由、维护子系统触发、不变量执行</a:t>
            </a:r>
          </a:p>
          <a:p>
            <a:pPr algn="l">
              <a:lnSpc>
                <a:spcPct val="114000"/>
              </a:lnSpc>
              <a:spcBef>
                <a:spcPts val="300"/>
              </a:spcBef>
            </a:pPr>
            <a:r>
              <a:rPr sz="1050">
                <a:solidFill>
                  <a:srgbClr val="111827"/>
                </a:solidFill>
                <a:latin typeface="Microsoft YaHei"/>
                <a:ea typeface="Microsoft YaHei"/>
                <a:cs typeface="Microsoft YaHei"/>
              </a:rPr>
              <a:t>与业务流量解耦：QPS 上升不应同比抬高控制开销</a:t>
            </a:r>
          </a:p>
        </p:txBody>
      </p:sp>
      <p:sp>
        <p:nvSpPr>
          <p:cNvPr id="7" name="Rounded Rectangle 6"/>
          <p:cNvSpPr/>
          <p:nvPr/>
        </p:nvSpPr>
        <p:spPr>
          <a:xfrm>
            <a:off x="6217920" y="1664208"/>
            <a:ext cx="5413248" cy="219456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C2410C"/>
                </a:solidFill>
                <a:latin typeface="Microsoft YaHei"/>
                <a:ea typeface="Microsoft YaHei"/>
                <a:cs typeface="Microsoft YaHei"/>
              </a:rPr>
              <a:t>数据面 DP（∝ token 流量）</a:t>
            </a:r>
          </a:p>
          <a:p>
            <a:pPr algn="l">
              <a:lnSpc>
                <a:spcPct val="114000"/>
              </a:lnSpc>
              <a:spcBef>
                <a:spcPts val="300"/>
              </a:spcBef>
            </a:pPr>
            <a:r>
              <a:rPr sz="1050">
                <a:solidFill>
                  <a:srgbClr val="111827"/>
                </a:solidFill>
                <a:latin typeface="Microsoft YaHei"/>
                <a:ea typeface="Microsoft YaHei"/>
                <a:cs typeface="Microsoft YaHei"/>
              </a:rPr>
              <a:t>只接收解析后契约，执行已准入的工作</a:t>
            </a:r>
          </a:p>
          <a:p>
            <a:pPr algn="l">
              <a:lnSpc>
                <a:spcPct val="114000"/>
              </a:lnSpc>
              <a:spcBef>
                <a:spcPts val="300"/>
              </a:spcBef>
            </a:pPr>
            <a:r>
              <a:rPr sz="1050">
                <a:solidFill>
                  <a:srgbClr val="111827"/>
                </a:solidFill>
                <a:latin typeface="Microsoft YaHei"/>
                <a:ea typeface="Microsoft YaHei"/>
                <a:cs typeface="Microsoft YaHei"/>
              </a:rPr>
              <a:t>sandbox 计算、serving 前向、工具执行流</a:t>
            </a:r>
          </a:p>
          <a:p>
            <a:pPr algn="l">
              <a:lnSpc>
                <a:spcPct val="114000"/>
              </a:lnSpc>
              <a:spcBef>
                <a:spcPts val="300"/>
              </a:spcBef>
            </a:pPr>
            <a:r>
              <a:rPr sz="1050">
                <a:solidFill>
                  <a:srgbClr val="111827"/>
                </a:solidFill>
                <a:latin typeface="Microsoft YaHei"/>
                <a:ea typeface="Microsoft YaHei"/>
                <a:cs typeface="Microsoft YaHei"/>
              </a:rPr>
              <a:t>控制规则复杂化不应抬高每请求 token 成本</a:t>
            </a:r>
          </a:p>
        </p:txBody>
      </p:sp>
      <p:sp>
        <p:nvSpPr>
          <p:cNvPr id="8" name="Rounded Rectangle 7"/>
          <p:cNvSpPr/>
          <p:nvPr/>
        </p:nvSpPr>
        <p:spPr>
          <a:xfrm>
            <a:off x="566928" y="4041648"/>
            <a:ext cx="11064240" cy="100584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991B1B"/>
                </a:solidFill>
                <a:latin typeface="Microsoft YaHei"/>
                <a:ea typeface="Microsoft YaHei"/>
                <a:cs typeface="Microsoft YaHei"/>
              </a:rPr>
              <a:t>概率性控制面 —— 与经典 SDN/K8s 的真正差异</a:t>
            </a:r>
          </a:p>
          <a:p>
            <a:pPr algn="l">
              <a:lnSpc>
                <a:spcPct val="114000"/>
              </a:lnSpc>
              <a:spcBef>
                <a:spcPts val="300"/>
              </a:spcBef>
            </a:pPr>
            <a:r>
              <a:rPr sz="1050">
                <a:solidFill>
                  <a:srgbClr val="111827"/>
                </a:solidFill>
                <a:latin typeface="Microsoft YaHei"/>
                <a:ea typeface="Microsoft YaHei"/>
                <a:cs typeface="Microsoft YaHei"/>
              </a:rPr>
              <a:t>经典控制面是确定性配置下发；本架构控制面部分由 LLM 驱动（契约翻译、反思、tool synthesis），</a:t>
            </a:r>
          </a:p>
          <a:p>
            <a:pPr algn="l">
              <a:lnSpc>
                <a:spcPct val="114000"/>
              </a:lnSpc>
              <a:spcBef>
                <a:spcPts val="300"/>
              </a:spcBef>
            </a:pPr>
            <a:r>
              <a:rPr sz="1050">
                <a:solidFill>
                  <a:srgbClr val="111827"/>
                </a:solidFill>
                <a:latin typeface="Microsoft YaHei"/>
                <a:ea typeface="Microsoft YaHei"/>
                <a:cs typeface="Microsoft YaHei"/>
              </a:rPr>
              <a:t>控制决策本身不确定，因此需要可审计日志 + 不变量执行来约束其不确定性。</a:t>
            </a:r>
          </a:p>
        </p:txBody>
      </p:sp>
      <p:sp>
        <p:nvSpPr>
          <p:cNvPr id="9" name="Rounded Rectangle 8"/>
          <p:cNvSpPr/>
          <p:nvPr/>
        </p:nvSpPr>
        <p:spPr>
          <a:xfrm>
            <a:off x="566928" y="5157216"/>
            <a:ext cx="11064240" cy="786384"/>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可能的再耦合渠道：缓存填充、配额检查、重试控制器、放置提示 —— 任何绕过解析后契约的路径。</a:t>
            </a:r>
          </a:p>
        </p:txBody>
      </p:sp>
      <p:sp>
        <p:nvSpPr>
          <p:cNvPr id="10" name="TextBox 9"/>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
            </a:r>
          </a:p>
        </p:txBody>
      </p:sp>
      <p:sp>
        <p:nvSpPr>
          <p:cNvPr id="11" name="TextBox 10"/>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数据子系统：功能契约 × 存储分层</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两个视角正交 —— 同一套 D₁–D₄ 可在任意记忆层被调用</a:t>
            </a:r>
          </a:p>
        </p:txBody>
      </p:sp>
      <p:sp>
        <p:nvSpPr>
          <p:cNvPr id="4" name="Rounded Rectangle 3"/>
          <p:cNvSpPr/>
          <p:nvPr/>
        </p:nvSpPr>
        <p:spPr>
          <a:xfrm>
            <a:off x="11140135" y="402336"/>
            <a:ext cx="484632"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数据</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5413248" cy="2487168"/>
          </a:xfrm>
          <a:prstGeom prst="roundRect">
            <a:avLst>
              <a:gd name="adj" fmla="val 6000"/>
            </a:avLst>
          </a:prstGeom>
          <a:solidFill>
            <a:srgbClr val="ECFDF5"/>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047857"/>
                </a:solidFill>
                <a:latin typeface="Microsoft YaHei"/>
                <a:ea typeface="Microsoft YaHei"/>
                <a:cs typeface="Microsoft YaHei"/>
              </a:rPr>
              <a:t>功能契约视角 𝒟 = ⟨D₁, D₂, D₃, D₄, Ω⟩</a:t>
            </a:r>
          </a:p>
          <a:p>
            <a:pPr algn="l">
              <a:lnSpc>
                <a:spcPct val="114000"/>
              </a:lnSpc>
              <a:spcBef>
                <a:spcPts val="300"/>
              </a:spcBef>
            </a:pPr>
            <a:r>
              <a:rPr sz="1050">
                <a:solidFill>
                  <a:srgbClr val="111827"/>
                </a:solidFill>
                <a:latin typeface="Microsoft YaHei"/>
                <a:ea typeface="Microsoft YaHei"/>
                <a:cs typeface="Microsoft YaHei"/>
              </a:rPr>
              <a:t>D₁ on-policy 取数 API</a:t>
            </a:r>
          </a:p>
          <a:p>
            <a:pPr algn="l">
              <a:lnSpc>
                <a:spcPct val="114000"/>
              </a:lnSpc>
              <a:spcBef>
                <a:spcPts val="300"/>
              </a:spcBef>
            </a:pPr>
            <a:r>
              <a:rPr sz="1050">
                <a:solidFill>
                  <a:srgbClr val="111827"/>
                </a:solidFill>
                <a:latin typeface="Microsoft YaHei"/>
                <a:ea typeface="Microsoft YaHei"/>
                <a:cs typeface="Microsoft YaHei"/>
              </a:rPr>
              <a:t>D₂ off-policy 语义总结平面（schema-on-read，反 ETL 截断）</a:t>
            </a:r>
          </a:p>
          <a:p>
            <a:pPr algn="l">
              <a:lnSpc>
                <a:spcPct val="114000"/>
              </a:lnSpc>
              <a:spcBef>
                <a:spcPts val="300"/>
              </a:spcBef>
            </a:pPr>
            <a:r>
              <a:rPr sz="1050">
                <a:solidFill>
                  <a:srgbClr val="111827"/>
                </a:solidFill>
                <a:latin typeface="Microsoft YaHei"/>
                <a:ea typeface="Microsoft YaHei"/>
                <a:cs typeface="Microsoft YaHei"/>
              </a:rPr>
              <a:t>D₃ 数据治理 memory（沉淀 per-use-case data-usage skill）</a:t>
            </a:r>
          </a:p>
          <a:p>
            <a:pPr algn="l">
              <a:lnSpc>
                <a:spcPct val="114000"/>
              </a:lnSpc>
              <a:spcBef>
                <a:spcPts val="300"/>
              </a:spcBef>
            </a:pPr>
            <a:r>
              <a:rPr sz="1050">
                <a:solidFill>
                  <a:srgbClr val="111827"/>
                </a:solidFill>
                <a:latin typeface="Microsoft YaHei"/>
                <a:ea typeface="Microsoft YaHei"/>
                <a:cs typeface="Microsoft YaHei"/>
              </a:rPr>
              <a:t>D₄ lifetime 体系（时新性 + 业务口径 + 访问 NFR 预算）</a:t>
            </a:r>
          </a:p>
        </p:txBody>
      </p:sp>
      <p:sp>
        <p:nvSpPr>
          <p:cNvPr id="7" name="Rounded Rectangle 6"/>
          <p:cNvSpPr/>
          <p:nvPr/>
        </p:nvSpPr>
        <p:spPr>
          <a:xfrm>
            <a:off x="6217920" y="1664208"/>
            <a:ext cx="5413248" cy="2487168"/>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1E40AF"/>
                </a:solidFill>
                <a:latin typeface="Microsoft YaHei"/>
                <a:ea typeface="Microsoft YaHei"/>
                <a:cs typeface="Microsoft YaHei"/>
              </a:rPr>
              <a:t>存储分层视角 ℳ = ⟨Raw, Index, Theme⟩</a:t>
            </a:r>
          </a:p>
          <a:p>
            <a:pPr algn="l">
              <a:lnSpc>
                <a:spcPct val="114000"/>
              </a:lnSpc>
              <a:spcBef>
                <a:spcPts val="300"/>
              </a:spcBef>
            </a:pPr>
            <a:r>
              <a:rPr sz="1050">
                <a:solidFill>
                  <a:srgbClr val="111827"/>
                </a:solidFill>
                <a:latin typeface="Microsoft YaHei"/>
                <a:ea typeface="Microsoft YaHei"/>
                <a:cs typeface="Microsoft YaHei"/>
              </a:rPr>
              <a:t>Tier 1 Raw — 物理着陆层，对接 Lakehouse</a:t>
            </a:r>
          </a:p>
          <a:p>
            <a:pPr algn="l">
              <a:lnSpc>
                <a:spcPct val="114000"/>
              </a:lnSpc>
              <a:spcBef>
                <a:spcPts val="300"/>
              </a:spcBef>
            </a:pPr>
            <a:r>
              <a:rPr sz="1050">
                <a:solidFill>
                  <a:srgbClr val="111827"/>
                </a:solidFill>
                <a:latin typeface="Microsoft YaHei"/>
                <a:ea typeface="Microsoft YaHei"/>
                <a:cs typeface="Microsoft YaHei"/>
              </a:rPr>
              <a:t>Tier 2 Index — 语义编译层，OPIC 离线集群自底向上构建</a:t>
            </a:r>
          </a:p>
          <a:p>
            <a:pPr algn="l">
              <a:lnSpc>
                <a:spcPct val="114000"/>
              </a:lnSpc>
              <a:spcBef>
                <a:spcPts val="300"/>
              </a:spcBef>
            </a:pPr>
            <a:r>
              <a:rPr sz="1050">
                <a:solidFill>
                  <a:srgbClr val="111827"/>
                </a:solidFill>
                <a:latin typeface="Microsoft YaHei"/>
                <a:ea typeface="Microsoft YaHei"/>
                <a:cs typeface="Microsoft YaHei"/>
              </a:rPr>
              <a:t>Tier 3 Theme — 经验沉淀层，自顶向下记录“数据被怎么用”</a:t>
            </a:r>
          </a:p>
          <a:p>
            <a:pPr algn="l">
              <a:lnSpc>
                <a:spcPct val="114000"/>
              </a:lnSpc>
              <a:spcBef>
                <a:spcPts val="300"/>
              </a:spcBef>
            </a:pPr>
            <a:r>
              <a:rPr sz="1050">
                <a:solidFill>
                  <a:srgbClr val="111827"/>
                </a:solidFill>
                <a:latin typeface="Microsoft YaHei"/>
                <a:ea typeface="Microsoft YaHei"/>
                <a:cs typeface="Microsoft YaHei"/>
              </a:rPr>
              <a:t>Theme 是纯控制面：决定怎么取数，不搬运数据 → 支持平面分离</a:t>
            </a:r>
          </a:p>
        </p:txBody>
      </p:sp>
      <p:sp>
        <p:nvSpPr>
          <p:cNvPr id="8" name="Rounded Rectangle 7"/>
          <p:cNvSpPr/>
          <p:nvPr/>
        </p:nvSpPr>
        <p:spPr>
          <a:xfrm>
            <a:off x="566928" y="4315968"/>
            <a:ext cx="11064240" cy="932688"/>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5B21B6"/>
                </a:solidFill>
                <a:latin typeface="Microsoft YaHei"/>
                <a:ea typeface="Microsoft YaHei"/>
                <a:cs typeface="Microsoft YaHei"/>
              </a:rPr>
              <a:t>IR 中间关系层 + 5W1H+Which 七维</a:t>
            </a:r>
          </a:p>
          <a:p>
            <a:pPr algn="l">
              <a:lnSpc>
                <a:spcPct val="114000"/>
              </a:lnSpc>
              <a:spcBef>
                <a:spcPts val="300"/>
              </a:spcBef>
            </a:pPr>
            <a:r>
              <a:rPr sz="1050">
                <a:solidFill>
                  <a:srgbClr val="111827"/>
                </a:solidFill>
                <a:latin typeface="Microsoft YaHei"/>
                <a:ea typeface="Microsoft YaHei"/>
                <a:cs typeface="Microsoft YaHei"/>
              </a:rPr>
              <a:t>把契约映射里含糊的 “plan” 步骤实体化为 theme → 数据源集合的显式关系记录；</a:t>
            </a:r>
          </a:p>
          <a:p>
            <a:pPr algn="l">
              <a:lnSpc>
                <a:spcPct val="114000"/>
              </a:lnSpc>
              <a:spcBef>
                <a:spcPts val="300"/>
              </a:spcBef>
            </a:pPr>
            <a:r>
              <a:rPr sz="1050">
                <a:solidFill>
                  <a:srgbClr val="111827"/>
                </a:solidFill>
                <a:latin typeface="Microsoft YaHei"/>
                <a:ea typeface="Microsoft YaHei"/>
                <a:cs typeface="Microsoft YaHei"/>
              </a:rPr>
              <a:t>除 semantic join 命中集外强制携带七维：时效性 / 使用范围 / 数据拥有者 / 数据语义 / 集成逻辑 / 物理访问方式 / 关系上下文（Which）。</a:t>
            </a:r>
          </a:p>
        </p:txBody>
      </p:sp>
      <p:sp>
        <p:nvSpPr>
          <p:cNvPr id="9" name="Rounded Rectangle 8"/>
          <p:cNvSpPr/>
          <p:nvPr/>
        </p:nvSpPr>
        <p:spPr>
          <a:xfrm>
            <a:off x="566928" y="5358384"/>
            <a:ext cx="11064240" cy="658368"/>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编号提示：三阶记忆命题在笔记侧已由 P10–P12 重编为 P18–P20（让位给并行度维度），且**不进正文命题表**。</a:t>
            </a:r>
          </a:p>
        </p:txBody>
      </p:sp>
      <p:sp>
        <p:nvSpPr>
          <p:cNvPr id="10" name="TextBox 9"/>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来源：笔记 06 (v0.2) / 08-数据层修订 / 17-DataWiki-ThemeWiki-IR</a:t>
            </a:r>
          </a:p>
        </p:txBody>
      </p:sp>
      <p:sp>
        <p:nvSpPr>
          <p:cNvPr id="11" name="TextBox 10"/>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六项测量义务</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不是靠检视授予的架构美德，而是每条都有五项必报输出</a:t>
            </a:r>
          </a:p>
        </p:txBody>
      </p:sp>
      <p:sp>
        <p:nvSpPr>
          <p:cNvPr id="4" name="Rounded Rectangle 3"/>
          <p:cNvSpPr/>
          <p:nvPr/>
        </p:nvSpPr>
        <p:spPr>
          <a:xfrm>
            <a:off x="11034979" y="402336"/>
            <a:ext cx="589788"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可证伪</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6903720" cy="603504"/>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typed closure 类型化闭包   —   违规 = 执行或请求了 bundle 之外的操作</a:t>
            </a:r>
          </a:p>
        </p:txBody>
      </p:sp>
      <p:sp>
        <p:nvSpPr>
          <p:cNvPr id="7" name="Rounded Rectangle 6"/>
          <p:cNvSpPr/>
          <p:nvPr/>
        </p:nvSpPr>
        <p:spPr>
          <a:xfrm>
            <a:off x="566928" y="2318004"/>
            <a:ext cx="6903720" cy="603504"/>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complete mediation 完整中介   —   违规 = 调用到达效果边界而无当前契约授权</a:t>
            </a:r>
          </a:p>
        </p:txBody>
      </p:sp>
      <p:sp>
        <p:nvSpPr>
          <p:cNvPr id="8" name="Rounded Rectangle 7"/>
          <p:cNvSpPr/>
          <p:nvPr/>
        </p:nvSpPr>
        <p:spPr>
          <a:xfrm>
            <a:off x="566928" y="2990088"/>
            <a:ext cx="6903720" cy="603504"/>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effect non-interference 效果不干扰   —   违规 = 一次运行改变了另一次的授权效果或语义输入</a:t>
            </a:r>
          </a:p>
        </p:txBody>
      </p:sp>
      <p:sp>
        <p:nvSpPr>
          <p:cNvPr id="9" name="Rounded Rectangle 8"/>
          <p:cNvSpPr/>
          <p:nvPr/>
        </p:nvSpPr>
        <p:spPr>
          <a:xfrm>
            <a:off x="566928" y="3662172"/>
            <a:ext cx="6903720" cy="603504"/>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shared-state isolation 共享状态隔离   —   违规 = 越出契约分区的访问或未声明的争用边</a:t>
            </a:r>
          </a:p>
        </p:txBody>
      </p:sp>
      <p:sp>
        <p:nvSpPr>
          <p:cNvPr id="10" name="Rounded Rectangle 9"/>
          <p:cNvSpPr/>
          <p:nvPr/>
        </p:nvSpPr>
        <p:spPr>
          <a:xfrm>
            <a:off x="566928" y="4334256"/>
            <a:ext cx="6903720" cy="603504"/>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resource invariance 资源不变性   —   违规 = 改变兼容 s 时改变了未声明的语义输入</a:t>
            </a:r>
          </a:p>
        </p:txBody>
      </p:sp>
      <p:sp>
        <p:nvSpPr>
          <p:cNvPr id="11" name="Rounded Rectangle 10"/>
          <p:cNvSpPr/>
          <p:nvPr/>
        </p:nvSpPr>
        <p:spPr>
          <a:xfrm>
            <a:off x="566928" y="5006340"/>
            <a:ext cx="6903720" cy="603504"/>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scheduler independence 调度独立性   —   违规 = 未声明的调度→语义或能力→放置反馈边</a:t>
            </a:r>
          </a:p>
        </p:txBody>
      </p:sp>
      <p:sp>
        <p:nvSpPr>
          <p:cNvPr id="12" name="Rounded Rectangle 11"/>
          <p:cNvSpPr/>
          <p:nvPr/>
        </p:nvSpPr>
        <p:spPr>
          <a:xfrm>
            <a:off x="7699248" y="1645920"/>
            <a:ext cx="3931920" cy="192024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374151"/>
                </a:solidFill>
                <a:latin typeface="Microsoft YaHei"/>
                <a:ea typeface="Microsoft YaHei"/>
                <a:cs typeface="Microsoft YaHei"/>
              </a:rPr>
              <a:t>五项必报输出</a:t>
            </a:r>
          </a:p>
          <a:p>
            <a:pPr algn="l">
              <a:lnSpc>
                <a:spcPct val="114000"/>
              </a:lnSpc>
              <a:spcBef>
                <a:spcPts val="300"/>
              </a:spcBef>
            </a:pPr>
            <a:r>
              <a:rPr sz="1050">
                <a:solidFill>
                  <a:srgbClr val="111827"/>
                </a:solidFill>
                <a:latin typeface="Microsoft YaHei"/>
                <a:ea typeface="Microsoft YaHei"/>
                <a:cs typeface="Microsoft YaHei"/>
              </a:rPr>
              <a:t>① 仪器覆盖率  ② 观测到的违规</a:t>
            </a:r>
          </a:p>
          <a:p>
            <a:pPr algn="l">
              <a:lnSpc>
                <a:spcPct val="114000"/>
              </a:lnSpc>
              <a:spcBef>
                <a:spcPts val="300"/>
              </a:spcBef>
            </a:pPr>
            <a:r>
              <a:rPr sz="1050">
                <a:solidFill>
                  <a:srgbClr val="111827"/>
                </a:solidFill>
                <a:latin typeface="Microsoft YaHei"/>
                <a:ea typeface="Microsoft YaHei"/>
                <a:cs typeface="Microsoft YaHei"/>
              </a:rPr>
              <a:t>③ 不确定性  ④ 执法成本</a:t>
            </a:r>
          </a:p>
          <a:p>
            <a:pPr algn="l">
              <a:lnSpc>
                <a:spcPct val="114000"/>
              </a:lnSpc>
              <a:spcBef>
                <a:spcPts val="300"/>
              </a:spcBef>
            </a:pPr>
            <a:r>
              <a:rPr sz="1050">
                <a:solidFill>
                  <a:srgbClr val="111827"/>
                </a:solidFill>
                <a:latin typeface="Microsoft YaHei"/>
                <a:ea typeface="Microsoft YaHei"/>
                <a:cs typeface="Microsoft YaHei"/>
              </a:rPr>
              <a:t>⑤ 运行域 Ω 的排除项</a:t>
            </a:r>
          </a:p>
        </p:txBody>
      </p:sp>
      <p:sp>
        <p:nvSpPr>
          <p:cNvPr id="13" name="Rounded Rectangle 12"/>
          <p:cNvSpPr/>
          <p:nvPr/>
        </p:nvSpPr>
        <p:spPr>
          <a:xfrm>
            <a:off x="7699248" y="3675887"/>
            <a:ext cx="3931920" cy="1847088"/>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991B1B"/>
                </a:solidFill>
                <a:latin typeface="Microsoft YaHei"/>
                <a:ea typeface="Microsoft YaHei"/>
                <a:cs typeface="Microsoft YaHei"/>
              </a:rPr>
              <a:t>三个预设阈值</a:t>
            </a:r>
          </a:p>
          <a:p>
            <a:pPr algn="l">
              <a:lnSpc>
                <a:spcPct val="114000"/>
              </a:lnSpc>
              <a:spcBef>
                <a:spcPts val="300"/>
              </a:spcBef>
            </a:pPr>
            <a:r>
              <a:rPr sz="1050">
                <a:solidFill>
                  <a:srgbClr val="111827"/>
                </a:solidFill>
                <a:latin typeface="Microsoft YaHei"/>
                <a:ea typeface="Microsoft YaHei"/>
                <a:cs typeface="Microsoft YaHei"/>
              </a:rPr>
              <a:t>覆盖率下限 γ、违规率上限 ν、监测灵敏度下限 η</a:t>
            </a:r>
          </a:p>
          <a:p>
            <a:pPr algn="l">
              <a:lnSpc>
                <a:spcPct val="114000"/>
              </a:lnSpc>
              <a:spcBef>
                <a:spcPts val="300"/>
              </a:spcBef>
            </a:pPr>
            <a:r>
              <a:rPr sz="1050">
                <a:solidFill>
                  <a:srgbClr val="111827"/>
                </a:solidFill>
                <a:latin typeface="Microsoft YaHei"/>
                <a:ea typeface="Microsoft YaHei"/>
                <a:cs typeface="Microsoft YaHei"/>
              </a:rPr>
              <a:t>未覆盖事件一律**按违规计**（保守方向）</a:t>
            </a:r>
          </a:p>
          <a:p>
            <a:pPr algn="l">
              <a:lnSpc>
                <a:spcPct val="114000"/>
              </a:lnSpc>
              <a:spcBef>
                <a:spcPts val="300"/>
              </a:spcBef>
            </a:pPr>
            <a:r>
              <a:rPr sz="1050">
                <a:solidFill>
                  <a:srgbClr val="111827"/>
                </a:solidFill>
                <a:latin typeface="Microsoft YaHei"/>
                <a:ea typeface="Microsoft YaHei"/>
                <a:cs typeface="Microsoft YaHei"/>
              </a:rPr>
              <a:t>盲化诊断注入校准灵敏度；</a:t>
            </a:r>
          </a:p>
          <a:p>
            <a:pPr algn="l">
              <a:lnSpc>
                <a:spcPct val="114000"/>
              </a:lnSpc>
              <a:spcBef>
                <a:spcPts val="300"/>
              </a:spcBef>
            </a:pPr>
            <a:r>
              <a:rPr sz="1050">
                <a:solidFill>
                  <a:srgbClr val="111827"/>
                </a:solidFill>
                <a:latin typeface="Microsoft YaHei"/>
                <a:ea typeface="Microsoft YaHei"/>
                <a:cs typeface="Microsoft YaHei"/>
              </a:rPr>
              <a:t>自报的 Harness trace 不能自证完备</a:t>
            </a:r>
          </a:p>
        </p:txBody>
      </p:sp>
      <p:sp>
        <p:nvSpPr>
          <p:cNvPr id="14" name="TextBox 13"/>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通过六项阈值不证明不存在第七条耦合渠道，只证明预登记威胁模型被测得足够好</a:t>
            </a:r>
          </a:p>
        </p:txBody>
      </p:sp>
      <p:sp>
        <p:nvSpPr>
          <p:cNvPr id="15" name="TextBox 14"/>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Cluster-Period 随机交叉试验</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本版唯一的随机化单位 —— 企业篇原有的 “one independent run” 已删除</a:t>
            </a:r>
          </a:p>
        </p:txBody>
      </p:sp>
      <p:sp>
        <p:nvSpPr>
          <p:cNvPr id="4" name="Rounded Rectangle 3"/>
          <p:cNvSpPr/>
          <p:nvPr/>
        </p:nvSpPr>
        <p:spPr>
          <a:xfrm>
            <a:off x="10824667" y="402336"/>
            <a:ext cx="800100"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R1 统一</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3566160" cy="1975104"/>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5B21B6"/>
                </a:solidFill>
                <a:latin typeface="Microsoft YaHei"/>
                <a:ea typeface="Microsoft YaHei"/>
                <a:cs typeface="Microsoft YaHei"/>
              </a:rPr>
              <a:t>实验单位</a:t>
            </a:r>
          </a:p>
          <a:p>
            <a:pPr algn="l">
              <a:lnSpc>
                <a:spcPct val="114000"/>
              </a:lnSpc>
              <a:spcBef>
                <a:spcPts val="300"/>
              </a:spcBef>
            </a:pPr>
            <a:r>
              <a:rPr sz="1050">
                <a:solidFill>
                  <a:srgbClr val="111827"/>
                </a:solidFill>
                <a:latin typeface="Microsoft YaHei"/>
                <a:ea typeface="Microsoft YaHei"/>
                <a:cs typeface="Microsoft YaHei"/>
              </a:rPr>
              <a:t>cluster-period（system epoch）：</a:t>
            </a:r>
          </a:p>
          <a:p>
            <a:pPr algn="l">
              <a:lnSpc>
                <a:spcPct val="114000"/>
              </a:lnSpc>
              <a:spcBef>
                <a:spcPts val="300"/>
              </a:spcBef>
            </a:pPr>
            <a:r>
              <a:rPr sz="1050">
                <a:solidFill>
                  <a:srgbClr val="111827"/>
                </a:solidFill>
                <a:latin typeface="Microsoft YaHei"/>
                <a:ea typeface="Microsoft YaHei"/>
                <a:cs typeface="Microsoft YaHei"/>
              </a:rPr>
              <a:t>隔离的 worker 池 / 租户分区 / 部署单元，</a:t>
            </a:r>
          </a:p>
          <a:p>
            <a:pPr algn="l">
              <a:lnSpc>
                <a:spcPct val="114000"/>
              </a:lnSpc>
              <a:spcBef>
                <a:spcPts val="300"/>
              </a:spcBef>
            </a:pPr>
            <a:r>
              <a:rPr sz="1050">
                <a:solidFill>
                  <a:srgbClr val="111827"/>
                </a:solidFill>
                <a:latin typeface="Microsoft YaHei"/>
                <a:ea typeface="Microsoft YaHei"/>
                <a:cs typeface="Microsoft YaHei"/>
              </a:rPr>
              <a:t>在一个指派的 (c, s) 下运行固定周期。</a:t>
            </a:r>
          </a:p>
          <a:p>
            <a:pPr algn="l">
              <a:lnSpc>
                <a:spcPct val="114000"/>
              </a:lnSpc>
              <a:spcBef>
                <a:spcPts val="300"/>
              </a:spcBef>
            </a:pPr>
            <a:r>
              <a:rPr sz="1050">
                <a:solidFill>
                  <a:srgbClr val="111827"/>
                </a:solidFill>
                <a:latin typeface="Microsoft YaHei"/>
                <a:ea typeface="Microsoft YaHei"/>
                <a:cs typeface="Microsoft YaHei"/>
              </a:rPr>
              <a:t>周期内的请求是**重复观测**，不是独立随机化单位。</a:t>
            </a:r>
          </a:p>
        </p:txBody>
      </p:sp>
      <p:sp>
        <p:nvSpPr>
          <p:cNvPr id="7" name="Rounded Rectangle 6"/>
          <p:cNvSpPr/>
          <p:nvPr/>
        </p:nvSpPr>
        <p:spPr>
          <a:xfrm>
            <a:off x="4279392" y="1664208"/>
            <a:ext cx="3566160" cy="1975104"/>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1E40AF"/>
                </a:solidFill>
                <a:latin typeface="Microsoft YaHei"/>
                <a:ea typeface="Microsoft YaHei"/>
                <a:cs typeface="Microsoft YaHei"/>
              </a:rPr>
              <a:t>指派与平衡</a:t>
            </a:r>
          </a:p>
          <a:p>
            <a:pPr algn="l">
              <a:lnSpc>
                <a:spcPct val="114000"/>
              </a:lnSpc>
              <a:spcBef>
                <a:spcPts val="300"/>
              </a:spcBef>
            </a:pPr>
            <a:r>
              <a:rPr sz="1050">
                <a:solidFill>
                  <a:srgbClr val="111827"/>
                </a:solidFill>
                <a:latin typeface="Microsoft YaHei"/>
                <a:ea typeface="Microsoft YaHei"/>
                <a:cs typeface="Microsoft YaHei"/>
              </a:rPr>
              <a:t>集群穿越所有合格的 (c, s) 组合；</a:t>
            </a:r>
          </a:p>
          <a:p>
            <a:pPr algn="l">
              <a:lnSpc>
                <a:spcPct val="114000"/>
              </a:lnSpc>
              <a:spcBef>
                <a:spcPts val="300"/>
              </a:spcBef>
            </a:pPr>
            <a:r>
              <a:rPr sz="1050">
                <a:solidFill>
                  <a:srgbClr val="111827"/>
                </a:solidFill>
                <a:latin typeface="Microsoft YaHei"/>
                <a:ea typeface="Microsoft YaHei"/>
                <a:cs typeface="Microsoft YaHei"/>
              </a:rPr>
              <a:t>在集群与失效模式区块内随机化；</a:t>
            </a:r>
          </a:p>
          <a:p>
            <a:pPr algn="l">
              <a:lnSpc>
                <a:spcPct val="114000"/>
              </a:lnSpc>
              <a:spcBef>
                <a:spcPts val="300"/>
              </a:spcBef>
            </a:pPr>
            <a:r>
              <a:rPr sz="1050">
                <a:solidFill>
                  <a:srgbClr val="111827"/>
                </a:solidFill>
                <a:latin typeface="Microsoft YaHei"/>
                <a:ea typeface="Microsoft YaHei"/>
                <a:cs typeface="Microsoft YaHei"/>
              </a:rPr>
              <a:t>用对抗平衡序列使每个处理出现在早晚位置相当，</a:t>
            </a:r>
          </a:p>
          <a:p>
            <a:pPr algn="l">
              <a:lnSpc>
                <a:spcPct val="114000"/>
              </a:lnSpc>
              <a:spcBef>
                <a:spcPts val="300"/>
              </a:spcBef>
            </a:pPr>
            <a:r>
              <a:rPr sz="1050">
                <a:solidFill>
                  <a:srgbClr val="111827"/>
                </a:solidFill>
                <a:latin typeface="Microsoft YaHei"/>
                <a:ea typeface="Microsoft YaHei"/>
                <a:cs typeface="Microsoft YaHei"/>
              </a:rPr>
              <a:t>以便估计差异性结转。</a:t>
            </a:r>
          </a:p>
        </p:txBody>
      </p:sp>
      <p:sp>
        <p:nvSpPr>
          <p:cNvPr id="8" name="Rounded Rectangle 7"/>
          <p:cNvSpPr/>
          <p:nvPr/>
        </p:nvSpPr>
        <p:spPr>
          <a:xfrm>
            <a:off x="8074152" y="1664208"/>
            <a:ext cx="3566160" cy="1975104"/>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C2410C"/>
                </a:solidFill>
                <a:latin typeface="Microsoft YaHei"/>
                <a:ea typeface="Microsoft YaHei"/>
                <a:cs typeface="Microsoft YaHei"/>
              </a:rPr>
              <a:t>重置哨兵</a:t>
            </a:r>
          </a:p>
          <a:p>
            <a:pPr algn="l">
              <a:lnSpc>
                <a:spcPct val="114000"/>
              </a:lnSpc>
              <a:spcBef>
                <a:spcPts val="300"/>
              </a:spcBef>
            </a:pPr>
            <a:r>
              <a:rPr sz="1050">
                <a:solidFill>
                  <a:srgbClr val="111827"/>
                </a:solidFill>
                <a:latin typeface="Microsoft YaHei"/>
                <a:ea typeface="Microsoft YaHei"/>
                <a:cs typeface="Microsoft YaHei"/>
              </a:rPr>
              <a:t>排空在途工作、恢复快照、清缓存与会话、</a:t>
            </a:r>
          </a:p>
          <a:p>
            <a:pPr algn="l">
              <a:lnSpc>
                <a:spcPct val="114000"/>
              </a:lnSpc>
              <a:spcBef>
                <a:spcPts val="300"/>
              </a:spcBef>
            </a:pPr>
            <a:r>
              <a:rPr sz="1050">
                <a:solidFill>
                  <a:srgbClr val="111827"/>
                </a:solidFill>
                <a:latin typeface="Microsoft YaHei"/>
                <a:ea typeface="Microsoft YaHei"/>
                <a:cs typeface="Microsoft YaHei"/>
              </a:rPr>
              <a:t>重置限流与重试、重初始化调度历史。</a:t>
            </a:r>
          </a:p>
          <a:p>
            <a:pPr algn="l">
              <a:lnSpc>
                <a:spcPct val="114000"/>
              </a:lnSpc>
              <a:spcBef>
                <a:spcPts val="300"/>
              </a:spcBef>
            </a:pPr>
            <a:r>
              <a:rPr sz="1050">
                <a:solidFill>
                  <a:srgbClr val="111827"/>
                </a:solidFill>
                <a:latin typeface="Microsoft YaHei"/>
                <a:ea typeface="Microsoft YaHei"/>
                <a:cs typeface="Microsoft YaHei"/>
              </a:rPr>
              <a:t>四项哨兵全部通过才能进入下一周期。</a:t>
            </a:r>
          </a:p>
        </p:txBody>
      </p:sp>
      <p:sp>
        <p:nvSpPr>
          <p:cNvPr id="9" name="Rounded Rectangle 8"/>
          <p:cNvSpPr/>
          <p:nvPr/>
        </p:nvSpPr>
        <p:spPr>
          <a:xfrm>
            <a:off x="566928" y="3822191"/>
            <a:ext cx="5413248" cy="1207008"/>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374151"/>
                </a:solidFill>
                <a:latin typeface="Microsoft YaHei"/>
                <a:ea typeface="Microsoft YaHei"/>
                <a:cs typeface="Microsoft YaHei"/>
              </a:rPr>
              <a:t>三个观测量与判据</a:t>
            </a:r>
          </a:p>
          <a:p>
            <a:pPr algn="l">
              <a:lnSpc>
                <a:spcPct val="114000"/>
              </a:lnSpc>
              <a:spcBef>
                <a:spcPts val="300"/>
              </a:spcBef>
            </a:pPr>
            <a:r>
              <a:rPr sz="1050">
                <a:solidFill>
                  <a:srgbClr val="111827"/>
                </a:solidFill>
                <a:latin typeface="Microsoft YaHei"/>
                <a:ea typeface="Microsoft YaHei"/>
                <a:cs typeface="Microsoft YaHei"/>
              </a:rPr>
              <a:t>R(c,s) 运行时响应 —— 主端点 Y_R = log 周期级 p95 延迟；m_R = log(1.10) 双侧 TOST 等效</a:t>
            </a:r>
          </a:p>
          <a:p>
            <a:pPr algn="l">
              <a:lnSpc>
                <a:spcPct val="114000"/>
              </a:lnSpc>
              <a:spcBef>
                <a:spcPts val="300"/>
              </a:spcBef>
            </a:pPr>
            <a:r>
              <a:rPr sz="1050">
                <a:solidFill>
                  <a:srgbClr val="111827"/>
                </a:solidFill>
                <a:latin typeface="Microsoft YaHei"/>
                <a:ea typeface="Microsoft YaHei"/>
                <a:cs typeface="Microsoft YaHei"/>
              </a:rPr>
              <a:t>Q(c,s) 语义结局 —— 全需求满足占比；m_Q = 0.05 单侧非劣效</a:t>
            </a:r>
          </a:p>
        </p:txBody>
      </p:sp>
      <p:sp>
        <p:nvSpPr>
          <p:cNvPr id="10" name="Rounded Rectangle 9"/>
          <p:cNvSpPr/>
          <p:nvPr/>
        </p:nvSpPr>
        <p:spPr>
          <a:xfrm>
            <a:off x="6217920" y="3822191"/>
            <a:ext cx="5413248" cy="1207008"/>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991B1B"/>
                </a:solidFill>
                <a:latin typeface="Microsoft YaHei"/>
                <a:ea typeface="Microsoft YaHei"/>
                <a:cs typeface="Microsoft YaHei"/>
              </a:rPr>
              <a:t>E(c,s) 的边界（本版新增声明）</a:t>
            </a:r>
          </a:p>
          <a:p>
            <a:pPr algn="l">
              <a:lnSpc>
                <a:spcPct val="114000"/>
              </a:lnSpc>
              <a:spcBef>
                <a:spcPts val="300"/>
              </a:spcBef>
            </a:pPr>
            <a:r>
              <a:rPr sz="1050">
                <a:solidFill>
                  <a:srgbClr val="111827"/>
                </a:solidFill>
                <a:latin typeface="Microsoft YaHei"/>
                <a:ea typeface="Microsoft YaHei"/>
                <a:cs typeface="Microsoft YaHei"/>
              </a:rPr>
              <a:t>E 估计的是**边际运行时执法开销**。配对回放固定 model/tool 输出，</a:t>
            </a:r>
          </a:p>
          <a:p>
            <a:pPr algn="l">
              <a:lnSpc>
                <a:spcPct val="114000"/>
              </a:lnSpc>
              <a:spcBef>
                <a:spcPts val="300"/>
              </a:spcBef>
            </a:pPr>
            <a:r>
              <a:rPr sz="1050">
                <a:solidFill>
                  <a:srgbClr val="111827"/>
                </a:solidFill>
                <a:latin typeface="Microsoft YaHei"/>
                <a:ea typeface="Microsoft YaHei"/>
                <a:cs typeface="Microsoft YaHei"/>
              </a:rPr>
              <a:t>故“准入拒绝改变模型后续轨迹”的机会成本不计入 E，而归入 Q(c,s)。</a:t>
            </a:r>
          </a:p>
          <a:p>
            <a:pPr algn="l">
              <a:lnSpc>
                <a:spcPct val="114000"/>
              </a:lnSpc>
              <a:spcBef>
                <a:spcPts val="300"/>
              </a:spcBef>
            </a:pPr>
            <a:r>
              <a:rPr sz="1050">
                <a:solidFill>
                  <a:srgbClr val="111827"/>
                </a:solidFill>
                <a:latin typeface="Microsoft YaHei"/>
                <a:ea typeface="Microsoft YaHei"/>
                <a:cs typeface="Microsoft YaHei"/>
              </a:rPr>
              <a:t>不声明这一点，会被读成低估了执法成本。</a:t>
            </a:r>
          </a:p>
        </p:txBody>
      </p:sp>
      <p:sp>
        <p:nvSpPr>
          <p:cNvPr id="11" name="Rounded Rectangle 10"/>
          <p:cNvSpPr/>
          <p:nvPr/>
        </p:nvSpPr>
        <p:spPr>
          <a:xfrm>
            <a:off x="566928" y="5175504"/>
            <a:ext cx="11064240" cy="73152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待决：重置哨兵的 ±log(1.05) 与 −0.025 目前是裸数字。本版规则要求每个 margin 由具名决策推导并记录 owner —— 这两个数字必须补论证或标注为占位。</a:t>
            </a:r>
          </a:p>
        </p:txBody>
      </p:sp>
      <p:sp>
        <p:nvSpPr>
          <p:cNvPr id="12" name="TextBox 11"/>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
            </a:r>
          </a:p>
        </p:txBody>
      </p:sp>
      <p:sp>
        <p:nvSpPr>
          <p:cNvPr id="13" name="TextBox 12"/>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四态判决规则</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本版最大的结构变化：conditional-engineering 从企业篇专有升为全局第四态</a:t>
            </a:r>
          </a:p>
        </p:txBody>
      </p:sp>
      <p:sp>
        <p:nvSpPr>
          <p:cNvPr id="4" name="Rounded Rectangle 3"/>
          <p:cNvSpPr/>
          <p:nvPr/>
        </p:nvSpPr>
        <p:spPr>
          <a:xfrm>
            <a:off x="10824667" y="402336"/>
            <a:ext cx="800100" cy="310896"/>
          </a:xfrm>
          <a:prstGeom prst="roundRect">
            <a:avLst>
              <a:gd name="adj" fmla="val 2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C2410C"/>
                </a:solidFill>
                <a:latin typeface="Microsoft YaHei"/>
                <a:ea typeface="Microsoft YaHei"/>
                <a:cs typeface="Microsoft YaHei"/>
              </a:rPr>
              <a:t>R3 新增</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11064240" cy="1060704"/>
          </a:xfrm>
          <a:prstGeom prst="roundRect">
            <a:avLst>
              <a:gd name="adj" fmla="val 6000"/>
            </a:avLst>
          </a:prstGeom>
          <a:solidFill>
            <a:srgbClr val="ECFDF5"/>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047857"/>
                </a:solidFill>
                <a:latin typeface="Microsoft YaHei"/>
                <a:ea typeface="Microsoft YaHei"/>
                <a:cs typeface="Microsoft YaHei"/>
              </a:rPr>
              <a:t>supported within Ω</a:t>
            </a:r>
          </a:p>
          <a:p>
            <a:pPr algn="l">
              <a:lnSpc>
                <a:spcPct val="114000"/>
              </a:lnSpc>
              <a:spcBef>
                <a:spcPts val="300"/>
              </a:spcBef>
            </a:pPr>
            <a:r>
              <a:rPr sz="1000">
                <a:solidFill>
                  <a:srgbClr val="111827"/>
                </a:solidFill>
                <a:latin typeface="Microsoft YaHei"/>
                <a:ea typeface="Microsoft YaHei"/>
                <a:cs typeface="Microsoft YaHei"/>
              </a:rPr>
              <a:t>六项义务全部通过覆盖率、灵敏度校准与最坏情况违规上界；</a:t>
            </a:r>
          </a:p>
          <a:p>
            <a:pPr algn="l">
              <a:lnSpc>
                <a:spcPct val="114000"/>
              </a:lnSpc>
              <a:spcBef>
                <a:spcPts val="300"/>
              </a:spcBef>
            </a:pPr>
            <a:r>
              <a:rPr sz="1000">
                <a:solidFill>
                  <a:srgbClr val="111827"/>
                </a:solidFill>
                <a:latin typeface="Microsoft YaHei"/>
                <a:ea typeface="Microsoft YaHei"/>
                <a:cs typeface="Microsoft YaHei"/>
              </a:rPr>
              <a:t>90% 交互区间落在 [−m_R, m_R] 内；</a:t>
            </a:r>
          </a:p>
          <a:p>
            <a:pPr algn="l">
              <a:lnSpc>
                <a:spcPct val="114000"/>
              </a:lnSpc>
              <a:spcBef>
                <a:spcPts val="300"/>
              </a:spcBef>
            </a:pPr>
            <a:r>
              <a:rPr sz="1000">
                <a:solidFill>
                  <a:srgbClr val="111827"/>
                </a:solidFill>
                <a:latin typeface="Microsoft YaHei"/>
                <a:ea typeface="Microsoft YaHei"/>
                <a:cs typeface="Microsoft YaHei"/>
              </a:rPr>
              <a:t>每个语义下界超过 −m_Q；每项执法开销上界低于预算。</a:t>
            </a:r>
          </a:p>
        </p:txBody>
      </p:sp>
      <p:sp>
        <p:nvSpPr>
          <p:cNvPr id="7" name="Rounded Rectangle 6"/>
          <p:cNvSpPr/>
          <p:nvPr/>
        </p:nvSpPr>
        <p:spPr>
          <a:xfrm>
            <a:off x="566928" y="2816352"/>
            <a:ext cx="11064240" cy="1060704"/>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991B1B"/>
                </a:solidFill>
                <a:latin typeface="Microsoft YaHei"/>
                <a:ea typeface="Microsoft YaHei"/>
                <a:cs typeface="Microsoft YaHei"/>
              </a:rPr>
              <a:t>falsified within Ω</a:t>
            </a:r>
          </a:p>
          <a:p>
            <a:pPr algn="l">
              <a:lnSpc>
                <a:spcPct val="114000"/>
              </a:lnSpc>
              <a:spcBef>
                <a:spcPts val="300"/>
              </a:spcBef>
            </a:pPr>
            <a:r>
              <a:rPr sz="1000">
                <a:solidFill>
                  <a:srgbClr val="111827"/>
                </a:solidFill>
                <a:latin typeface="Microsoft YaHei"/>
                <a:ea typeface="Microsoft YaHei"/>
                <a:cs typeface="Microsoft YaHei"/>
              </a:rPr>
              <a:t>合格性与校准足以判决，且交互区间整体越出 margin，</a:t>
            </a:r>
          </a:p>
          <a:p>
            <a:pPr algn="l">
              <a:lnSpc>
                <a:spcPct val="114000"/>
              </a:lnSpc>
              <a:spcBef>
                <a:spcPts val="300"/>
              </a:spcBef>
            </a:pPr>
            <a:r>
              <a:rPr sz="1000">
                <a:solidFill>
                  <a:srgbClr val="111827"/>
                </a:solidFill>
                <a:latin typeface="Microsoft YaHei"/>
                <a:ea typeface="Microsoft YaHei"/>
                <a:cs typeface="Microsoft YaHei"/>
              </a:rPr>
              <a:t>或语义上界低于 −m_Q，或观测违规下界超过上限，</a:t>
            </a:r>
          </a:p>
          <a:p>
            <a:pPr algn="l">
              <a:lnSpc>
                <a:spcPct val="114000"/>
              </a:lnSpc>
              <a:spcBef>
                <a:spcPts val="300"/>
              </a:spcBef>
            </a:pPr>
            <a:r>
              <a:rPr sz="1000">
                <a:solidFill>
                  <a:srgbClr val="111827"/>
                </a:solidFill>
                <a:latin typeface="Microsoft YaHei"/>
                <a:ea typeface="Microsoft YaHei"/>
                <a:cs typeface="Microsoft YaHei"/>
              </a:rPr>
              <a:t>或执法开销下界超出预算。</a:t>
            </a:r>
          </a:p>
        </p:txBody>
      </p:sp>
      <p:sp>
        <p:nvSpPr>
          <p:cNvPr id="8" name="Rounded Rectangle 7"/>
          <p:cNvSpPr/>
          <p:nvPr/>
        </p:nvSpPr>
        <p:spPr>
          <a:xfrm>
            <a:off x="566928" y="3986784"/>
            <a:ext cx="11064240" cy="1060704"/>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C2410C"/>
                </a:solidFill>
                <a:latin typeface="Microsoft YaHei"/>
                <a:ea typeface="Microsoft YaHei"/>
                <a:cs typeface="Microsoft YaHei"/>
              </a:rPr>
              <a:t>conditional-engineering ★</a:t>
            </a:r>
          </a:p>
          <a:p>
            <a:pPr algn="l">
              <a:lnSpc>
                <a:spcPct val="114000"/>
              </a:lnSpc>
              <a:spcBef>
                <a:spcPts val="300"/>
              </a:spcBef>
            </a:pPr>
            <a:r>
              <a:rPr sz="1000">
                <a:solidFill>
                  <a:srgbClr val="111827"/>
                </a:solidFill>
                <a:latin typeface="Microsoft YaHei"/>
                <a:ea typeface="Microsoft YaHei"/>
                <a:cs typeface="Microsoft YaHei"/>
              </a:rPr>
              <a:t>一项或多项义务违规率超阈 → 报告完整结局估计 + 越阈条件及其观测值，</a:t>
            </a:r>
          </a:p>
          <a:p>
            <a:pPr algn="l">
              <a:lnSpc>
                <a:spcPct val="114000"/>
              </a:lnSpc>
              <a:spcBef>
                <a:spcPts val="300"/>
              </a:spcBef>
            </a:pPr>
            <a:r>
              <a:rPr sz="1000">
                <a:solidFill>
                  <a:srgbClr val="111827"/>
                </a:solidFill>
                <a:latin typeface="Microsoft YaHei"/>
                <a:ea typeface="Microsoft YaHei"/>
                <a:cs typeface="Microsoft YaHei"/>
              </a:rPr>
              <a:t>**对猜想不作任何方向的判决**。</a:t>
            </a:r>
          </a:p>
          <a:p>
            <a:pPr algn="l">
              <a:lnSpc>
                <a:spcPct val="114000"/>
              </a:lnSpc>
              <a:spcBef>
                <a:spcPts val="300"/>
              </a:spcBef>
            </a:pPr>
            <a:r>
              <a:rPr sz="1000">
                <a:solidFill>
                  <a:srgbClr val="111827"/>
                </a:solidFill>
                <a:latin typeface="Microsoft YaHei"/>
                <a:ea typeface="Microsoft YaHei"/>
                <a:cs typeface="Microsoft YaHei"/>
              </a:rPr>
              <a:t>它刻画的是 runtime 的工程状态，而非 P1 的科学地位；可发表且有信息量。</a:t>
            </a:r>
          </a:p>
        </p:txBody>
      </p:sp>
      <p:sp>
        <p:nvSpPr>
          <p:cNvPr id="9" name="Rounded Rectangle 8"/>
          <p:cNvSpPr/>
          <p:nvPr/>
        </p:nvSpPr>
        <p:spPr>
          <a:xfrm>
            <a:off x="566928" y="5157216"/>
            <a:ext cx="11064240" cy="1060704"/>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374151"/>
                </a:solidFill>
                <a:latin typeface="Microsoft YaHei"/>
                <a:ea typeface="Microsoft YaHei"/>
                <a:cs typeface="Microsoft YaHei"/>
              </a:rPr>
              <a:t>inconclusive</a:t>
            </a:r>
          </a:p>
          <a:p>
            <a:pPr algn="l">
              <a:lnSpc>
                <a:spcPct val="114000"/>
              </a:lnSpc>
              <a:spcBef>
                <a:spcPts val="300"/>
              </a:spcBef>
            </a:pPr>
            <a:r>
              <a:rPr sz="1000">
                <a:solidFill>
                  <a:srgbClr val="111827"/>
                </a:solidFill>
                <a:latin typeface="Microsoft YaHei"/>
                <a:ea typeface="Microsoft YaHei"/>
                <a:cs typeface="Microsoft YaHei"/>
              </a:rPr>
              <a:t>仪器覆盖或监测校准不足、区间无法分辨 margin、</a:t>
            </a:r>
          </a:p>
          <a:p>
            <a:pPr algn="l">
              <a:lnSpc>
                <a:spcPct val="114000"/>
              </a:lnSpc>
              <a:spcBef>
                <a:spcPts val="300"/>
              </a:spcBef>
            </a:pPr>
            <a:r>
              <a:rPr sz="1000">
                <a:solidFill>
                  <a:srgbClr val="111827"/>
                </a:solidFill>
                <a:latin typeface="Microsoft YaHei"/>
                <a:ea typeface="Microsoft YaHei"/>
                <a:cs typeface="Microsoft YaHei"/>
              </a:rPr>
              <a:t>重置后仍有污染、预声明合格性规则失败，</a:t>
            </a:r>
          </a:p>
          <a:p>
            <a:pPr algn="l">
              <a:lnSpc>
                <a:spcPct val="114000"/>
              </a:lnSpc>
              <a:spcBef>
                <a:spcPts val="300"/>
              </a:spcBef>
            </a:pPr>
            <a:r>
              <a:rPr sz="1000">
                <a:solidFill>
                  <a:srgbClr val="111827"/>
                </a:solidFill>
                <a:latin typeface="Microsoft YaHei"/>
                <a:ea typeface="Microsoft YaHei"/>
                <a:cs typeface="Microsoft YaHei"/>
              </a:rPr>
              <a:t>或所需量无法以计划的整群不确定性估计。</a:t>
            </a:r>
          </a:p>
        </p:txBody>
      </p:sp>
      <p:sp>
        <p:nvSpPr>
          <p:cNvPr id="10" name="TextBox 9"/>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为什么必要：六项义务是合取，任一不过阈就锁死判决 —— 第四态让单个难测渠道（如调度独立性）不再永久锁死研究线</a:t>
            </a:r>
          </a:p>
        </p:txBody>
      </p:sp>
      <p:sp>
        <p:nvSpPr>
          <p:cNvPr id="11" name="TextBox 10"/>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合并直接修掉的跨篇不一致</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上一轮审查的 P0/P1 级问题，逐条对应</a:t>
            </a:r>
          </a:p>
        </p:txBody>
      </p:sp>
      <p:sp>
        <p:nvSpPr>
          <p:cNvPr id="4" name="Rounded Rectangle 3"/>
          <p:cNvSpPr/>
          <p:nvPr/>
        </p:nvSpPr>
        <p:spPr>
          <a:xfrm>
            <a:off x="10929823" y="402336"/>
            <a:ext cx="694944"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合并收益</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09344"/>
            <a:ext cx="914400" cy="64008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P0-1</a:t>
            </a:r>
          </a:p>
        </p:txBody>
      </p:sp>
      <p:sp>
        <p:nvSpPr>
          <p:cNvPr id="7" name="TextBox 6"/>
          <p:cNvSpPr txBox="1"/>
          <p:nvPr/>
        </p:nvSpPr>
        <p:spPr>
          <a:xfrm>
            <a:off x="1609344" y="1627632"/>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两篇标题字面完全相同</a:t>
            </a:r>
          </a:p>
        </p:txBody>
      </p:sp>
      <p:sp>
        <p:nvSpPr>
          <p:cNvPr id="8" name="TextBox 7"/>
          <p:cNvSpPr txBox="1"/>
          <p:nvPr/>
        </p:nvSpPr>
        <p:spPr>
          <a:xfrm>
            <a:off x="4937760" y="1636776"/>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latex_to_preprint.py:29 单一硬编码 TITLE，无 --title 参数</a:t>
            </a:r>
          </a:p>
        </p:txBody>
      </p:sp>
      <p:sp>
        <p:nvSpPr>
          <p:cNvPr id="9" name="TextBox 8"/>
          <p:cNvSpPr txBox="1"/>
          <p:nvPr/>
        </p:nvSpPr>
        <p:spPr>
          <a:xfrm>
            <a:off x="8366760" y="1636776"/>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合并后自动消失；仍补 --title 防复发</a:t>
            </a:r>
          </a:p>
        </p:txBody>
      </p:sp>
      <p:sp>
        <p:nvSpPr>
          <p:cNvPr id="10" name="Rounded Rectangle 9"/>
          <p:cNvSpPr/>
          <p:nvPr/>
        </p:nvSpPr>
        <p:spPr>
          <a:xfrm>
            <a:off x="566928" y="2304288"/>
            <a:ext cx="914400" cy="64008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P0-2</a:t>
            </a:r>
          </a:p>
        </p:txBody>
      </p:sp>
      <p:sp>
        <p:nvSpPr>
          <p:cNvPr id="11" name="TextBox 10"/>
          <p:cNvSpPr txBox="1"/>
          <p:nvPr/>
        </p:nvSpPr>
        <p:spPr>
          <a:xfrm>
            <a:off x="1609344" y="2322576"/>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契约元组字母冲突</a:t>
            </a:r>
          </a:p>
        </p:txBody>
      </p:sp>
      <p:sp>
        <p:nvSpPr>
          <p:cNvPr id="12" name="TextBox 11"/>
          <p:cNvSpPr txBox="1"/>
          <p:nvPr/>
        </p:nvSpPr>
        <p:spPr>
          <a:xfrm>
            <a:off x="4937760" y="2331720"/>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聚焦篇 ⟨I,O,G,A,B,V⟩ vs 企业篇 ⟨I,O,G,B,E,T⟩</a:t>
            </a:r>
          </a:p>
        </p:txBody>
      </p:sp>
      <p:sp>
        <p:nvSpPr>
          <p:cNvPr id="13" name="TextBox 12"/>
          <p:cNvSpPr txBox="1"/>
          <p:nvPr/>
        </p:nvSpPr>
        <p:spPr>
          <a:xfrm>
            <a:off x="8366760" y="2331720"/>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全局统一为 ⟨I,O,G,A,B,V⟩，字段级 walkthrough 逐字段改写</a:t>
            </a:r>
          </a:p>
        </p:txBody>
      </p:sp>
      <p:sp>
        <p:nvSpPr>
          <p:cNvPr id="14" name="Rounded Rectangle 13"/>
          <p:cNvSpPr/>
          <p:nvPr/>
        </p:nvSpPr>
        <p:spPr>
          <a:xfrm>
            <a:off x="566928" y="2999232"/>
            <a:ext cx="914400" cy="64008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P0-3</a:t>
            </a:r>
          </a:p>
        </p:txBody>
      </p:sp>
      <p:sp>
        <p:nvSpPr>
          <p:cNvPr id="15" name="TextBox 14"/>
          <p:cNvSpPr txBox="1"/>
          <p:nvPr/>
        </p:nvSpPr>
        <p:spPr>
          <a:xfrm>
            <a:off x="1609344" y="3017520"/>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随机化单位互相矛盾</a:t>
            </a:r>
          </a:p>
        </p:txBody>
      </p:sp>
      <p:sp>
        <p:nvSpPr>
          <p:cNvPr id="16" name="TextBox 15"/>
          <p:cNvSpPr txBox="1"/>
          <p:nvPr/>
        </p:nvSpPr>
        <p:spPr>
          <a:xfrm>
            <a:off x="4937760" y="3026664"/>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企业篇 “one independent run” vs 聚焦篇 “非独立随机化单位”</a:t>
            </a:r>
          </a:p>
        </p:txBody>
      </p:sp>
      <p:sp>
        <p:nvSpPr>
          <p:cNvPr id="17" name="TextBox 16"/>
          <p:cNvSpPr txBox="1"/>
          <p:nvPr/>
        </p:nvSpPr>
        <p:spPr>
          <a:xfrm>
            <a:off x="8366760" y="3026664"/>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以 cluster-period 为准，删除企业篇整句</a:t>
            </a:r>
          </a:p>
        </p:txBody>
      </p:sp>
      <p:sp>
        <p:nvSpPr>
          <p:cNvPr id="18" name="Rounded Rectangle 17"/>
          <p:cNvSpPr/>
          <p:nvPr/>
        </p:nvSpPr>
        <p:spPr>
          <a:xfrm>
            <a:off x="566928" y="3694176"/>
            <a:ext cx="914400" cy="64008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P0-4</a:t>
            </a:r>
          </a:p>
        </p:txBody>
      </p:sp>
      <p:sp>
        <p:nvSpPr>
          <p:cNvPr id="19" name="TextBox 18"/>
          <p:cNvSpPr txBox="1"/>
          <p:nvPr/>
        </p:nvSpPr>
        <p:spPr>
          <a:xfrm>
            <a:off x="1609344" y="3712464"/>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两篇零交叉引用</a:t>
            </a:r>
          </a:p>
        </p:txBody>
      </p:sp>
      <p:sp>
        <p:nvSpPr>
          <p:cNvPr id="20" name="TextBox 19"/>
          <p:cNvSpPr txBox="1"/>
          <p:nvPr/>
        </p:nvSpPr>
        <p:spPr>
          <a:xfrm>
            <a:off x="4937760" y="3721608"/>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无 Part I / Part II / companion 任何互锚</a:t>
            </a:r>
          </a:p>
        </p:txBody>
      </p:sp>
      <p:sp>
        <p:nvSpPr>
          <p:cNvPr id="21" name="TextBox 20"/>
          <p:cNvSpPr txBox="1"/>
          <p:nvPr/>
        </p:nvSpPr>
        <p:spPr>
          <a:xfrm>
            <a:off x="8366760" y="3721608"/>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合并后自动消失</a:t>
            </a:r>
          </a:p>
        </p:txBody>
      </p:sp>
      <p:sp>
        <p:nvSpPr>
          <p:cNvPr id="22" name="Rounded Rectangle 21"/>
          <p:cNvSpPr/>
          <p:nvPr/>
        </p:nvSpPr>
        <p:spPr>
          <a:xfrm>
            <a:off x="566928" y="4389120"/>
            <a:ext cx="914400" cy="64008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P1-5</a:t>
            </a:r>
          </a:p>
        </p:txBody>
      </p:sp>
      <p:sp>
        <p:nvSpPr>
          <p:cNvPr id="23" name="TextBox 22"/>
          <p:cNvSpPr txBox="1"/>
          <p:nvPr/>
        </p:nvSpPr>
        <p:spPr>
          <a:xfrm>
            <a:off x="1609344" y="4407408"/>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降级档只做了一半</a:t>
            </a:r>
          </a:p>
        </p:txBody>
      </p:sp>
      <p:sp>
        <p:nvSpPr>
          <p:cNvPr id="24" name="TextBox 23"/>
          <p:cNvSpPr txBox="1"/>
          <p:nvPr/>
        </p:nvSpPr>
        <p:spPr>
          <a:xfrm>
            <a:off x="4937760" y="4416552"/>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conditional-engineering 仅企业篇有，聚焦篇三态无此档</a:t>
            </a:r>
          </a:p>
        </p:txBody>
      </p:sp>
      <p:sp>
        <p:nvSpPr>
          <p:cNvPr id="25" name="TextBox 24"/>
          <p:cNvSpPr txBox="1"/>
          <p:nvPr/>
        </p:nvSpPr>
        <p:spPr>
          <a:xfrm>
            <a:off x="8366760" y="4416552"/>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升为全局第四态</a:t>
            </a:r>
          </a:p>
        </p:txBody>
      </p:sp>
      <p:sp>
        <p:nvSpPr>
          <p:cNvPr id="26" name="Rounded Rectangle 25"/>
          <p:cNvSpPr/>
          <p:nvPr/>
        </p:nvSpPr>
        <p:spPr>
          <a:xfrm>
            <a:off x="566928" y="5084064"/>
            <a:ext cx="914400" cy="64008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P1-6</a:t>
            </a:r>
          </a:p>
        </p:txBody>
      </p:sp>
      <p:sp>
        <p:nvSpPr>
          <p:cNvPr id="27" name="TextBox 26"/>
          <p:cNvSpPr txBox="1"/>
          <p:nvPr/>
        </p:nvSpPr>
        <p:spPr>
          <a:xfrm>
            <a:off x="1609344" y="5102352"/>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margin 推导规则不对称</a:t>
            </a:r>
          </a:p>
        </p:txBody>
      </p:sp>
      <p:sp>
        <p:nvSpPr>
          <p:cNvPr id="28" name="TextBox 27"/>
          <p:cNvSpPr txBox="1"/>
          <p:nvPr/>
        </p:nvSpPr>
        <p:spPr>
          <a:xfrm>
            <a:off x="4937760" y="5111496"/>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企业篇立了具名决策规则，聚焦篇哨兵是裸数字</a:t>
            </a:r>
          </a:p>
        </p:txBody>
      </p:sp>
      <p:sp>
        <p:nvSpPr>
          <p:cNvPr id="29" name="TextBox 28"/>
          <p:cNvSpPr txBox="1"/>
          <p:nvPr/>
        </p:nvSpPr>
        <p:spPr>
          <a:xfrm>
            <a:off x="8366760" y="5111496"/>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规则全局化，裸数字补论证或标占位</a:t>
            </a:r>
          </a:p>
        </p:txBody>
      </p:sp>
      <p:sp>
        <p:nvSpPr>
          <p:cNvPr id="30" name="Rounded Rectangle 29"/>
          <p:cNvSpPr/>
          <p:nvPr/>
        </p:nvSpPr>
        <p:spPr>
          <a:xfrm>
            <a:off x="566928" y="5779008"/>
            <a:ext cx="914400" cy="64008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P1-7</a:t>
            </a:r>
          </a:p>
        </p:txBody>
      </p:sp>
      <p:sp>
        <p:nvSpPr>
          <p:cNvPr id="31" name="TextBox 30"/>
          <p:cNvSpPr txBox="1"/>
          <p:nvPr/>
        </p:nvSpPr>
        <p:spPr>
          <a:xfrm>
            <a:off x="1609344" y="5797296"/>
            <a:ext cx="3246120" cy="621792"/>
          </a:xfrm>
          <a:prstGeom prst="rect">
            <a:avLst/>
          </a:prstGeom>
          <a:noFill/>
        </p:spPr>
        <p:txBody>
          <a:bodyPr wrap="square" anchor="t" lIns="36576" rIns="36576" tIns="18288" bIns="18288">
            <a:spAutoFit/>
          </a:bodyPr>
          <a:lstStyle/>
          <a:p>
            <a:pPr algn="l">
              <a:lnSpc>
                <a:spcPct val="115000"/>
              </a:lnSpc>
              <a:spcAft>
                <a:spcPts val="300"/>
              </a:spcAft>
            </a:pPr>
            <a:r>
              <a:rPr sz="1050" b="1">
                <a:solidFill>
                  <a:srgbClr val="111827"/>
                </a:solidFill>
                <a:latin typeface="Microsoft YaHei"/>
                <a:ea typeface="Microsoft YaHei"/>
                <a:cs typeface="Microsoft YaHei"/>
              </a:rPr>
              <a:t>E(c,s) 未声明边际性</a:t>
            </a:r>
          </a:p>
        </p:txBody>
      </p:sp>
      <p:sp>
        <p:nvSpPr>
          <p:cNvPr id="32" name="TextBox 31"/>
          <p:cNvSpPr txBox="1"/>
          <p:nvPr/>
        </p:nvSpPr>
        <p:spPr>
          <a:xfrm>
            <a:off x="4937760" y="5806440"/>
            <a:ext cx="3291840" cy="603504"/>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全文无 marginal / opportunity cost 相关声明</a:t>
            </a:r>
          </a:p>
        </p:txBody>
      </p:sp>
      <p:sp>
        <p:nvSpPr>
          <p:cNvPr id="33" name="TextBox 32"/>
          <p:cNvSpPr txBox="1"/>
          <p:nvPr/>
        </p:nvSpPr>
        <p:spPr>
          <a:xfrm>
            <a:off x="8366760" y="5806440"/>
            <a:ext cx="3273552" cy="603504"/>
          </a:xfrm>
          <a:prstGeom prst="rect">
            <a:avLst/>
          </a:prstGeom>
          <a:noFill/>
        </p:spPr>
        <p:txBody>
          <a:bodyPr wrap="square" anchor="t" lIns="36576" rIns="36576" tIns="18288" bIns="18288">
            <a:spAutoFit/>
          </a:bodyPr>
          <a:lstStyle/>
          <a:p>
            <a:pPr algn="l">
              <a:lnSpc>
                <a:spcPct val="115000"/>
              </a:lnSpc>
              <a:spcAft>
                <a:spcPts val="300"/>
              </a:spcAft>
            </a:pPr>
            <a:r>
              <a:rPr sz="919" b="0">
                <a:solidFill>
                  <a:srgbClr val="047857"/>
                </a:solidFill>
                <a:latin typeface="Microsoft YaHei"/>
                <a:ea typeface="Microsoft YaHei"/>
                <a:cs typeface="Microsoft YaHei"/>
              </a:rPr>
              <a:t>→ 在 E 定义处显式声明，机会成本归 Q</a:t>
            </a:r>
          </a:p>
        </p:txBody>
      </p:sp>
      <p:sp>
        <p:nvSpPr>
          <p:cNvPr id="34" name="TextBox 33"/>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另有 P2-8/9 文献覆盖、P3-10 篇幅去重、P4-11/12/13 笔记单一事实源，见 v25-outline.md</a:t>
            </a:r>
          </a:p>
        </p:txBody>
      </p:sp>
      <p:sp>
        <p:nvSpPr>
          <p:cNvPr id="35" name="TextBox 34"/>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文献覆盖的空洞</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26 篇已下载 PDF 中 9 篇零引用 —— 其中一篇构成 novelty boundary 的实质风险</a:t>
            </a:r>
          </a:p>
        </p:txBody>
      </p:sp>
      <p:sp>
        <p:nvSpPr>
          <p:cNvPr id="4" name="Rounded Rectangle 3"/>
          <p:cNvSpPr/>
          <p:nvPr/>
        </p:nvSpPr>
        <p:spPr>
          <a:xfrm>
            <a:off x="10929823" y="402336"/>
            <a:ext cx="694944" cy="310896"/>
          </a:xfrm>
          <a:prstGeom prst="roundRect">
            <a:avLst>
              <a:gd name="adj" fmla="val 2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991B1B"/>
                </a:solidFill>
                <a:latin typeface="Microsoft YaHei"/>
                <a:ea typeface="Microsoft YaHei"/>
                <a:cs typeface="Microsoft YaHei"/>
              </a:rPr>
              <a:t>P2-8</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11064240" cy="1298448"/>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500" b="1">
                <a:solidFill>
                  <a:srgbClr val="991B1B"/>
                </a:solidFill>
                <a:latin typeface="Microsoft YaHei"/>
                <a:ea typeface="Microsoft YaHei"/>
                <a:cs typeface="Microsoft YaHei"/>
              </a:rPr>
              <a:t>最危险的一篇：arXiv 2605.26112</a:t>
            </a:r>
          </a:p>
          <a:p>
            <a:pPr algn="l">
              <a:lnSpc>
                <a:spcPct val="114000"/>
              </a:lnSpc>
              <a:spcBef>
                <a:spcPts val="300"/>
              </a:spcBef>
            </a:pPr>
            <a:r>
              <a:rPr sz="1050">
                <a:solidFill>
                  <a:srgbClr val="111827"/>
                </a:solidFill>
                <a:latin typeface="Microsoft YaHei"/>
                <a:ea typeface="Microsoft YaHei"/>
                <a:cs typeface="Microsoft YaHei"/>
              </a:rPr>
              <a:t>《From Model Scaling to System Scaling: From Training to Serving of LLM-Based Agentic Systems》</a:t>
            </a:r>
          </a:p>
          <a:p>
            <a:pPr algn="l">
              <a:lnSpc>
                <a:spcPct val="114000"/>
              </a:lnSpc>
              <a:spcBef>
                <a:spcPts val="300"/>
              </a:spcBef>
            </a:pPr>
            <a:r>
              <a:rPr sz="1050">
                <a:solidFill>
                  <a:srgbClr val="111827"/>
                </a:solidFill>
                <a:latin typeface="Microsoft YaHei"/>
                <a:ea typeface="Microsoft YaHei"/>
                <a:cs typeface="Microsoft YaHei"/>
              </a:rPr>
              <a:t>题目即“模型扩展 → 系统扩展”，与本文 capability / capacity 双轴属同一问题域。</a:t>
            </a:r>
          </a:p>
          <a:p>
            <a:pPr algn="l">
              <a:lnSpc>
                <a:spcPct val="114000"/>
              </a:lnSpc>
              <a:spcBef>
                <a:spcPts val="300"/>
              </a:spcBef>
            </a:pPr>
            <a:r>
              <a:rPr sz="1050">
                <a:solidFill>
                  <a:srgbClr val="111827"/>
                </a:solidFill>
                <a:latin typeface="Microsoft YaHei"/>
                <a:ea typeface="Microsoft YaHei"/>
                <a:cs typeface="Microsoft YaHei"/>
              </a:rPr>
              <a:t>vault 里已有专门笔记，但两篇论文的 bib 都没有它 —— 审稿人极可能据此质疑 novelty。</a:t>
            </a:r>
          </a:p>
        </p:txBody>
      </p:sp>
      <p:sp>
        <p:nvSpPr>
          <p:cNvPr id="7" name="Rounded Rectangle 6"/>
          <p:cNvSpPr/>
          <p:nvPr/>
        </p:nvSpPr>
        <p:spPr>
          <a:xfrm>
            <a:off x="566928" y="3145536"/>
            <a:ext cx="11064240" cy="749808"/>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2607.13987   Agent Skill Security：威胁模型、攻击、防御与评测</a:t>
            </a:r>
          </a:p>
          <a:p>
            <a:pPr algn="l">
              <a:lnSpc>
                <a:spcPct val="114000"/>
              </a:lnSpc>
              <a:spcBef>
                <a:spcPts val="300"/>
              </a:spcBef>
            </a:pPr>
            <a:r>
              <a:rPr sz="940">
                <a:solidFill>
                  <a:srgbClr val="111827"/>
                </a:solidFill>
                <a:latin typeface="Microsoft YaHei"/>
                <a:ea typeface="Microsoft YaHei"/>
                <a:cs typeface="Microsoft YaHei"/>
              </a:rPr>
              <a:t>§3 威胁模型的直接对标，semi-trusted Skills 一条尤其需要</a:t>
            </a:r>
          </a:p>
        </p:txBody>
      </p:sp>
      <p:sp>
        <p:nvSpPr>
          <p:cNvPr id="8" name="Rounded Rectangle 7"/>
          <p:cNvSpPr/>
          <p:nvPr/>
        </p:nvSpPr>
        <p:spPr>
          <a:xfrm>
            <a:off x="566928" y="4005072"/>
            <a:ext cx="11064240" cy="749808"/>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2605.22781   DeltaBox：LLM agent 沙箱的轻量容器</a:t>
            </a:r>
          </a:p>
          <a:p>
            <a:pPr algn="l">
              <a:lnSpc>
                <a:spcPct val="114000"/>
              </a:lnSpc>
              <a:spcBef>
                <a:spcPts val="300"/>
              </a:spcBef>
            </a:pPr>
            <a:r>
              <a:rPr sz="940">
                <a:solidFill>
                  <a:srgbClr val="111827"/>
                </a:solidFill>
                <a:latin typeface="Microsoft YaHei"/>
                <a:ea typeface="Microsoft YaHei"/>
                <a:cs typeface="Microsoft YaHei"/>
              </a:rPr>
              <a:t>Scaffold 隔离基底的具体实现，支撑资源不变性义务</a:t>
            </a:r>
          </a:p>
        </p:txBody>
      </p:sp>
      <p:sp>
        <p:nvSpPr>
          <p:cNvPr id="9" name="Rounded Rectangle 8"/>
          <p:cNvSpPr/>
          <p:nvPr/>
        </p:nvSpPr>
        <p:spPr>
          <a:xfrm>
            <a:off x="566928" y="4864608"/>
            <a:ext cx="11064240" cy="749808"/>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100">
                <a:solidFill>
                  <a:srgbClr val="111827"/>
                </a:solidFill>
                <a:latin typeface="Microsoft YaHei"/>
                <a:ea typeface="Microsoft YaHei"/>
                <a:cs typeface="Microsoft YaHei"/>
              </a:rPr>
              <a:t>2605.18747   Code as Agent Harness 综述</a:t>
            </a:r>
          </a:p>
          <a:p>
            <a:pPr algn="l">
              <a:lnSpc>
                <a:spcPct val="114000"/>
              </a:lnSpc>
              <a:spcBef>
                <a:spcPts val="300"/>
              </a:spcBef>
            </a:pPr>
            <a:r>
              <a:rPr sz="940">
                <a:solidFill>
                  <a:srgbClr val="111827"/>
                </a:solidFill>
                <a:latin typeface="Microsoft YaHei"/>
                <a:ea typeface="Microsoft YaHei"/>
                <a:cs typeface="Microsoft YaHei"/>
              </a:rPr>
              <a:t>Harness 综述，定位 Skill-as-Code；vault 已有笔记</a:t>
            </a:r>
          </a:p>
        </p:txBody>
      </p:sp>
      <p:sp>
        <p:nvSpPr>
          <p:cNvPr id="10" name="Rounded Rectangle 9"/>
          <p:cNvSpPr/>
          <p:nvPr/>
        </p:nvSpPr>
        <p:spPr>
          <a:xfrm>
            <a:off x="566928" y="5742432"/>
            <a:ext cx="11064240" cy="566928"/>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引用卫生：标题与完整作者列表必须经 arXiv API 核实后才写入 references.bib（本仓库有伪造引用元数据的历史，CHANGELOG v4 修 8 条、v8 修 3 条）。</a:t>
            </a:r>
          </a:p>
        </p:txBody>
      </p:sp>
      <p:sp>
        <p:nvSpPr>
          <p:cNvPr id="11" name="TextBox 10"/>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
            </a:r>
          </a:p>
        </p:txBody>
      </p:sp>
      <p:sp>
        <p:nvSpPr>
          <p:cNvPr id="12" name="TextBox 11"/>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威胁模型</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每条假设都是架构可被攻击的地方，而不是它建立的性质</a:t>
            </a:r>
          </a:p>
        </p:txBody>
      </p:sp>
      <p:sp>
        <p:nvSpPr>
          <p:cNvPr id="4" name="Rounded Rectangle 3"/>
          <p:cNvSpPr/>
          <p:nvPr/>
        </p:nvSpPr>
        <p:spPr>
          <a:xfrm>
            <a:off x="11140135" y="402336"/>
            <a:ext cx="484632"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安全</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11064240" cy="82296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50" b="1">
                <a:solidFill>
                  <a:srgbClr val="5B21B6"/>
                </a:solidFill>
                <a:latin typeface="Microsoft YaHei"/>
                <a:ea typeface="Microsoft YaHei"/>
                <a:cs typeface="Microsoft YaHei"/>
              </a:rPr>
              <a:t>可信计算基</a:t>
            </a:r>
          </a:p>
          <a:p>
            <a:pPr algn="l">
              <a:lnSpc>
                <a:spcPct val="114000"/>
              </a:lnSpc>
              <a:spcBef>
                <a:spcPts val="300"/>
              </a:spcBef>
            </a:pPr>
            <a:r>
              <a:rPr sz="980">
                <a:solidFill>
                  <a:srgbClr val="111827"/>
                </a:solidFill>
                <a:latin typeface="Microsoft YaHei"/>
                <a:ea typeface="Microsoft YaHei"/>
                <a:cs typeface="Microsoft YaHei"/>
              </a:rPr>
              <a:t>控制面可信：Harness 编译器、Skill 注册表、策略求值器、gate 实现、Scaffold attestation。任一被攻破则边界失效。</a:t>
            </a:r>
          </a:p>
        </p:txBody>
      </p:sp>
      <p:sp>
        <p:nvSpPr>
          <p:cNvPr id="7" name="Rounded Rectangle 6"/>
          <p:cNvSpPr/>
          <p:nvPr/>
        </p:nvSpPr>
        <p:spPr>
          <a:xfrm>
            <a:off x="566928" y="2560320"/>
            <a:ext cx="11064240" cy="82296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50" b="1">
                <a:solidFill>
                  <a:srgbClr val="991B1B"/>
                </a:solidFill>
                <a:latin typeface="Microsoft YaHei"/>
                <a:ea typeface="Microsoft YaHei"/>
                <a:cs typeface="Microsoft YaHei"/>
              </a:rPr>
              <a:t>不可信模型输出</a:t>
            </a:r>
          </a:p>
          <a:p>
            <a:pPr algn="l">
              <a:lnSpc>
                <a:spcPct val="114000"/>
              </a:lnSpc>
              <a:spcBef>
                <a:spcPts val="300"/>
              </a:spcBef>
            </a:pPr>
            <a:r>
              <a:rPr sz="980">
                <a:solidFill>
                  <a:srgbClr val="111827"/>
                </a:solidFill>
                <a:latin typeface="Microsoft YaHei"/>
                <a:ea typeface="Microsoft YaHei"/>
                <a:cs typeface="Microsoft YaHei"/>
              </a:rPr>
              <a:t>Planner/executor 输出是对授权的请求，永不是授权。计划命名契约外操作 = 被拒请求，不是被放宽的契约。</a:t>
            </a:r>
          </a:p>
        </p:txBody>
      </p:sp>
      <p:sp>
        <p:nvSpPr>
          <p:cNvPr id="8" name="Rounded Rectangle 7"/>
          <p:cNvSpPr/>
          <p:nvPr/>
        </p:nvSpPr>
        <p:spPr>
          <a:xfrm>
            <a:off x="566928" y="3474720"/>
            <a:ext cx="11064240" cy="822960"/>
          </a:xfrm>
          <a:prstGeom prst="roundRect">
            <a:avLst>
              <a:gd name="adj" fmla="val 6000"/>
            </a:avLst>
          </a:prstGeom>
          <a:solidFill>
            <a:srgbClr val="FFF7ED"/>
          </a:solidFill>
          <a:ln w="1524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50" b="1">
                <a:solidFill>
                  <a:srgbClr val="C2410C"/>
                </a:solidFill>
                <a:latin typeface="Microsoft YaHei"/>
                <a:ea typeface="Microsoft YaHei"/>
                <a:cs typeface="Microsoft YaHei"/>
              </a:rPr>
              <a:t>半可信 Skill</a:t>
            </a:r>
          </a:p>
          <a:p>
            <a:pPr algn="l">
              <a:lnSpc>
                <a:spcPct val="114000"/>
              </a:lnSpc>
              <a:spcBef>
                <a:spcPts val="300"/>
              </a:spcBef>
            </a:pPr>
            <a:r>
              <a:rPr sz="980">
                <a:solidFill>
                  <a:srgbClr val="111827"/>
                </a:solidFill>
                <a:latin typeface="Microsoft YaHei"/>
                <a:ea typeface="Microsoft YaHei"/>
                <a:cs typeface="Microsoft YaHei"/>
              </a:rPr>
              <a:t>作者已认证且可追责，但不假设正确或善意。Skill 可以声明一种行为而表现另一种，故声明是待行为性验证的准入输入。</a:t>
            </a:r>
          </a:p>
        </p:txBody>
      </p:sp>
      <p:sp>
        <p:nvSpPr>
          <p:cNvPr id="9" name="Rounded Rectangle 8"/>
          <p:cNvSpPr/>
          <p:nvPr/>
        </p:nvSpPr>
        <p:spPr>
          <a:xfrm>
            <a:off x="566928" y="4389120"/>
            <a:ext cx="11064240" cy="822960"/>
          </a:xfrm>
          <a:prstGeom prst="roundRect">
            <a:avLst>
              <a:gd name="adj" fmla="val 6000"/>
            </a:avLst>
          </a:prstGeom>
          <a:solidFill>
            <a:srgbClr val="EFF6FF"/>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50" b="1">
                <a:solidFill>
                  <a:srgbClr val="1E40AF"/>
                </a:solidFill>
                <a:latin typeface="Microsoft YaHei"/>
                <a:ea typeface="Microsoft YaHei"/>
                <a:cs typeface="Microsoft YaHei"/>
              </a:rPr>
              <a:t>不可信外部内容</a:t>
            </a:r>
          </a:p>
          <a:p>
            <a:pPr algn="l">
              <a:lnSpc>
                <a:spcPct val="114000"/>
              </a:lnSpc>
              <a:spcBef>
                <a:spcPts val="300"/>
              </a:spcBef>
            </a:pPr>
            <a:r>
              <a:rPr sz="980">
                <a:solidFill>
                  <a:srgbClr val="111827"/>
                </a:solidFill>
                <a:latin typeface="Microsoft YaHei"/>
                <a:ea typeface="Microsoft YaHei"/>
                <a:cs typeface="Microsoft YaHei"/>
              </a:rPr>
              <a:t>工具结果、检索文档、数据源载荷均可被攻击者影响。数据面文本不能改变激活路径、授权效果集或策略版本。</a:t>
            </a:r>
          </a:p>
        </p:txBody>
      </p:sp>
      <p:sp>
        <p:nvSpPr>
          <p:cNvPr id="10" name="Rounded Rectangle 9"/>
          <p:cNvSpPr/>
          <p:nvPr/>
        </p:nvSpPr>
        <p:spPr>
          <a:xfrm>
            <a:off x="566928" y="5303520"/>
            <a:ext cx="11064240" cy="82296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50" b="1">
                <a:solidFill>
                  <a:srgbClr val="374151"/>
                </a:solidFill>
                <a:latin typeface="Microsoft YaHei"/>
                <a:ea typeface="Microsoft YaHei"/>
                <a:cs typeface="Microsoft YaHei"/>
              </a:rPr>
              <a:t>对手能力</a:t>
            </a:r>
          </a:p>
          <a:p>
            <a:pPr algn="l">
              <a:lnSpc>
                <a:spcPct val="114000"/>
              </a:lnSpc>
              <a:spcBef>
                <a:spcPts val="300"/>
              </a:spcBef>
            </a:pPr>
            <a:r>
              <a:rPr sz="980">
                <a:solidFill>
                  <a:srgbClr val="111827"/>
                </a:solidFill>
                <a:latin typeface="Microsoft YaHei"/>
                <a:ea typeface="Microsoft YaHei"/>
                <a:cs typeface="Microsoft YaHei"/>
              </a:rPr>
              <a:t>可以撰写/修改 Skill、影响请求文本、控制外部内容、把已批准 Skill 组合成危险路径；不能破坏 Scaffold 隔离、伪造 attestation 或颠覆控制面。</a:t>
            </a:r>
          </a:p>
        </p:txBody>
      </p:sp>
      <p:sp>
        <p:nvSpPr>
          <p:cNvPr id="11" name="Rounded Rectangle 10"/>
          <p:cNvSpPr/>
          <p:nvPr/>
        </p:nvSpPr>
        <p:spPr>
          <a:xfrm>
            <a:off x="566928" y="6272784"/>
            <a:ext cx="11064240" cy="384048"/>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940">
                <a:solidFill>
                  <a:srgbClr val="111827"/>
                </a:solidFill>
                <a:latin typeface="Microsoft YaHei"/>
                <a:ea typeface="Microsoft YaHei"/>
                <a:cs typeface="Microsoft YaHei"/>
              </a:rPr>
              <a:t>目标很窄：对手能达到的每个效果都必须出现在某个解析后契约的授权效果集中，集合外的每次尝试都是被记录的类型化失败。gate 与 trace 使违规可归因，但都不阻止已授权效果造成危害。</a:t>
            </a:r>
          </a:p>
        </p:txBody>
      </p:sp>
      <p:sp>
        <p:nvSpPr>
          <p:cNvPr id="12" name="TextBox 11"/>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
            </a:r>
          </a:p>
        </p:txBody>
      </p:sp>
      <p:sp>
        <p:nvSpPr>
          <p:cNvPr id="13" name="TextBox 12"/>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证据边界：本架构至今没有实测结果</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v22 与 v23 复核连续两轮标记为首要风险 —— 评审必须知道这一点</a:t>
            </a:r>
          </a:p>
        </p:txBody>
      </p:sp>
      <p:sp>
        <p:nvSpPr>
          <p:cNvPr id="4" name="Rounded Rectangle 3"/>
          <p:cNvSpPr/>
          <p:nvPr/>
        </p:nvSpPr>
        <p:spPr>
          <a:xfrm>
            <a:off x="11140135" y="402336"/>
            <a:ext cx="484632" cy="310896"/>
          </a:xfrm>
          <a:prstGeom prst="roundRect">
            <a:avLst>
              <a:gd name="adj" fmla="val 2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991B1B"/>
                </a:solidFill>
                <a:latin typeface="Microsoft YaHei"/>
                <a:ea typeface="Microsoft YaHei"/>
                <a:cs typeface="Microsoft YaHei"/>
              </a:rPr>
              <a:t>必读</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11064240" cy="1133856"/>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500" b="1">
                <a:solidFill>
                  <a:srgbClr val="991B1B"/>
                </a:solidFill>
                <a:latin typeface="Microsoft YaHei"/>
                <a:ea typeface="Microsoft YaHei"/>
                <a:cs typeface="Microsoft YaHei"/>
              </a:rPr>
              <a:t>本文不提供什么</a:t>
            </a:r>
          </a:p>
          <a:p>
            <a:pPr algn="l">
              <a:lnSpc>
                <a:spcPct val="114000"/>
              </a:lnSpc>
              <a:spcBef>
                <a:spcPts val="300"/>
              </a:spcBef>
            </a:pPr>
            <a:r>
              <a:rPr sz="1050">
                <a:solidFill>
                  <a:srgbClr val="111827"/>
                </a:solidFill>
                <a:latin typeface="Microsoft YaHei"/>
                <a:ea typeface="Microsoft YaHei"/>
                <a:cs typeface="Microsoft YaHei"/>
              </a:rPr>
              <a:t>没有完成的 runtime 实现、没有实测的执法预算、没有数据集、没有 benchmark 结果、</a:t>
            </a:r>
          </a:p>
          <a:p>
            <a:pPr algn="l">
              <a:lnSpc>
                <a:spcPct val="114000"/>
              </a:lnSpc>
              <a:spcBef>
                <a:spcPts val="300"/>
              </a:spcBef>
            </a:pPr>
            <a:r>
              <a:rPr sz="1050">
                <a:solidFill>
                  <a:srgbClr val="111827"/>
                </a:solidFill>
                <a:latin typeface="Microsoft YaHei"/>
                <a:ea typeface="Microsoft YaHei"/>
                <a:cs typeface="Microsoft YaHei"/>
              </a:rPr>
              <a:t>没有关于某个部署可支撑规模的主张。图是责任与协议视图，不是截图或实现证据。</a:t>
            </a:r>
          </a:p>
        </p:txBody>
      </p:sp>
      <p:sp>
        <p:nvSpPr>
          <p:cNvPr id="7" name="Rounded Rectangle 6"/>
          <p:cNvSpPr/>
          <p:nvPr/>
        </p:nvSpPr>
        <p:spPr>
          <a:xfrm>
            <a:off x="566928" y="2980944"/>
            <a:ext cx="11064240" cy="73152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00" b="1">
                <a:solidFill>
                  <a:srgbClr val="374151"/>
                </a:solidFill>
                <a:latin typeface="Microsoft YaHei"/>
                <a:ea typeface="Microsoft YaHei"/>
                <a:cs typeface="Microsoft YaHei"/>
              </a:rPr>
              <a:t>supported 不等于“证明独立”</a:t>
            </a:r>
          </a:p>
          <a:p>
            <a:pPr algn="l">
              <a:lnSpc>
                <a:spcPct val="114000"/>
              </a:lnSpc>
              <a:spcBef>
                <a:spcPts val="300"/>
              </a:spcBef>
            </a:pPr>
            <a:r>
              <a:rPr sz="960">
                <a:solidFill>
                  <a:srgbClr val="111827"/>
                </a:solidFill>
                <a:latin typeface="Microsoft YaHei"/>
                <a:ea typeface="Microsoft YaHei"/>
                <a:cs typeface="Microsoft YaHei"/>
              </a:rPr>
              <a:t>它只表示在预登记的 Ω、margin、功效与仪器条件内未触发证伪标准。任何更强外推都不成立。</a:t>
            </a:r>
          </a:p>
        </p:txBody>
      </p:sp>
      <p:sp>
        <p:nvSpPr>
          <p:cNvPr id="8" name="Rounded Rectangle 7"/>
          <p:cNvSpPr/>
          <p:nvPr/>
        </p:nvSpPr>
        <p:spPr>
          <a:xfrm>
            <a:off x="566928" y="3803904"/>
            <a:ext cx="11064240" cy="73152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00" b="1">
                <a:solidFill>
                  <a:srgbClr val="374151"/>
                </a:solidFill>
                <a:latin typeface="Microsoft YaHei"/>
                <a:ea typeface="Microsoft YaHei"/>
                <a:cs typeface="Microsoft YaHei"/>
              </a:rPr>
              <a:t>六条件合取可能贵到不可测</a:t>
            </a:r>
          </a:p>
          <a:p>
            <a:pPr algn="l">
              <a:lnSpc>
                <a:spcPct val="114000"/>
              </a:lnSpc>
              <a:spcBef>
                <a:spcPts val="300"/>
              </a:spcBef>
            </a:pPr>
            <a:r>
              <a:rPr sz="960">
                <a:solidFill>
                  <a:srgbClr val="111827"/>
                </a:solidFill>
                <a:latin typeface="Microsoft YaHei"/>
                <a:ea typeface="Microsoft YaHei"/>
                <a:cs typeface="Microsoft YaHei"/>
              </a:rPr>
              <a:t>论文自承：严格的覆盖规则降低假支持，但会让有用的部署变成 inconclusive。外部效度因此存疑。</a:t>
            </a:r>
          </a:p>
        </p:txBody>
      </p:sp>
      <p:sp>
        <p:nvSpPr>
          <p:cNvPr id="9" name="Rounded Rectangle 8"/>
          <p:cNvSpPr/>
          <p:nvPr/>
        </p:nvSpPr>
        <p:spPr>
          <a:xfrm>
            <a:off x="566928" y="4626864"/>
            <a:ext cx="11064240" cy="73152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00" b="1">
                <a:solidFill>
                  <a:srgbClr val="374151"/>
                </a:solidFill>
                <a:latin typeface="Microsoft YaHei"/>
                <a:ea typeface="Microsoft YaHei"/>
                <a:cs typeface="Microsoft YaHei"/>
              </a:rPr>
              <a:t>组织与治理实证薄弱</a:t>
            </a:r>
          </a:p>
          <a:p>
            <a:pPr algn="l">
              <a:lnSpc>
                <a:spcPct val="114000"/>
              </a:lnSpc>
              <a:spcBef>
                <a:spcPts val="300"/>
              </a:spcBef>
            </a:pPr>
            <a:r>
              <a:rPr sz="960">
                <a:solidFill>
                  <a:srgbClr val="111827"/>
                </a:solidFill>
                <a:latin typeface="Microsoft YaHei"/>
                <a:ea typeface="Microsoft YaHei"/>
                <a:cs typeface="Microsoft YaHei"/>
              </a:rPr>
              <a:t>四类责任对象的 owner 划分、争议升级（现为规则草案）与跨企业可迁移性，尚未经组织研究验证。</a:t>
            </a:r>
          </a:p>
        </p:txBody>
      </p:sp>
      <p:sp>
        <p:nvSpPr>
          <p:cNvPr id="10" name="Rounded Rectangle 9"/>
          <p:cNvSpPr/>
          <p:nvPr/>
        </p:nvSpPr>
        <p:spPr>
          <a:xfrm>
            <a:off x="566928" y="5449824"/>
            <a:ext cx="11064240" cy="73152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200" b="1">
                <a:solidFill>
                  <a:srgbClr val="374151"/>
                </a:solidFill>
                <a:latin typeface="Microsoft YaHei"/>
                <a:ea typeface="Microsoft YaHei"/>
                <a:cs typeface="Microsoft YaHei"/>
              </a:rPr>
              <a:t>唯一剩余的 P1 级评审项</a:t>
            </a:r>
          </a:p>
          <a:p>
            <a:pPr algn="l">
              <a:lnSpc>
                <a:spcPct val="114000"/>
              </a:lnSpc>
              <a:spcBef>
                <a:spcPts val="300"/>
              </a:spcBef>
            </a:pPr>
            <a:r>
              <a:rPr sz="960">
                <a:solidFill>
                  <a:srgbClr val="111827"/>
                </a:solidFill>
                <a:latin typeface="Microsoft YaHei"/>
                <a:ea typeface="Microsoft YaHei"/>
                <a:cs typeface="Microsoft YaHei"/>
              </a:rPr>
              <a:t>与 LangGraph 等现有系统的逐项对比表，自 v20 评审第 6 条提出至 v23 仍未落地。</a:t>
            </a:r>
          </a:p>
        </p:txBody>
      </p:sp>
      <p:sp>
        <p:nvSpPr>
          <p:cNvPr id="11" name="TextBox 10"/>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这一页不得从评审材料中删去 —— 隐去它会误导评审</a:t>
            </a:r>
          </a:p>
        </p:txBody>
      </p:sp>
      <p:sp>
        <p:nvSpPr>
          <p:cNvPr id="12" name="TextBox 11"/>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9692640" cy="566928"/>
          </a:xfrm>
          <a:prstGeom prst="rect">
            <a:avLst/>
          </a:prstGeom>
          <a:noFill/>
        </p:spPr>
        <p:txBody>
          <a:bodyPr wrap="square" anchor="t" lIns="36576" rIns="36576" tIns="18288" bIns="18288">
            <a:spAutoFit/>
          </a:bodyPr>
          <a:lstStyle/>
          <a:p>
            <a:pPr algn="l">
              <a:lnSpc>
                <a:spcPct val="115000"/>
              </a:lnSpc>
              <a:spcAft>
                <a:spcPts val="300"/>
              </a:spcAft>
            </a:pPr>
            <a:r>
              <a:rPr sz="2700" b="1">
                <a:solidFill>
                  <a:srgbClr val="111827"/>
                </a:solidFill>
                <a:latin typeface="Microsoft YaHei"/>
                <a:ea typeface="Microsoft YaHei"/>
                <a:cs typeface="Microsoft YaHei"/>
              </a:rPr>
              <a:t>下一步：最便宜的第一步是 pilot，不是继续扩写</a:t>
            </a:r>
          </a:p>
        </p:txBody>
      </p:sp>
      <p:sp>
        <p:nvSpPr>
          <p:cNvPr id="3" name="TextBox 2"/>
          <p:cNvSpPr txBox="1"/>
          <p:nvPr/>
        </p:nvSpPr>
        <p:spPr>
          <a:xfrm>
            <a:off x="566928" y="932688"/>
            <a:ext cx="10424160" cy="384048"/>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目的不是检验 P1，而是验证协议可执行</a:t>
            </a:r>
          </a:p>
        </p:txBody>
      </p:sp>
      <p:sp>
        <p:nvSpPr>
          <p:cNvPr id="4" name="Rounded Rectangle 3"/>
          <p:cNvSpPr/>
          <p:nvPr/>
        </p:nvSpPr>
        <p:spPr>
          <a:xfrm>
            <a:off x="11140135" y="402336"/>
            <a:ext cx="484632" cy="310896"/>
          </a:xfrm>
          <a:prstGeom prst="roundRect">
            <a:avLst>
              <a:gd name="adj" fmla="val 22000"/>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5B21B6"/>
                </a:solidFill>
                <a:latin typeface="Microsoft YaHei"/>
                <a:ea typeface="Microsoft YaHei"/>
                <a:cs typeface="Microsoft YaHei"/>
              </a:rPr>
              <a:t>行动</a:t>
            </a:r>
          </a:p>
        </p:txBody>
      </p:sp>
      <p:sp>
        <p:nvSpPr>
          <p:cNvPr id="5" name="Rectangle 4"/>
          <p:cNvSpPr/>
          <p:nvPr/>
        </p:nvSpPr>
        <p:spPr>
          <a:xfrm>
            <a:off x="566928" y="1371600"/>
            <a:ext cx="11057839" cy="1397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5413248" cy="2286000"/>
          </a:xfrm>
          <a:prstGeom prst="roundRect">
            <a:avLst>
              <a:gd name="adj" fmla="val 6000"/>
            </a:avLst>
          </a:prstGeom>
          <a:solidFill>
            <a:srgbClr val="ECFDF5"/>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500" b="1">
                <a:solidFill>
                  <a:srgbClr val="047857"/>
                </a:solidFill>
                <a:latin typeface="Microsoft YaHei"/>
                <a:ea typeface="Microsoft YaHei"/>
                <a:cs typeface="Microsoft YaHei"/>
              </a:rPr>
              <a:t>单集群 2×2 序列可行性 pilot</a:t>
            </a:r>
          </a:p>
          <a:p>
            <a:pPr algn="l">
              <a:lnSpc>
                <a:spcPct val="114000"/>
              </a:lnSpc>
              <a:spcBef>
                <a:spcPts val="300"/>
              </a:spcBef>
            </a:pPr>
            <a:r>
              <a:rPr sz="1050">
                <a:solidFill>
                  <a:srgbClr val="111827"/>
                </a:solidFill>
                <a:latin typeface="Microsoft YaHei"/>
                <a:ea typeface="Microsoft YaHei"/>
                <a:cs typeface="Microsoft YaHei"/>
              </a:rPr>
              <a:t>固定模型、policy 与 workload family，在两个 Scaffold class 上</a:t>
            </a:r>
          </a:p>
          <a:p>
            <a:pPr algn="l">
              <a:lnSpc>
                <a:spcPct val="114000"/>
              </a:lnSpc>
              <a:spcBef>
                <a:spcPts val="300"/>
              </a:spcBef>
            </a:pPr>
            <a:r>
              <a:rPr sz="1050">
                <a:solidFill>
                  <a:srgbClr val="111827"/>
                </a:solidFill>
                <a:latin typeface="Microsoft YaHei"/>
                <a:ea typeface="Microsoft YaHei"/>
                <a:cs typeface="Microsoft YaHei"/>
              </a:rPr>
              <a:t>跑一轮 cluster-period 随机交叉。要验证的是三件事：</a:t>
            </a:r>
          </a:p>
          <a:p>
            <a:pPr algn="l">
              <a:lnSpc>
                <a:spcPct val="114000"/>
              </a:lnSpc>
              <a:spcBef>
                <a:spcPts val="300"/>
              </a:spcBef>
            </a:pPr>
            <a:r>
              <a:rPr sz="1050">
                <a:solidFill>
                  <a:srgbClr val="111827"/>
                </a:solidFill>
                <a:latin typeface="Microsoft YaHei"/>
                <a:ea typeface="Microsoft YaHei"/>
                <a:cs typeface="Microsoft YaHei"/>
              </a:rPr>
              <a:t>① 重置哨兵在真实 runtime 上可达成</a:t>
            </a:r>
          </a:p>
          <a:p>
            <a:pPr algn="l">
              <a:lnSpc>
                <a:spcPct val="114000"/>
              </a:lnSpc>
              <a:spcBef>
                <a:spcPts val="300"/>
              </a:spcBef>
            </a:pPr>
            <a:r>
              <a:rPr sz="1050">
                <a:solidFill>
                  <a:srgbClr val="111827"/>
                </a:solidFill>
                <a:latin typeface="Microsoft YaHei"/>
                <a:ea typeface="Microsoft YaHei"/>
                <a:cs typeface="Microsoft YaHei"/>
              </a:rPr>
              <a:t>② 六项义务的覆盖率下限 γ 可达</a:t>
            </a:r>
          </a:p>
          <a:p>
            <a:pPr algn="l">
              <a:lnSpc>
                <a:spcPct val="114000"/>
              </a:lnSpc>
              <a:spcBef>
                <a:spcPts val="300"/>
              </a:spcBef>
            </a:pPr>
            <a:r>
              <a:rPr sz="1050">
                <a:solidFill>
                  <a:srgbClr val="111827"/>
                </a:solidFill>
                <a:latin typeface="Microsoft YaHei"/>
                <a:ea typeface="Microsoft YaHei"/>
                <a:cs typeface="Microsoft YaHei"/>
              </a:rPr>
              <a:t>③ 配对安全回放可实施</a:t>
            </a:r>
          </a:p>
          <a:p>
            <a:pPr algn="l">
              <a:lnSpc>
                <a:spcPct val="114000"/>
              </a:lnSpc>
              <a:spcBef>
                <a:spcPts val="300"/>
              </a:spcBef>
            </a:pPr>
            <a:r>
              <a:rPr sz="1050">
                <a:solidFill>
                  <a:srgbClr val="111827"/>
                </a:solidFill>
                <a:latin typeface="Microsoft YaHei"/>
                <a:ea typeface="Microsoft YaHei"/>
                <a:cs typeface="Microsoft YaHei"/>
              </a:rPr>
              <a:t>无论结果是 supported / falsified / conditional / inconclusive，</a:t>
            </a:r>
          </a:p>
          <a:p>
            <a:pPr algn="l">
              <a:lnSpc>
                <a:spcPct val="114000"/>
              </a:lnSpc>
              <a:spcBef>
                <a:spcPts val="300"/>
              </a:spcBef>
            </a:pPr>
            <a:r>
              <a:rPr sz="1050">
                <a:solidFill>
                  <a:srgbClr val="111827"/>
                </a:solidFill>
                <a:latin typeface="Microsoft YaHei"/>
                <a:ea typeface="Microsoft YaHei"/>
                <a:cs typeface="Microsoft YaHei"/>
              </a:rPr>
              <a:t>都比继续扩写架构说明更能提高可信度。</a:t>
            </a:r>
          </a:p>
        </p:txBody>
      </p:sp>
      <p:sp>
        <p:nvSpPr>
          <p:cNvPr id="7" name="Rounded Rectangle 6"/>
          <p:cNvSpPr/>
          <p:nvPr/>
        </p:nvSpPr>
        <p:spPr>
          <a:xfrm>
            <a:off x="6217920" y="1664208"/>
            <a:ext cx="5413248" cy="2286000"/>
          </a:xfrm>
          <a:prstGeom prst="roundRect">
            <a:avLst>
              <a:gd name="adj" fmla="val 6000"/>
            </a:avLst>
          </a:prstGeom>
          <a:solidFill>
            <a:srgbClr val="F5F3FF"/>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500" b="1">
                <a:solidFill>
                  <a:srgbClr val="5B21B6"/>
                </a:solidFill>
                <a:latin typeface="Microsoft YaHei"/>
                <a:ea typeface="Microsoft YaHei"/>
                <a:cs typeface="Microsoft YaHei"/>
              </a:rPr>
              <a:t>论文侧本轮之后的工作</a:t>
            </a:r>
          </a:p>
          <a:p>
            <a:pPr algn="l">
              <a:lnSpc>
                <a:spcPct val="114000"/>
              </a:lnSpc>
              <a:spcBef>
                <a:spcPts val="300"/>
              </a:spcBef>
            </a:pPr>
            <a:r>
              <a:rPr sz="1050">
                <a:solidFill>
                  <a:srgbClr val="111827"/>
                </a:solidFill>
                <a:latin typeface="Microsoft YaHei"/>
                <a:ea typeface="Microsoft YaHei"/>
                <a:cs typeface="Microsoft YaHei"/>
              </a:rPr>
              <a:t>① 逐段合并 822 + 308 行 LaTeX，重排为单套 8 图</a:t>
            </a:r>
          </a:p>
          <a:p>
            <a:pPr algn="l">
              <a:lnSpc>
                <a:spcPct val="114000"/>
              </a:lnSpc>
              <a:spcBef>
                <a:spcPts val="300"/>
              </a:spcBef>
            </a:pPr>
            <a:r>
              <a:rPr sz="1050">
                <a:solidFill>
                  <a:srgbClr val="111827"/>
                </a:solidFill>
                <a:latin typeface="Microsoft YaHei"/>
                <a:ea typeface="Microsoft YaHei"/>
                <a:cs typeface="Microsoft YaHei"/>
              </a:rPr>
              <a:t>② 按 R1–R4 落实四条硬规则</a:t>
            </a:r>
          </a:p>
          <a:p>
            <a:pPr algn="l">
              <a:lnSpc>
                <a:spcPct val="114000"/>
              </a:lnSpc>
              <a:spcBef>
                <a:spcPts val="300"/>
              </a:spcBef>
            </a:pPr>
            <a:r>
              <a:rPr sz="1050">
                <a:solidFill>
                  <a:srgbClr val="111827"/>
                </a:solidFill>
                <a:latin typeface="Microsoft YaHei"/>
                <a:ea typeface="Microsoft YaHei"/>
                <a:cs typeface="Microsoft YaHei"/>
              </a:rPr>
              <a:t>③ 补 4 篇必引文献并重写 novelty boundary</a:t>
            </a:r>
          </a:p>
          <a:p>
            <a:pPr algn="l">
              <a:lnSpc>
                <a:spcPct val="114000"/>
              </a:lnSpc>
              <a:spcBef>
                <a:spcPts val="300"/>
              </a:spcBef>
            </a:pPr>
            <a:r>
              <a:rPr sz="1050">
                <a:solidFill>
                  <a:srgbClr val="111827"/>
                </a:solidFill>
                <a:latin typeface="Microsoft YaHei"/>
                <a:ea typeface="Microsoft YaHei"/>
                <a:cs typeface="Microsoft YaHei"/>
              </a:rPr>
              <a:t>④ 重写 notes/07 创新点 ledger（当前仍是 v0.1 / 2026-06-20）</a:t>
            </a:r>
          </a:p>
          <a:p>
            <a:pPr algn="l">
              <a:lnSpc>
                <a:spcPct val="114000"/>
              </a:lnSpc>
              <a:spcBef>
                <a:spcPts val="300"/>
              </a:spcBef>
            </a:pPr>
            <a:r>
              <a:rPr sz="1050">
                <a:solidFill>
                  <a:srgbClr val="111827"/>
                </a:solidFill>
                <a:latin typeface="Microsoft YaHei"/>
                <a:ea typeface="Microsoft YaHei"/>
                <a:cs typeface="Microsoft YaHei"/>
              </a:rPr>
              <a:t>⑤ 补 LangGraph 对比表</a:t>
            </a:r>
          </a:p>
          <a:p>
            <a:pPr algn="l">
              <a:lnSpc>
                <a:spcPct val="114000"/>
              </a:lnSpc>
              <a:spcBef>
                <a:spcPts val="300"/>
              </a:spcBef>
            </a:pPr>
            <a:r>
              <a:rPr sz="1050">
                <a:solidFill>
                  <a:srgbClr val="111827"/>
                </a:solidFill>
                <a:latin typeface="Microsoft YaHei"/>
                <a:ea typeface="Microsoft YaHei"/>
                <a:cs typeface="Microsoft YaHei"/>
              </a:rPr>
              <a:t>⑥ 给 latex_to_preprint.py 加 --title 参数</a:t>
            </a:r>
          </a:p>
        </p:txBody>
      </p:sp>
      <p:sp>
        <p:nvSpPr>
          <p:cNvPr id="8" name="Rounded Rectangle 7"/>
          <p:cNvSpPr/>
          <p:nvPr/>
        </p:nvSpPr>
        <p:spPr>
          <a:xfrm>
            <a:off x="566928" y="4133087"/>
            <a:ext cx="11064240" cy="914400"/>
          </a:xfrm>
          <a:prstGeom prst="roundRect">
            <a:avLst>
              <a:gd name="adj" fmla="val 6000"/>
            </a:avLst>
          </a:prstGeom>
          <a:solidFill>
            <a:srgbClr val="FEF2F2"/>
          </a:solidFill>
          <a:ln w="1524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r>
              <a:rPr sz="1400" b="1">
                <a:solidFill>
                  <a:srgbClr val="991B1B"/>
                </a:solidFill>
                <a:latin typeface="Microsoft YaHei"/>
                <a:ea typeface="Microsoft YaHei"/>
                <a:cs typeface="Microsoft YaHei"/>
              </a:rPr>
              <a:t>需要评审拍板的两件事</a:t>
            </a:r>
          </a:p>
          <a:p>
            <a:pPr algn="l">
              <a:lnSpc>
                <a:spcPct val="114000"/>
              </a:lnSpc>
              <a:spcBef>
                <a:spcPts val="300"/>
              </a:spcBef>
            </a:pPr>
            <a:r>
              <a:rPr sz="1050">
                <a:solidFill>
                  <a:srgbClr val="111827"/>
                </a:solidFill>
                <a:latin typeface="Microsoft YaHei"/>
                <a:ea typeface="Microsoft YaHei"/>
                <a:cs typeface="Microsoft YaHei"/>
              </a:rPr>
              <a:t>① 是否接受“放弃 v22 作为独立可投测量协议论文”这一代价？（合回单篇的直接后果）</a:t>
            </a:r>
          </a:p>
          <a:p>
            <a:pPr algn="l">
              <a:lnSpc>
                <a:spcPct val="114000"/>
              </a:lnSpc>
              <a:spcBef>
                <a:spcPts val="300"/>
              </a:spcBef>
            </a:pPr>
            <a:r>
              <a:rPr sz="1050">
                <a:solidFill>
                  <a:srgbClr val="111827"/>
                </a:solidFill>
                <a:latin typeface="Microsoft YaHei"/>
                <a:ea typeface="Microsoft YaHei"/>
                <a:cs typeface="Microsoft YaHei"/>
              </a:rPr>
              <a:t>② 是否先跑 pilot 再投稿，还是以 research-program paper 形态先投？</a:t>
            </a:r>
          </a:p>
        </p:txBody>
      </p:sp>
      <p:sp>
        <p:nvSpPr>
          <p:cNvPr id="9" name="Rounded Rectangle 8"/>
          <p:cNvSpPr/>
          <p:nvPr/>
        </p:nvSpPr>
        <p:spPr>
          <a:xfrm>
            <a:off x="566928" y="5230368"/>
            <a:ext cx="11064240" cy="640080"/>
          </a:xfrm>
          <a:prstGeom prst="roundRect">
            <a:avLst>
              <a:gd name="adj" fmla="val 6000"/>
            </a:avLst>
          </a:prstGeom>
          <a:solidFill>
            <a:srgbClr val="F9FAFB"/>
          </a:solidFill>
          <a:ln w="152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91440" bIns="73152"/>
          <a:lstStyle/>
          <a:p>
            <a:pPr algn="l">
              <a:lnSpc>
                <a:spcPct val="114000"/>
              </a:lnSpc>
              <a:spcBef>
                <a:spcPts val="300"/>
              </a:spcBef>
            </a:pPr>
            <a:r>
              <a:rPr sz="1050">
                <a:solidFill>
                  <a:srgbClr val="111827"/>
                </a:solidFill>
                <a:latin typeface="Microsoft YaHei"/>
                <a:ea typeface="Microsoft YaHei"/>
                <a:cs typeface="Microsoft YaHei"/>
              </a:rPr>
              <a:t>笔记侧已完成：三份漂移副本合并为单一权威目录，命题编号撞车（P10–P12 两套）已修，repo notes/ 降为镜像。</a:t>
            </a:r>
          </a:p>
        </p:txBody>
      </p:sp>
      <p:sp>
        <p:nvSpPr>
          <p:cNvPr id="10" name="TextBox 9"/>
          <p:cNvSpPr txBox="1"/>
          <p:nvPr/>
        </p:nvSpPr>
        <p:spPr>
          <a:xfrm>
            <a:off x="566928" y="6400800"/>
            <a:ext cx="8229600" cy="274320"/>
          </a:xfrm>
          <a:prstGeom prst="rect">
            <a:avLst/>
          </a:prstGeom>
          <a:noFill/>
        </p:spPr>
        <p:txBody>
          <a:bodyPr wrap="square" anchor="t" lIns="36576" rIns="36576" tIns="18288" bIns="18288">
            <a:spAutoFit/>
          </a:bodyPr>
          <a:lstStyle/>
          <a:p>
            <a:pPr algn="l">
              <a:lnSpc>
                <a:spcPct val="115000"/>
              </a:lnSpc>
              <a:spcAft>
                <a:spcPts val="300"/>
              </a:spcAft>
            </a:pPr>
            <a:r>
              <a:rPr sz="900" b="0">
                <a:solidFill>
                  <a:srgbClr val="6B7280"/>
                </a:solidFill>
                <a:latin typeface="Microsoft YaHei"/>
                <a:ea typeface="Microsoft YaHei"/>
                <a:cs typeface="Microsoft YaHei"/>
              </a:rPr>
              <a:t/>
            </a:r>
          </a:p>
        </p:txBody>
      </p:sp>
      <p:sp>
        <p:nvSpPr>
          <p:cNvPr id="11" name="TextBox 10"/>
          <p:cNvSpPr txBox="1"/>
          <p:nvPr/>
        </p:nvSpPr>
        <p:spPr>
          <a:xfrm>
            <a:off x="10774375" y="6400800"/>
            <a:ext cx="868680" cy="274320"/>
          </a:xfrm>
          <a:prstGeom prst="rect">
            <a:avLst/>
          </a:prstGeom>
          <a:noFill/>
        </p:spPr>
        <p:txBody>
          <a:bodyPr wrap="square" anchor="t" lIns="36576" rIns="36576" tIns="18288" bIns="18288">
            <a:spAutoFit/>
          </a:bodyPr>
          <a:lstStyle/>
          <a:p>
            <a:pPr algn="r">
              <a:lnSpc>
                <a:spcPct val="115000"/>
              </a:lnSpc>
              <a:spcAft>
                <a:spcPts val="300"/>
              </a:spcAft>
            </a:pPr>
            <a:r>
              <a:rPr sz="900" b="0">
                <a:solidFill>
                  <a:srgbClr val="6B7280"/>
                </a:solidFill>
                <a:latin typeface="Microsoft YaHei"/>
                <a:ea typeface="Microsoft YaHei"/>
                <a:cs typeface="Microsoft YaHe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468880"/>
            <a:ext cx="10241280" cy="914400"/>
          </a:xfrm>
          <a:prstGeom prst="rect">
            <a:avLst/>
          </a:prstGeom>
          <a:noFill/>
        </p:spPr>
        <p:txBody>
          <a:bodyPr wrap="square" anchor="t" lIns="36576" rIns="36576" tIns="18288" bIns="18288">
            <a:spAutoFit/>
          </a:bodyPr>
          <a:lstStyle/>
          <a:p>
            <a:pPr algn="l">
              <a:lnSpc>
                <a:spcPct val="115000"/>
              </a:lnSpc>
              <a:spcAft>
                <a:spcPts val="300"/>
              </a:spcAft>
            </a:pPr>
            <a:r>
              <a:rPr sz="4000" b="1">
                <a:solidFill>
                  <a:srgbClr val="111827"/>
                </a:solidFill>
                <a:latin typeface="Microsoft YaHei"/>
                <a:ea typeface="Microsoft YaHei"/>
                <a:cs typeface="Microsoft YaHei"/>
              </a:rPr>
              <a:t>讨论</a:t>
            </a:r>
          </a:p>
        </p:txBody>
      </p:sp>
      <p:sp>
        <p:nvSpPr>
          <p:cNvPr id="4" name="TextBox 3"/>
          <p:cNvSpPr txBox="1"/>
          <p:nvPr/>
        </p:nvSpPr>
        <p:spPr>
          <a:xfrm>
            <a:off x="868680" y="3456432"/>
            <a:ext cx="10241280" cy="1463040"/>
          </a:xfrm>
          <a:prstGeom prst="rect">
            <a:avLst/>
          </a:prstGeom>
          <a:noFill/>
        </p:spPr>
        <p:txBody>
          <a:bodyPr wrap="square" anchor="t" lIns="36576" rIns="36576" tIns="18288" bIns="18288">
            <a:spAutoFit/>
          </a:bodyPr>
          <a:lstStyle/>
          <a:p>
            <a:pPr algn="l">
              <a:lnSpc>
                <a:spcPct val="115000"/>
              </a:lnSpc>
              <a:spcAft>
                <a:spcPts val="300"/>
              </a:spcAft>
            </a:pPr>
            <a:r>
              <a:rPr sz="1200" b="0">
                <a:solidFill>
                  <a:srgbClr val="6B7280"/>
                </a:solidFill>
                <a:latin typeface="Microsoft YaHei"/>
                <a:ea typeface="Microsoft YaHei"/>
                <a:cs typeface="Microsoft YaHei"/>
              </a:rPr>
              <a:t>计划    docs/superpowers/plans/2026-08-22-v25-remerge-and-review-deck.md</a:t>
            </a:r>
          </a:p>
          <a:p>
            <a:pPr algn="l">
              <a:lnSpc>
                <a:spcPct val="115000"/>
              </a:lnSpc>
              <a:spcAft>
                <a:spcPts val="300"/>
              </a:spcAft>
            </a:pPr>
            <a:r>
              <a:rPr sz="1200" b="0">
                <a:solidFill>
                  <a:srgbClr val="6B7280"/>
                </a:solidFill>
                <a:latin typeface="Microsoft YaHei"/>
                <a:ea typeface="Microsoft YaHei"/>
                <a:cs typeface="Microsoft YaHei"/>
              </a:rPr>
              <a:t>大纲    academy/v25-outline.md</a:t>
            </a:r>
          </a:p>
          <a:p>
            <a:pPr algn="l">
              <a:lnSpc>
                <a:spcPct val="115000"/>
              </a:lnSpc>
              <a:spcAft>
                <a:spcPts val="300"/>
              </a:spcAft>
            </a:pPr>
            <a:r>
              <a:rPr sz="1200" b="0">
                <a:solidFill>
                  <a:srgbClr val="6B7280"/>
                </a:solidFill>
                <a:latin typeface="Microsoft YaHei"/>
                <a:ea typeface="Microsoft YaHei"/>
                <a:cs typeface="Microsoft YaHei"/>
              </a:rPr>
              <a:t>本 deck  academy/architecture-review-v25-zh.pptx（构建脚本 review_deck_build.py）</a:t>
            </a:r>
          </a:p>
          <a:p>
            <a:pPr algn="l">
              <a:lnSpc>
                <a:spcPct val="115000"/>
              </a:lnSpc>
              <a:spcAft>
                <a:spcPts val="300"/>
              </a:spcAft>
            </a:pPr>
            <a:r>
              <a:rPr sz="1200" b="0">
                <a:solidFill>
                  <a:srgbClr val="6B7280"/>
                </a:solidFill>
                <a:latin typeface="Microsoft YaHei"/>
                <a:ea typeface="Microsoft YaHei"/>
                <a:cs typeface="Microsoft YaHei"/>
              </a:rPr>
              <a:t>笔记    Obsidian / Agentic-Runtime-参考架构（唯一权威，repo notes/ 为镜像）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