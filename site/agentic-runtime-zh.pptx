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786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78638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9382"/>
            <a:ext cx="3623219" cy="3364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21F1A"/>
                </a:solidFill>
                <a:latin typeface="Microsoft YaHei"/>
                <a:ea typeface="Microsoft YaHei"/>
              </a:rPr>
              <a:t>三个层 — 每一层是干什么的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0545"/>
            <a:ext cx="5475061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第一眼认识：一个 AI agent 由三个层叠起来，旁边再加一个数据子系统。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024128"/>
            <a:ext cx="6766560" cy="1572768"/>
          </a:xfrm>
          <a:prstGeom prst="roundRect">
            <a:avLst>
              <a:gd name="adj" fmla="val 9302"/>
            </a:avLst>
          </a:prstGeom>
          <a:solidFill>
            <a:srgbClr val="E6F4EC"/>
          </a:solidFill>
          <a:ln w="16192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" y="1188720"/>
            <a:ext cx="475488" cy="27432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13334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333" y="1237366"/>
            <a:ext cx="430134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11603D"/>
                </a:solidFill>
                <a:latin typeface="Microsoft YaHei"/>
                <a:ea typeface="Microsoft YaHei"/>
              </a:rP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228405"/>
            <a:ext cx="3219420" cy="2487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1603D"/>
                </a:solidFill>
                <a:latin typeface="Microsoft YaHei"/>
                <a:ea typeface="Microsoft YaHei"/>
              </a:rPr>
              <a:t>Skills  —  “要做什么”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88770"/>
            <a:ext cx="328269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存放任务的“岗位说明书”：目标、输入/输出格式，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762506"/>
            <a:ext cx="277063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以及何时行动、何时停止、何时循环的规则。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068739"/>
            <a:ext cx="2171151" cy="1755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就像员工的工作手册 / SOP。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286000"/>
            <a:ext cx="6437376" cy="219456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 w="9525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8395"/>
            <a:ext cx="326148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1603D"/>
                </a:solidFill>
                <a:latin typeface="Microsoft YaHei"/>
                <a:ea typeface="Microsoft YaHei"/>
              </a:rPr>
              <a:t>加一个 Skill → 多一种能做的任务（逻辑扩展）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2743200"/>
            <a:ext cx="6766560" cy="1572768"/>
          </a:xfrm>
          <a:prstGeom prst="roundRect">
            <a:avLst>
              <a:gd name="adj" fmla="val 9302"/>
            </a:avLst>
          </a:prstGeom>
          <a:solidFill>
            <a:srgbClr val="ECE4FB"/>
          </a:solidFill>
          <a:ln w="16192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2907792"/>
            <a:ext cx="475488" cy="27432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13334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333" y="2956438"/>
            <a:ext cx="430134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4F2DA0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947477"/>
            <a:ext cx="3741725" cy="2487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4F2DA0"/>
                </a:solidFill>
                <a:latin typeface="Microsoft YaHei"/>
                <a:ea typeface="Microsoft YaHei"/>
              </a:rPr>
              <a:t>Harness  —  “怎么把活干成”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307842"/>
            <a:ext cx="405079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把 Skill 的意图翻译成可执行的步骤。管理记忆、上下文、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481578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工具、代码生成、安全检查与审计日志。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787811"/>
            <a:ext cx="2048256" cy="1755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就像项目经理 + 运行时框架。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005072"/>
            <a:ext cx="6437376" cy="219456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 w="9525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57467"/>
            <a:ext cx="3732581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Skills 与 Scaffold 唯一相遇的地方（解耦点）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4462272"/>
            <a:ext cx="6766560" cy="1572768"/>
          </a:xfrm>
          <a:prstGeom prst="roundRect">
            <a:avLst>
              <a:gd name="adj" fmla="val 9302"/>
            </a:avLst>
          </a:prstGeom>
          <a:solidFill>
            <a:srgbClr val="FBE7D3"/>
          </a:solidFill>
          <a:ln w="16192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626864"/>
            <a:ext cx="475488" cy="27432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13334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333" y="4675510"/>
            <a:ext cx="430134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9A4D12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666549"/>
            <a:ext cx="4089928" cy="2487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9A4D12"/>
                </a:solidFill>
                <a:latin typeface="Microsoft YaHei"/>
                <a:ea typeface="Microsoft YaHei"/>
              </a:rPr>
              <a:t>Scaffold  —  “在哪里安全地跑”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026914"/>
            <a:ext cx="392277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提供隔离的执行环境：sandbox、shell、网络、存储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200650"/>
            <a:ext cx="3026664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与模型 serving 算力，并带安全边界。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506883"/>
            <a:ext cx="1556675" cy="1755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就像一台安全的云电脑。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" y="5724144"/>
            <a:ext cx="6437376" cy="219456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 w="9525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76539"/>
            <a:ext cx="2437059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9A4D12"/>
                </a:solidFill>
                <a:latin typeface="Microsoft YaHei"/>
                <a:ea typeface="Microsoft YaHei"/>
              </a:rPr>
              <a:t>加一个实例 → 多一份吞吐（物理扩展）</a:t>
            </a:r>
          </a:p>
        </p:txBody>
      </p:sp>
      <p:sp>
        <p:nvSpPr>
          <p:cNvPr id="32" name="Freeform 31"/>
          <p:cNvSpPr/>
          <p:nvPr/>
        </p:nvSpPr>
        <p:spPr>
          <a:xfrm>
            <a:off x="6912864" y="2596896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46304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0002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12864" y="43159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46304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0002">
            <a:solidFill>
              <a:srgbClr val="BC5A16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0" y="1024128"/>
            <a:ext cx="2962656" cy="5010912"/>
          </a:xfrm>
          <a:prstGeom prst="roundRect">
            <a:avLst>
              <a:gd name="adj" fmla="val 4938"/>
            </a:avLst>
          </a:prstGeom>
          <a:solidFill>
            <a:srgbClr val="DDEFF8"/>
          </a:solidFill>
          <a:ln w="16192">
            <a:solidFill>
              <a:srgbClr val="1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1191646"/>
            <a:ext cx="1395740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0F5E87"/>
                </a:solidFill>
                <a:latin typeface="Microsoft YaHei"/>
                <a:ea typeface="Microsoft YaHei"/>
              </a:rPr>
              <a:t>数据子系统 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1451427"/>
            <a:ext cx="290815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3D7A99"/>
                </a:solidFill>
                <a:latin typeface="Microsoft YaHei"/>
                <a:ea typeface="Microsoft YaHei"/>
              </a:rPr>
              <a:t>agent 对你数据的认知（放在一旁，主要离线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159773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3D7A99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000067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000067"/>
            <a:ext cx="2437059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D₁  取数 — 按需只读你要的那一片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219523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2219523"/>
            <a:ext cx="2554834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D₂  语义总结 — 离线把数据源预消化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2438979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2438979"/>
            <a:ext cx="290815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D₃  治理记忆 — 记住“该怎么用这份数据”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658435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658435"/>
            <a:ext cx="326148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D₄  lifetime — 时新性、口径与成本预算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287789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2877891"/>
            <a:ext cx="326148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Ω   工作区 — 运行历史、产物、LLM wiki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" y="6144768"/>
            <a:ext cx="9948672" cy="731520"/>
          </a:xfrm>
          <a:prstGeom prst="roundRect">
            <a:avLst>
              <a:gd name="adj" fmla="val 17500"/>
            </a:avLst>
          </a:prstGeom>
          <a:solidFill>
            <a:srgbClr val="F7F2E8"/>
          </a:solidFill>
          <a:ln w="12382">
            <a:solidFill>
              <a:srgbClr val="CAB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6334689"/>
            <a:ext cx="6857634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221F1A"/>
                </a:solidFill>
                <a:latin typeface="Microsoft YaHei"/>
                <a:ea typeface="Microsoft YaHei"/>
              </a:rPr>
              <a:t>关键点：每一种增长（更多 skill / 更多机器 / 更多数据）加在不同的轴上，因此互不拖累。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78638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9382"/>
            <a:ext cx="5036515" cy="3364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21F1A"/>
                </a:solidFill>
                <a:latin typeface="Microsoft YaHei"/>
                <a:ea typeface="Microsoft YaHei"/>
              </a:rPr>
              <a:t>每一层里到底装了什么 — Spec 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0545"/>
            <a:ext cx="11420124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每层可落地、可构建的具体部件。对齐真实格式：Anthropic SKILL.md、MCP tools、Claude Code、OpenAI connectors。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024128"/>
            <a:ext cx="6766560" cy="1207008"/>
          </a:xfrm>
          <a:prstGeom prst="roundRect">
            <a:avLst>
              <a:gd name="adj" fmla="val 12121"/>
            </a:avLst>
          </a:prstGeom>
          <a:solidFill>
            <a:srgbClr val="E6F4EC"/>
          </a:solidFill>
          <a:ln w="16192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55070"/>
            <a:ext cx="1246510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1603D"/>
                </a:solidFill>
                <a:latin typeface="Microsoft YaHei"/>
                <a:ea typeface="Microsoft YaHei"/>
              </a:rPr>
              <a:t>L3 ·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378275"/>
            <a:ext cx="4085905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SkillSpec — Anthropic SKILL.md 格式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9773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97731"/>
            <a:ext cx="302593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name + description（何时使用）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061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0611"/>
            <a:ext cx="1568470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input / output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349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63491"/>
            <a:ext cx="2319284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output format + 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59773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597731"/>
            <a:ext cx="267260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call / stop / loop 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78061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780611"/>
            <a:ext cx="2437059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examples（shots）+ 反例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96349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A7D52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963491"/>
            <a:ext cx="2319284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11603D"/>
                </a:solidFill>
                <a:latin typeface="Microsoft YaHei"/>
                <a:ea typeface="Microsoft YaHei"/>
              </a:rPr>
              <a:t>个性化 +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2468880"/>
            <a:ext cx="6766560" cy="1719072"/>
          </a:xfrm>
          <a:prstGeom prst="roundRect">
            <a:avLst>
              <a:gd name="adj" fmla="val 8510"/>
            </a:avLst>
          </a:prstGeom>
          <a:solidFill>
            <a:srgbClr val="ECE4FB"/>
          </a:solidFill>
          <a:ln w="16192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599822"/>
            <a:ext cx="1337219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4F2DA0"/>
                </a:solidFill>
                <a:latin typeface="Microsoft YaHei"/>
                <a:ea typeface="Microsoft YaHei"/>
              </a:rPr>
              <a:t>L2 ·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823027"/>
            <a:ext cx="361480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CapabilityCapsule — 以 MCP 为底座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79059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079059"/>
            <a:ext cx="3654765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CapabilityCapsule：inputSchema · contract · invariants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98515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298515"/>
            <a:ext cx="326148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工具路由（intent-scoped, top-k）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1797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17971"/>
            <a:ext cx="4321454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context 组装（shots · schema · memory）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37427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737427"/>
            <a:ext cx="300279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code generation（Read/Edit/Bash + test/lint）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3079059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3079059"/>
            <a:ext cx="361480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tool synthesis（沙箱验证的 capsule）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48" y="3298515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8" y="3298515"/>
            <a:ext cx="361480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记忆维护 M（compaction · writeback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351797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3517971"/>
            <a:ext cx="2155241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· reflection · retrieval · GC）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3737427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6D3FD4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3737427"/>
            <a:ext cx="4674779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reward / verifier + policy gate + 审计日志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4425696"/>
            <a:ext cx="6766560" cy="1499616"/>
          </a:xfrm>
          <a:prstGeom prst="roundRect">
            <a:avLst>
              <a:gd name="adj" fmla="val 9756"/>
            </a:avLst>
          </a:prstGeom>
          <a:solidFill>
            <a:srgbClr val="FBE7D3"/>
          </a:solidFill>
          <a:ln w="16192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556638"/>
            <a:ext cx="1427927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9A4D12"/>
                </a:solidFill>
                <a:latin typeface="Microsoft YaHei"/>
                <a:ea typeface="Microsoft YaHei"/>
              </a:rPr>
              <a:t>L1 · Scaffold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4779843"/>
            <a:ext cx="267260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ExecutionSpec — 隔离与资源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035875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035875"/>
            <a:ext cx="361480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隔离：microVM · container · wasm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25533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255331"/>
            <a:ext cx="1959651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bash / process / filesystem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474787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474787"/>
            <a:ext cx="302593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网络：allowlist · egress 策略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1648" y="5035875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8808" y="5035875"/>
            <a:ext cx="4203680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SSO / 身份：OIDC · SAML · SCIM · RBAC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1648" y="525533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8" y="5255331"/>
            <a:ext cx="491032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云：AWS/GCP/Azure · KMS · S3 · PrivateLink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1648" y="5474787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78808" y="5474787"/>
            <a:ext cx="5381427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serving（KV cache · batching）· lifecycle · 观测</a:t>
            </a:r>
          </a:p>
        </p:txBody>
      </p:sp>
      <p:sp>
        <p:nvSpPr>
          <p:cNvPr id="54" name="Freeform 53"/>
          <p:cNvSpPr/>
          <p:nvPr/>
        </p:nvSpPr>
        <p:spPr>
          <a:xfrm>
            <a:off x="6986016" y="2231136"/>
            <a:ext cx="0" cy="237744"/>
          </a:xfrm>
          <a:custGeom>
            <a:avLst/>
            <a:gdLst/>
            <a:ahLst/>
            <a:cxnLst/>
            <a:rect l="l" t="t" r="r" b="b"/>
            <a:pathLst>
              <a:path w="0" h="237744">
                <a:moveTo>
                  <a:pt x="0" y="0"/>
                </a:moveTo>
                <a:lnTo>
                  <a:pt x="0" y="237744"/>
                </a:lnTo>
              </a:path>
            </a:pathLst>
          </a:custGeom>
          <a:noFill/>
          <a:ln w="20002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6986016" y="4187952"/>
            <a:ext cx="0" cy="237744"/>
          </a:xfrm>
          <a:custGeom>
            <a:avLst/>
            <a:gdLst/>
            <a:ahLst/>
            <a:cxnLst/>
            <a:rect l="l" t="t" r="r" b="b"/>
            <a:pathLst>
              <a:path w="0" h="237744">
                <a:moveTo>
                  <a:pt x="0" y="0"/>
                </a:moveTo>
                <a:lnTo>
                  <a:pt x="0" y="237744"/>
                </a:lnTo>
              </a:path>
            </a:pathLst>
          </a:custGeom>
          <a:noFill/>
          <a:ln w="20002">
            <a:solidFill>
              <a:srgbClr val="BC5A16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98080" y="1024128"/>
            <a:ext cx="2962656" cy="4901184"/>
          </a:xfrm>
          <a:prstGeom prst="roundRect">
            <a:avLst>
              <a:gd name="adj" fmla="val 4938"/>
            </a:avLst>
          </a:prstGeom>
          <a:solidFill>
            <a:srgbClr val="DDEFF8"/>
          </a:solidFill>
          <a:ln w="16192">
            <a:solidFill>
              <a:srgbClr val="1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62672" y="1191646"/>
            <a:ext cx="1395740" cy="2340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0F5E87"/>
                </a:solidFill>
                <a:latin typeface="Microsoft YaHei"/>
                <a:ea typeface="Microsoft YaHei"/>
              </a:rPr>
              <a:t>数据子系统 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1561155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7264" y="1561155"/>
            <a:ext cx="300279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D₁ DataSourceCard — source · auth · quota 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27264" y="1707459"/>
            <a:ext cx="394929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NFR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1981779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27264" y="1981779"/>
            <a:ext cx="2937601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D₂ SemanticSummary — schema* · relations 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7264" y="2128083"/>
            <a:ext cx="590520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themes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2402403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7264" y="2402403"/>
            <a:ext cx="2872405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D₃ DataUsageSkill — sources · join plan 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7264" y="2548707"/>
            <a:ext cx="46012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runs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2823027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7264" y="2823027"/>
            <a:ext cx="261161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D₄ Lifetime — freshness · retention 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7264" y="2969331"/>
            <a:ext cx="590520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budget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243651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474A6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7264" y="3243651"/>
            <a:ext cx="2908158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Ω  工作区 — RunTrace · Art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27264" y="3389955"/>
            <a:ext cx="1698864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ifactManifest · LLM Wik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7264" y="3536259"/>
            <a:ext cx="264536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5E87"/>
                </a:solidFill>
                <a:latin typeface="Microsoft YaHei"/>
                <a:ea typeface="Microsoft YaHei"/>
              </a:rPr>
              <a:t>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78638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9382"/>
            <a:ext cx="4800966" cy="3364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21F1A"/>
                </a:solidFill>
                <a:latin typeface="Microsoft YaHei"/>
                <a:ea typeface="Microsoft YaHei"/>
              </a:rPr>
              <a:t>Agent 是怎么工作的 — 分步走查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0545"/>
            <a:ext cx="10314066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Harness 运行这个循环。由 LLM 做选择；typed contract、policy gate 与 verifier 保证它安全、不跑偏。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987552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FFFFF"/>
          </a:solidFill>
          <a:ln w="11429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71216" y="1106424"/>
            <a:ext cx="292608" cy="292608"/>
          </a:xfrm>
          <a:prstGeom prst="ellipse">
            <a:avLst/>
          </a:prstGeom>
          <a:solidFill>
            <a:srgbClr val="1A7D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6128" y="1152144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264" y="1086033"/>
            <a:ext cx="774314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读懂目标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5264" y="1274820"/>
            <a:ext cx="2735592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读取用户的请求与约束；想清楚“做完”长什么样。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FFFFF"/>
          </a:solidFill>
          <a:ln w="11429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71216" y="1764792"/>
            <a:ext cx="292608" cy="292608"/>
          </a:xfrm>
          <a:prstGeom prst="ellipse">
            <a:avLst/>
          </a:prstGeom>
          <a:solidFill>
            <a:srgbClr val="1A7D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6128" y="1810512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44401"/>
            <a:ext cx="1327343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挑选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1933188"/>
            <a:ext cx="3841650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选出合适的 SkillSpec，加载它的输入/输出 schema。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304288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FFFFF"/>
          </a:solidFill>
          <a:ln w="11429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71216" y="2423160"/>
            <a:ext cx="292608" cy="292608"/>
          </a:xfrm>
          <a:prstGeom prst="ellipse">
            <a:avLst/>
          </a:prstGeom>
          <a:solidFill>
            <a:srgbClr val="1474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6128" y="2468880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2402769"/>
            <a:ext cx="912571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收集上下文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2591556"/>
            <a:ext cx="2735592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拉入记忆、相关示例（shots）和工具的契约。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962656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4EEFF"/>
          </a:solidFill>
          <a:ln w="16192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71216" y="3081528"/>
            <a:ext cx="292608" cy="292608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6128" y="3127248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3061137"/>
            <a:ext cx="774314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制定计划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3249924"/>
            <a:ext cx="3288621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LLM 起草带 fallback 和明确停止条件的计划。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621024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4EEFF"/>
          </a:solidFill>
          <a:ln w="16192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71216" y="3739896"/>
            <a:ext cx="292608" cy="292608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6128" y="3785616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5264" y="3719505"/>
            <a:ext cx="1189086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选择下一步动作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4" y="3908292"/>
            <a:ext cx="4173468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为这一步选 tool（O1）、模型（O7）和 token 预算（O8）。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279392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FFFFF"/>
          </a:solidFill>
          <a:ln w="11429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71216" y="4398264"/>
            <a:ext cx="292608" cy="292608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6128" y="4443984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55264" y="4377873"/>
            <a:ext cx="1189086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先检查，再执行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5264" y="4566660"/>
            <a:ext cx="4615891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policy gate 校验范围与权限，然后在 Scaffold 执行 / 查询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4685532"/>
            <a:ext cx="497799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Data。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937760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FFFFF"/>
          </a:solidFill>
          <a:ln w="11429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71216" y="5056632"/>
            <a:ext cx="292608" cy="292608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6128" y="5102352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5264" y="5036241"/>
            <a:ext cx="912571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观察并打分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5264" y="5225028"/>
            <a:ext cx="3620439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收集结果与证据；verifier / reward 给它打分。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5596128"/>
            <a:ext cx="4754880" cy="530352"/>
          </a:xfrm>
          <a:prstGeom prst="roundRect">
            <a:avLst>
              <a:gd name="adj" fmla="val 22413"/>
            </a:avLst>
          </a:prstGeom>
          <a:solidFill>
            <a:srgbClr val="F4EEFF"/>
          </a:solidFill>
          <a:ln w="16192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71216" y="5715000"/>
            <a:ext cx="292608" cy="292608"/>
          </a:xfrm>
          <a:prstGeom prst="ellipse">
            <a:avLst/>
          </a:prstGeom>
          <a:solidFill>
            <a:srgbClr val="BC5A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6128" y="5760720"/>
            <a:ext cx="32278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5264" y="5694609"/>
            <a:ext cx="912571" cy="1975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4F2DA0"/>
                </a:solidFill>
                <a:latin typeface="Microsoft YaHei"/>
                <a:ea typeface="Microsoft YaHei"/>
              </a:rPr>
              <a:t>够好了吗？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55264" y="5883396"/>
            <a:ext cx="3952256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6B6357"/>
                </a:solidFill>
                <a:latin typeface="Microsoft YaHei"/>
                <a:ea typeface="Microsoft YaHei"/>
              </a:rPr>
              <a:t>够好 → 交付结果。   不够 → 反思、修订计划，回到第 5 步。</a:t>
            </a:r>
          </a:p>
        </p:txBody>
      </p:sp>
      <p:sp>
        <p:nvSpPr>
          <p:cNvPr id="46" name="Freeform 45"/>
          <p:cNvSpPr/>
          <p:nvPr/>
        </p:nvSpPr>
        <p:spPr>
          <a:xfrm>
            <a:off x="5120640" y="1517904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5120640" y="2176272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120640" y="2834640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120640" y="3493008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120640" y="4151376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5120640" y="4809744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120640" y="5468112"/>
            <a:ext cx="0" cy="128016"/>
          </a:xfrm>
          <a:custGeom>
            <a:avLst/>
            <a:gdLst/>
            <a:ahLst/>
            <a:cxnLst/>
            <a:rect l="l" t="t" r="r" b="b"/>
            <a:pathLst>
              <a:path w="0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8097">
            <a:solidFill>
              <a:srgbClr val="6D3FD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371600" y="1252728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15240">
            <a:solidFill>
              <a:srgbClr val="6B6357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91856" y="3913632"/>
            <a:ext cx="2468880" cy="786384"/>
          </a:xfrm>
          <a:prstGeom prst="roundRect">
            <a:avLst>
              <a:gd name="adj" fmla="val 15116"/>
            </a:avLst>
          </a:prstGeom>
          <a:solidFill>
            <a:srgbClr val="FBE7D3"/>
          </a:solidFill>
          <a:ln w="14287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9872" y="4007632"/>
            <a:ext cx="861731" cy="2048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9A4D12"/>
                </a:solidFill>
                <a:latin typeface="Microsoft YaHei"/>
                <a:ea typeface="Microsoft YaHei"/>
              </a:rPr>
              <a:t>Scaffold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9872" y="4219188"/>
            <a:ext cx="1722364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sandbox · shell · serving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9872" y="4383780"/>
            <a:ext cx="2150961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9A4D12"/>
                </a:solidFill>
                <a:latin typeface="Microsoft YaHei"/>
                <a:ea typeface="Microsoft YaHei"/>
              </a:rPr>
              <a:t>filesystem · network · SSO/cloud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91856" y="4846320"/>
            <a:ext cx="2468880" cy="786384"/>
          </a:xfrm>
          <a:prstGeom prst="roundRect">
            <a:avLst>
              <a:gd name="adj" fmla="val 15116"/>
            </a:avLst>
          </a:prstGeom>
          <a:solidFill>
            <a:srgbClr val="DDEFF8"/>
          </a:solidFill>
          <a:ln w="14287">
            <a:solidFill>
              <a:srgbClr val="1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940320"/>
            <a:ext cx="1230417" cy="2048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F5E87"/>
                </a:solidFill>
                <a:latin typeface="Microsoft YaHei"/>
                <a:ea typeface="Microsoft YaHei"/>
              </a:rPr>
              <a:t>数据子系统 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9872" y="5151876"/>
            <a:ext cx="2293169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3D7A99"/>
                </a:solidFill>
                <a:latin typeface="Microsoft YaHei"/>
                <a:ea typeface="Microsoft YaHei"/>
              </a:rPr>
              <a:t>D₁/D₂ 查询 · D₃/D₄ 策略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19872" y="5316468"/>
            <a:ext cx="1740140" cy="1580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3D7A99"/>
                </a:solidFill>
                <a:latin typeface="Microsoft YaHei"/>
                <a:ea typeface="Microsoft YaHei"/>
              </a:rPr>
              <a:t>Ω workspace 证据</a:t>
            </a:r>
          </a:p>
        </p:txBody>
      </p:sp>
      <p:sp>
        <p:nvSpPr>
          <p:cNvPr id="62" name="Freeform 61"/>
          <p:cNvSpPr/>
          <p:nvPr/>
        </p:nvSpPr>
        <p:spPr>
          <a:xfrm>
            <a:off x="7498080" y="4306824"/>
            <a:ext cx="493776" cy="164592"/>
          </a:xfrm>
          <a:custGeom>
            <a:avLst/>
            <a:gdLst/>
            <a:ahLst/>
            <a:cxnLst/>
            <a:rect l="l" t="t" r="r" b="b"/>
            <a:pathLst>
              <a:path w="493776" h="164592">
                <a:moveTo>
                  <a:pt x="0" y="164592"/>
                </a:moveTo>
                <a:lnTo>
                  <a:pt x="493776" y="0"/>
                </a:lnTo>
              </a:path>
            </a:pathLst>
          </a:custGeom>
          <a:noFill/>
          <a:ln w="17145">
            <a:solidFill>
              <a:srgbClr val="BC5A16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498080" y="4617720"/>
            <a:ext cx="493776" cy="621792"/>
          </a:xfrm>
          <a:custGeom>
            <a:avLst/>
            <a:gdLst/>
            <a:ahLst/>
            <a:cxnLst/>
            <a:rect l="l" t="t" r="r" b="b"/>
            <a:pathLst>
              <a:path w="493776" h="621792">
                <a:moveTo>
                  <a:pt x="0" y="0"/>
                </a:moveTo>
                <a:lnTo>
                  <a:pt x="228600" y="0"/>
                </a:lnTo>
                <a:lnTo>
                  <a:pt x="228600" y="621792"/>
                </a:lnTo>
                <a:lnTo>
                  <a:pt x="493776" y="621792"/>
                </a:lnTo>
              </a:path>
            </a:pathLst>
          </a:custGeom>
          <a:noFill/>
          <a:ln w="17145">
            <a:solidFill>
              <a:srgbClr val="1474A6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991856" y="5596128"/>
            <a:ext cx="2468880" cy="530352"/>
          </a:xfrm>
          <a:prstGeom prst="roundRect">
            <a:avLst>
              <a:gd name="adj" fmla="val 22413"/>
            </a:avLst>
          </a:prstGeom>
          <a:solidFill>
            <a:srgbClr val="EAF7F0"/>
          </a:solidFill>
          <a:ln w="14287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26155" y="5758891"/>
            <a:ext cx="800283" cy="2048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1603D"/>
                </a:solidFill>
                <a:latin typeface="Microsoft YaHei"/>
                <a:ea typeface="Microsoft YaHei"/>
              </a:rPr>
              <a:t>交付产物</a:t>
            </a:r>
          </a:p>
        </p:txBody>
      </p:sp>
      <p:sp>
        <p:nvSpPr>
          <p:cNvPr id="66" name="Freeform 65"/>
          <p:cNvSpPr/>
          <p:nvPr/>
        </p:nvSpPr>
        <p:spPr>
          <a:xfrm>
            <a:off x="7498080" y="5861304"/>
            <a:ext cx="493776" cy="0"/>
          </a:xfrm>
          <a:custGeom>
            <a:avLst/>
            <a:gdLst/>
            <a:ahLst/>
            <a:cxnLst/>
            <a:rect l="l" t="t" r="r" b="b"/>
            <a:pathLst>
              <a:path w="493776" h="0">
                <a:moveTo>
                  <a:pt x="0" y="0"/>
                </a:moveTo>
                <a:lnTo>
                  <a:pt x="493776" y="0"/>
                </a:lnTo>
              </a:path>
            </a:pathLst>
          </a:custGeom>
          <a:noFill/>
          <a:ln w="18097">
            <a:solidFill>
              <a:srgbClr val="1A7D5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371600" y="3886200"/>
            <a:ext cx="1371600" cy="1975104"/>
          </a:xfrm>
          <a:custGeom>
            <a:avLst/>
            <a:gdLst/>
            <a:ahLst/>
            <a:cxnLst/>
            <a:rect l="l" t="t" r="r" b="b"/>
            <a:pathLst>
              <a:path w="1371600" h="1975104">
                <a:moveTo>
                  <a:pt x="1371600" y="1975104"/>
                </a:moveTo>
                <a:lnTo>
                  <a:pt x="0" y="1975104"/>
                </a:lnTo>
                <a:lnTo>
                  <a:pt x="0" y="0"/>
                </a:lnTo>
                <a:lnTo>
                  <a:pt x="1371600" y="0"/>
                </a:lnTo>
              </a:path>
            </a:pathLst>
          </a:custGeom>
          <a:noFill/>
          <a:ln w="18097">
            <a:solidFill>
              <a:srgbClr val="BC5A1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08176" y="4514484"/>
            <a:ext cx="1263701" cy="1536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BC5A16"/>
                </a:solidFill>
                <a:latin typeface="Microsoft YaHei"/>
                <a:ea typeface="Microsoft YaHei"/>
              </a:rPr>
              <a:t>反思并回到第 5 步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0" y="6473952"/>
            <a:ext cx="7717536" cy="438912"/>
          </a:xfrm>
          <a:prstGeom prst="roundRect">
            <a:avLst>
              <a:gd name="adj" fmla="val 25000"/>
            </a:avLst>
          </a:prstGeom>
          <a:solidFill>
            <a:srgbClr val="F1EBE0"/>
          </a:solidFill>
          <a:ln w="11429">
            <a:solidFill>
              <a:srgbClr val="6D3F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71216" y="6636075"/>
            <a:ext cx="5263652" cy="168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4F2DA0"/>
                </a:solidFill>
                <a:latin typeface="Microsoft YaHei"/>
                <a:ea typeface="Microsoft YaHei"/>
              </a:rPr>
              <a:t>在后台静默运行：System skills (M) 在步骤之间做记忆压缩、写回与检索。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