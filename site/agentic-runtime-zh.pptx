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1F1A"/>
                </a:solidFill>
                <a:latin typeface="Microsoft YaHei"/>
                <a:ea typeface="Microsoft YaHei"/>
                <a:cs typeface="Microsoft YaHei"/>
              </a:rPr>
              <a:t>三个层 — 每一层是干什么的</a:t>
            </a:r>
          </a:p>
          <a:p>
            <a:r>
              <a:rPr sz="1100">
                <a:solidFill>
                  <a:srgbClr val="6B6357"/>
                </a:solidFill>
                <a:latin typeface="Microsoft YaHei"/>
                <a:ea typeface="Microsoft YaHei"/>
                <a:cs typeface="Microsoft YaHei"/>
              </a:rPr>
              <a:t>第一眼认识：一个 AI agent 由三个层叠起来，旁边再加一个数据子系统。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34440"/>
            <a:ext cx="6903720" cy="1481328"/>
          </a:xfrm>
          <a:prstGeom prst="roundRect">
            <a:avLst>
              <a:gd name="adj" fmla="val 8000"/>
            </a:avLst>
          </a:prstGeom>
          <a:solidFill>
            <a:srgbClr val="E6F4EC"/>
          </a:solidFill>
          <a:ln w="19050">
            <a:solidFill>
              <a:srgbClr val="1A7D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22804" y="1344168"/>
            <a:ext cx="365760" cy="365760"/>
          </a:xfrm>
          <a:prstGeom prst="ellipse">
            <a:avLst/>
          </a:prstGeom>
          <a:solidFill>
            <a:srgbClr val="1A7D5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8292" y="1316736"/>
            <a:ext cx="2462784" cy="4206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603D"/>
                </a:solidFill>
                <a:latin typeface="Microsoft YaHei"/>
                <a:ea typeface="Microsoft YaHei"/>
                <a:cs typeface="Microsoft YaHei"/>
              </a:rPr>
              <a:t>Skills  —  “要做什么”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64792"/>
            <a:ext cx="6355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11603D"/>
                </a:solidFill>
                <a:latin typeface="Microsoft YaHei"/>
                <a:ea typeface="Microsoft YaHei"/>
                <a:cs typeface="Microsoft YaHei"/>
              </a:rPr>
              <a:t>存放任务的“岗位说明书”：目标、输入 / 输出格式，以及何时行动、何时停止、何时循环的规则。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1">
                <a:solidFill>
                  <a:srgbClr val="1A7D52"/>
                </a:solidFill>
                <a:latin typeface="Microsoft YaHei"/>
                <a:ea typeface="Microsoft YaHei"/>
                <a:cs typeface="Microsoft YaHei"/>
              </a:rPr>
              <a:t>就像员工的工作手册 / SOP。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1">
                <a:solidFill>
                  <a:srgbClr val="1A7D52"/>
                </a:solidFill>
                <a:latin typeface="Microsoft YaHei"/>
                <a:ea typeface="Microsoft YaHei"/>
                <a:cs typeface="Microsoft YaHei"/>
              </a:rPr>
              <a:t>加一个 Skill → 多一种能做的任务（逻辑扩展）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916936"/>
            <a:ext cx="6903720" cy="1481328"/>
          </a:xfrm>
          <a:prstGeom prst="roundRect">
            <a:avLst>
              <a:gd name="adj" fmla="val 8000"/>
            </a:avLst>
          </a:prstGeom>
          <a:solidFill>
            <a:srgbClr val="ECE4FB"/>
          </a:solidFill>
          <a:ln w="19050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95220" y="3026664"/>
            <a:ext cx="365760" cy="365760"/>
          </a:xfrm>
          <a:prstGeom prst="ellipse">
            <a:avLst/>
          </a:prstGeom>
          <a:solidFill>
            <a:srgbClr val="6D3FD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0708" y="2999232"/>
            <a:ext cx="2917952" cy="4206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Harness  —  “怎么把活干成”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47288"/>
            <a:ext cx="6355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把 Skill 的意图翻译成可执行的步骤。管理记忆、上下文、工具、代码生成、安全检查与审计日志。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1">
                <a:solidFill>
                  <a:srgbClr val="6D3FD4"/>
                </a:solidFill>
                <a:latin typeface="Microsoft YaHei"/>
                <a:ea typeface="Microsoft YaHei"/>
                <a:cs typeface="Microsoft YaHei"/>
              </a:rPr>
              <a:t>就像项目经理 + 运行时框架。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1">
                <a:solidFill>
                  <a:srgbClr val="6D3FD4"/>
                </a:solidFill>
                <a:latin typeface="Microsoft YaHei"/>
                <a:ea typeface="Microsoft YaHei"/>
                <a:cs typeface="Microsoft YaHei"/>
              </a:rPr>
              <a:t>Skills 与 Scaffold 唯一相遇的地方（解耦点）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599432"/>
            <a:ext cx="6903720" cy="1481328"/>
          </a:xfrm>
          <a:prstGeom prst="roundRect">
            <a:avLst>
              <a:gd name="adj" fmla="val 8000"/>
            </a:avLst>
          </a:prstGeom>
          <a:solidFill>
            <a:srgbClr val="FBE7D3"/>
          </a:solidFill>
          <a:ln w="19050">
            <a:solidFill>
              <a:srgbClr val="BC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56535" y="4709160"/>
            <a:ext cx="365760" cy="365760"/>
          </a:xfrm>
          <a:prstGeom prst="ellipse">
            <a:avLst/>
          </a:prstGeom>
          <a:solidFill>
            <a:srgbClr val="BC5A1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2023" y="4681728"/>
            <a:ext cx="3195320" cy="42062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Scaffold  —  “在哪里安全地跑”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29784"/>
            <a:ext cx="6355080" cy="859535"/>
          </a:xfrm>
          <a:prstGeom prst="rect">
            <a:avLst/>
          </a:prstGeom>
          <a:noFill/>
        </p:spPr>
        <p:txBody>
          <a:bodyPr wrap="square" anchor="ctr" lIns="36576" rIns="36576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提供隔离的执行环境：sandbox、shell、网络、存储与模型 serving 算力，并带安全边界。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1">
                <a:solidFill>
                  <a:srgbClr val="BC5A16"/>
                </a:solidFill>
                <a:latin typeface="Microsoft YaHei"/>
                <a:ea typeface="Microsoft YaHei"/>
                <a:cs typeface="Microsoft YaHei"/>
              </a:rPr>
              <a:t>就像一台安全的云电脑。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1">
                <a:solidFill>
                  <a:srgbClr val="BC5A16"/>
                </a:solidFill>
                <a:latin typeface="Microsoft YaHei"/>
                <a:ea typeface="Microsoft YaHei"/>
                <a:cs typeface="Microsoft YaHei"/>
              </a:rPr>
              <a:t>加一个实例 → 多一份吞吐（物理扩展）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234440"/>
            <a:ext cx="4160520" cy="4846320"/>
          </a:xfrm>
          <a:prstGeom prst="roundRect">
            <a:avLst>
              <a:gd name="adj" fmla="val 8000"/>
            </a:avLst>
          </a:prstGeom>
          <a:solidFill>
            <a:srgbClr val="DDEFF8"/>
          </a:solidFill>
          <a:ln w="19050">
            <a:solidFill>
              <a:srgbClr val="147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1380744"/>
            <a:ext cx="4160520" cy="28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数据子系统 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1719580"/>
            <a:ext cx="3648456" cy="4214876"/>
          </a:xfrm>
          <a:prstGeom prst="rect">
            <a:avLst/>
          </a:prstGeom>
          <a:noFill/>
        </p:spPr>
        <p:txBody>
          <a:bodyPr wrap="square" anchor="ctr" lIns="36576" rIns="36576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agent 对你数据的认知（放在一旁，主要离线）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D₁  取数 — 按需只读你要的那一片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D₂  语义总结 — 离线把数据源预消化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D₃  治理记忆 — 记住“该怎么用这份数据”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D₄  lifetime — 时新性、口径与成本预算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Ω   工作区 — 运行历史、产物、LLM wiki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95160" y="2715768"/>
            <a:ext cx="0" cy="201168"/>
          </a:xfrm>
          <a:prstGeom prst="line">
            <a:avLst/>
          </a:prstGeom>
          <a:ln w="22860">
            <a:solidFill>
              <a:srgbClr val="6D3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5160" y="4398264"/>
            <a:ext cx="0" cy="201168"/>
          </a:xfrm>
          <a:prstGeom prst="line">
            <a:avLst/>
          </a:prstGeom>
          <a:ln w="22860">
            <a:solidFill>
              <a:srgbClr val="BC5A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315200" y="3657600"/>
            <a:ext cx="274320" cy="0"/>
          </a:xfrm>
          <a:prstGeom prst="line">
            <a:avLst/>
          </a:prstGeom>
          <a:ln w="22860">
            <a:solidFill>
              <a:srgbClr val="147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11480" y="6227064"/>
            <a:ext cx="11338560" cy="585215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9050">
            <a:solidFill>
              <a:srgbClr val="CABF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>
                <a:solidFill>
                  <a:srgbClr val="221F1A"/>
                </a:solidFill>
                <a:latin typeface="Microsoft YaHei"/>
                <a:ea typeface="Microsoft YaHei"/>
                <a:cs typeface="Microsoft YaHei"/>
              </a:rPr>
              <a:t>关键点：每一种增长（更多 skill / 更多机器 / 更多数据）加在不同的轴上，因此互不拖累。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1F1A"/>
                </a:solidFill>
                <a:latin typeface="Microsoft YaHei"/>
                <a:ea typeface="Microsoft YaHei"/>
                <a:cs typeface="Microsoft YaHei"/>
              </a:rPr>
              <a:t>每一层里到底装了什么 — Spec 清单</a:t>
            </a:r>
          </a:p>
          <a:p>
            <a:r>
              <a:rPr sz="1100">
                <a:solidFill>
                  <a:srgbClr val="6B6357"/>
                </a:solidFill>
                <a:latin typeface="Microsoft YaHei"/>
                <a:ea typeface="Microsoft YaHei"/>
                <a:cs typeface="Microsoft YaHei"/>
              </a:rPr>
              <a:t>每层可落地、可构建的具体部件，对齐真实格式：Anthropic SKILL.md、MCP tools、Claude Code、OpenAI connectors。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07008"/>
            <a:ext cx="6903720" cy="1517904"/>
          </a:xfrm>
          <a:prstGeom prst="roundRect">
            <a:avLst>
              <a:gd name="adj" fmla="val 8000"/>
            </a:avLst>
          </a:prstGeom>
          <a:solidFill>
            <a:srgbClr val="E6F4EC"/>
          </a:solidFill>
          <a:ln w="19050">
            <a:solidFill>
              <a:srgbClr val="1A7D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6903720" cy="28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603D"/>
                </a:solidFill>
                <a:latin typeface="Microsoft YaHei"/>
                <a:ea typeface="Microsoft YaHei"/>
                <a:cs typeface="Microsoft YaHei"/>
              </a:rPr>
              <a:t>L3 · Skills   —   SkillSpec — Anthropic SKILL.md 格式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664716"/>
            <a:ext cx="6355080" cy="968756"/>
          </a:xfrm>
          <a:prstGeom prst="rect">
            <a:avLst/>
          </a:prstGeom>
          <a:noFill/>
        </p:spPr>
        <p:txBody>
          <a:bodyPr wrap="square" anchor="ctr" lIns="36576" rIns="36576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11603D"/>
                </a:solidFill>
                <a:latin typeface="Microsoft YaHei"/>
                <a:ea typeface="Microsoft YaHei"/>
                <a:cs typeface="Microsoft YaHei"/>
              </a:rPr>
              <a:t>•  name + description（何时使用）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11603D"/>
                </a:solidFill>
                <a:latin typeface="Microsoft YaHei"/>
                <a:ea typeface="Microsoft YaHei"/>
                <a:cs typeface="Microsoft YaHei"/>
              </a:rPr>
              <a:t>•  input / output schema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11603D"/>
                </a:solidFill>
                <a:latin typeface="Microsoft YaHei"/>
                <a:ea typeface="Microsoft YaHei"/>
                <a:cs typeface="Microsoft YaHei"/>
              </a:rPr>
              <a:t>•  output format + 约束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11603D"/>
                </a:solidFill>
                <a:latin typeface="Microsoft YaHei"/>
                <a:ea typeface="Microsoft YaHei"/>
                <a:cs typeface="Microsoft YaHei"/>
              </a:rPr>
              <a:t>•  call / stop / loop 条件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11603D"/>
                </a:solidFill>
                <a:latin typeface="Microsoft YaHei"/>
                <a:ea typeface="Microsoft YaHei"/>
                <a:cs typeface="Microsoft YaHei"/>
              </a:rPr>
              <a:t>•  examples（shots）+ 反例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11603D"/>
                </a:solidFill>
                <a:latin typeface="Microsoft YaHei"/>
                <a:ea typeface="Microsoft YaHei"/>
                <a:cs typeface="Microsoft YaHei"/>
              </a:rPr>
              <a:t>•  个性化 +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907792"/>
            <a:ext cx="6903720" cy="1965960"/>
          </a:xfrm>
          <a:prstGeom prst="roundRect">
            <a:avLst>
              <a:gd name="adj" fmla="val 8000"/>
            </a:avLst>
          </a:prstGeom>
          <a:solidFill>
            <a:srgbClr val="ECE4FB"/>
          </a:solidFill>
          <a:ln w="19050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3026664"/>
            <a:ext cx="6903720" cy="28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L2 · Harness   —   CapabilityCapsule — 以 MCP 为底座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365500"/>
            <a:ext cx="6355080" cy="1416811"/>
          </a:xfrm>
          <a:prstGeom prst="rect">
            <a:avLst/>
          </a:prstGeom>
          <a:noFill/>
        </p:spPr>
        <p:txBody>
          <a:bodyPr wrap="square" anchor="ctr" lIns="36576" rIns="36576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•  CapabilityCapsule：inputSchema · contract · invariants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•  工具路由（intent-scoped, top-k）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•  context 组装（shots · schema · memory）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•  code generation（Read / Edit / Bash + test / lint）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•  tool synthesis（沙箱验证的 capsule）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•  记忆维护 M（compaction · writeback · reflection · retrieval · GC）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•  reward / verifier + policy gate + 审计日志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5056632"/>
            <a:ext cx="6903720" cy="1572768"/>
          </a:xfrm>
          <a:prstGeom prst="roundRect">
            <a:avLst>
              <a:gd name="adj" fmla="val 8000"/>
            </a:avLst>
          </a:prstGeom>
          <a:solidFill>
            <a:srgbClr val="FBE7D3"/>
          </a:solidFill>
          <a:ln w="19050">
            <a:solidFill>
              <a:srgbClr val="BC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5175504"/>
            <a:ext cx="6903720" cy="28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L1 · Scaffold   —   ExecutionSpec — 隔离与资源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5514340"/>
            <a:ext cx="6355080" cy="1023620"/>
          </a:xfrm>
          <a:prstGeom prst="rect">
            <a:avLst/>
          </a:prstGeom>
          <a:noFill/>
        </p:spPr>
        <p:txBody>
          <a:bodyPr wrap="square" anchor="ctr" lIns="36576" rIns="36576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•  隔离：microVM · container · wasm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•  bash / process / filesystem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•  网络：allowlist · egress 策略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•  SSO / 身份：OIDC · SAML · SCIM · RBAC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•  云：AWS / GCP / Azure · KMS · S3 · PrivateLink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•  serving（KV cache · batching）· lifecycle · 观测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0" y="2724912"/>
            <a:ext cx="0" cy="182880"/>
          </a:xfrm>
          <a:prstGeom prst="line">
            <a:avLst/>
          </a:prstGeom>
          <a:ln w="22860">
            <a:solidFill>
              <a:srgbClr val="6D3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040880" y="4873752"/>
            <a:ext cx="0" cy="182880"/>
          </a:xfrm>
          <a:prstGeom prst="line">
            <a:avLst/>
          </a:prstGeom>
          <a:ln w="22860">
            <a:solidFill>
              <a:srgbClr val="BC5A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589520" y="1207008"/>
            <a:ext cx="4160520" cy="5422392"/>
          </a:xfrm>
          <a:prstGeom prst="roundRect">
            <a:avLst>
              <a:gd name="adj" fmla="val 8000"/>
            </a:avLst>
          </a:prstGeom>
          <a:solidFill>
            <a:srgbClr val="DDEFF8"/>
          </a:solidFill>
          <a:ln w="19050">
            <a:solidFill>
              <a:srgbClr val="147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353312"/>
            <a:ext cx="4160520" cy="28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数据子系统 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710436"/>
            <a:ext cx="3648456" cy="4790947"/>
          </a:xfrm>
          <a:prstGeom prst="rect">
            <a:avLst/>
          </a:prstGeom>
          <a:noFill/>
        </p:spPr>
        <p:txBody>
          <a:bodyPr wrap="square" anchor="ctr" lIns="36576" rIns="36576" tIns="0" bIns="0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•  D₁ DataSourceCard — source · auth · quota · NFR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•  D₂ SemanticSummary — schema* · relations · themes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•  D₃ DataUsageSkill — sources · join plan · runs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•  D₄ Lifetime — freshness · retention · budget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•  Ω  工作区 — RunTrace · ArtifactManifest · LLM Wiki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0" y="3890772"/>
            <a:ext cx="274320" cy="0"/>
          </a:xfrm>
          <a:prstGeom prst="line">
            <a:avLst/>
          </a:prstGeom>
          <a:ln w="22860">
            <a:solidFill>
              <a:srgbClr val="147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1F1A"/>
                </a:solidFill>
                <a:latin typeface="Microsoft YaHei"/>
                <a:ea typeface="Microsoft YaHei"/>
                <a:cs typeface="Microsoft YaHei"/>
              </a:rPr>
              <a:t>Agent 是怎么工作的 — 分步走查</a:t>
            </a:r>
          </a:p>
          <a:p>
            <a:r>
              <a:rPr sz="1100">
                <a:solidFill>
                  <a:srgbClr val="6B6357"/>
                </a:solidFill>
                <a:latin typeface="Microsoft YaHei"/>
                <a:ea typeface="Microsoft YaHei"/>
                <a:cs typeface="Microsoft YaHei"/>
              </a:rPr>
              <a:t>Harness 运行这个循环。由 LLM 做选择；typed contract、policy gate 与 verifier 保证它安全、不跑偏。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40280" y="1115568"/>
            <a:ext cx="4983480" cy="640080"/>
          </a:xfrm>
          <a:prstGeom prst="roundRect">
            <a:avLst>
              <a:gd name="adj" fmla="val 8000"/>
            </a:avLst>
          </a:prstGeom>
          <a:solidFill>
            <a:srgbClr val="ECE4FB"/>
          </a:solidFill>
          <a:ln w="17780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91508" y="1179576"/>
            <a:ext cx="310896" cy="310896"/>
          </a:xfrm>
          <a:prstGeom prst="ellipse">
            <a:avLst/>
          </a:prstGeom>
          <a:solidFill>
            <a:srgbClr val="1A7D5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2132" y="1152144"/>
            <a:ext cx="1117600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读懂目标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490472"/>
            <a:ext cx="4434840" cy="210311"/>
          </a:xfrm>
          <a:prstGeom prst="rect">
            <a:avLst/>
          </a:prstGeom>
          <a:noFill/>
        </p:spPr>
        <p:txBody>
          <a:bodyPr wrap="square" anchor="t" lIns="36576" rIns="36576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6B6357"/>
                </a:solidFill>
                <a:latin typeface="Microsoft YaHei"/>
                <a:ea typeface="Microsoft YaHei"/>
                <a:cs typeface="Microsoft YaHei"/>
              </a:rPr>
              <a:t>读取请求与约束；想清楚“做完”长什么样。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1824228"/>
            <a:ext cx="4983480" cy="640080"/>
          </a:xfrm>
          <a:prstGeom prst="roundRect">
            <a:avLst>
              <a:gd name="adj" fmla="val 8000"/>
            </a:avLst>
          </a:prstGeom>
          <a:solidFill>
            <a:srgbClr val="ECE4FB"/>
          </a:solidFill>
          <a:ln w="17780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079240" y="1888236"/>
            <a:ext cx="310896" cy="310896"/>
          </a:xfrm>
          <a:prstGeom prst="ellipse">
            <a:avLst/>
          </a:prstGeom>
          <a:solidFill>
            <a:srgbClr val="1A7D5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9864" y="1860804"/>
            <a:ext cx="1342136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挑选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199132"/>
            <a:ext cx="4434840" cy="210312"/>
          </a:xfrm>
          <a:prstGeom prst="rect">
            <a:avLst/>
          </a:prstGeom>
          <a:noFill/>
        </p:spPr>
        <p:txBody>
          <a:bodyPr wrap="square" anchor="t" lIns="36576" rIns="36576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6B6357"/>
                </a:solidFill>
                <a:latin typeface="Microsoft YaHei"/>
                <a:ea typeface="Microsoft YaHei"/>
                <a:cs typeface="Microsoft YaHei"/>
              </a:rPr>
              <a:t>选出合适的 SkillSpec，加载它的输入 / 输出 schema。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2532887"/>
            <a:ext cx="4983480" cy="640080"/>
          </a:xfrm>
          <a:prstGeom prst="roundRect">
            <a:avLst>
              <a:gd name="adj" fmla="val 8000"/>
            </a:avLst>
          </a:prstGeom>
          <a:solidFill>
            <a:srgbClr val="ECE4FB"/>
          </a:solidFill>
          <a:ln w="17780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8958" y="2596895"/>
            <a:ext cx="310896" cy="310896"/>
          </a:xfrm>
          <a:prstGeom prst="ellipse">
            <a:avLst/>
          </a:prstGeom>
          <a:solidFill>
            <a:srgbClr val="1474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9582" y="2569463"/>
            <a:ext cx="1282700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收集上下文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907791"/>
            <a:ext cx="4434840" cy="210312"/>
          </a:xfrm>
          <a:prstGeom prst="rect">
            <a:avLst/>
          </a:prstGeom>
          <a:noFill/>
        </p:spPr>
        <p:txBody>
          <a:bodyPr wrap="square" anchor="t" lIns="36576" rIns="36576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6B6357"/>
                </a:solidFill>
                <a:latin typeface="Microsoft YaHei"/>
                <a:ea typeface="Microsoft YaHei"/>
                <a:cs typeface="Microsoft YaHei"/>
              </a:rPr>
              <a:t>拉入记忆、相关示例（shots）和工具的契约。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40280" y="3241548"/>
            <a:ext cx="4983480" cy="640080"/>
          </a:xfrm>
          <a:prstGeom prst="roundRect">
            <a:avLst>
              <a:gd name="adj" fmla="val 8000"/>
            </a:avLst>
          </a:prstGeom>
          <a:solidFill>
            <a:srgbClr val="F4EEFF"/>
          </a:solidFill>
          <a:ln w="17780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1508" y="3305556"/>
            <a:ext cx="310896" cy="310896"/>
          </a:xfrm>
          <a:prstGeom prst="ellipse">
            <a:avLst/>
          </a:prstGeom>
          <a:solidFill>
            <a:srgbClr val="6D3FD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132" y="3278124"/>
            <a:ext cx="1117600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制定计划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616451"/>
            <a:ext cx="4434840" cy="210312"/>
          </a:xfrm>
          <a:prstGeom prst="rect">
            <a:avLst/>
          </a:prstGeom>
          <a:noFill/>
        </p:spPr>
        <p:txBody>
          <a:bodyPr wrap="square" anchor="t" lIns="36576" rIns="36576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6B6357"/>
                </a:solidFill>
                <a:latin typeface="Microsoft YaHei"/>
                <a:ea typeface="Microsoft YaHei"/>
                <a:cs typeface="Microsoft YaHei"/>
              </a:rPr>
              <a:t>LLM 起草带 fallback 和明确停止条件的计划。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3950207"/>
            <a:ext cx="4983480" cy="640080"/>
          </a:xfrm>
          <a:prstGeom prst="roundRect">
            <a:avLst>
              <a:gd name="adj" fmla="val 8000"/>
            </a:avLst>
          </a:prstGeom>
          <a:solidFill>
            <a:srgbClr val="F4EEFF"/>
          </a:solidFill>
          <a:ln w="17780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943858" y="4014215"/>
            <a:ext cx="310896" cy="310896"/>
          </a:xfrm>
          <a:prstGeom prst="ellipse">
            <a:avLst/>
          </a:prstGeom>
          <a:solidFill>
            <a:srgbClr val="6D3FD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4482" y="3986783"/>
            <a:ext cx="1612900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选择下一步动作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325112"/>
            <a:ext cx="4434840" cy="210311"/>
          </a:xfrm>
          <a:prstGeom prst="rect">
            <a:avLst/>
          </a:prstGeom>
          <a:noFill/>
        </p:spPr>
        <p:txBody>
          <a:bodyPr wrap="square" anchor="t" lIns="36576" rIns="36576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6B6357"/>
                </a:solidFill>
                <a:latin typeface="Microsoft YaHei"/>
                <a:ea typeface="Microsoft YaHei"/>
                <a:cs typeface="Microsoft YaHei"/>
              </a:rPr>
              <a:t>为这一步选 tool（O1）、模型（O7）和 token 预算（O8）。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40280" y="4658868"/>
            <a:ext cx="4983480" cy="640080"/>
          </a:xfrm>
          <a:prstGeom prst="roundRect">
            <a:avLst>
              <a:gd name="adj" fmla="val 8000"/>
            </a:avLst>
          </a:prstGeom>
          <a:solidFill>
            <a:srgbClr val="ECE4FB"/>
          </a:solidFill>
          <a:ln w="17780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943858" y="4722876"/>
            <a:ext cx="310896" cy="310896"/>
          </a:xfrm>
          <a:prstGeom prst="ellipse">
            <a:avLst/>
          </a:prstGeom>
          <a:solidFill>
            <a:srgbClr val="6D3FD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4482" y="4695444"/>
            <a:ext cx="1612900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先检查，再执行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033772"/>
            <a:ext cx="4434840" cy="210311"/>
          </a:xfrm>
          <a:prstGeom prst="rect">
            <a:avLst/>
          </a:prstGeom>
          <a:noFill/>
        </p:spPr>
        <p:txBody>
          <a:bodyPr wrap="square" anchor="t" lIns="36576" rIns="36576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6B6357"/>
                </a:solidFill>
                <a:latin typeface="Microsoft YaHei"/>
                <a:ea typeface="Microsoft YaHei"/>
                <a:cs typeface="Microsoft YaHei"/>
              </a:rPr>
              <a:t>policy gate 校验范围与权限，然后在 Scaffold 执行 / 查询 Data。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40280" y="5367527"/>
            <a:ext cx="4983480" cy="640080"/>
          </a:xfrm>
          <a:prstGeom prst="roundRect">
            <a:avLst>
              <a:gd name="adj" fmla="val 8000"/>
            </a:avLst>
          </a:prstGeom>
          <a:solidFill>
            <a:srgbClr val="ECE4FB"/>
          </a:solidFill>
          <a:ln w="17780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08958" y="5431536"/>
            <a:ext cx="310896" cy="310896"/>
          </a:xfrm>
          <a:prstGeom prst="ellipse">
            <a:avLst/>
          </a:prstGeom>
          <a:solidFill>
            <a:srgbClr val="6D3FD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9582" y="5404103"/>
            <a:ext cx="1282700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观察并打分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5742431"/>
            <a:ext cx="4434840" cy="210311"/>
          </a:xfrm>
          <a:prstGeom prst="rect">
            <a:avLst/>
          </a:prstGeom>
          <a:noFill/>
        </p:spPr>
        <p:txBody>
          <a:bodyPr wrap="square" anchor="t" lIns="36576" rIns="36576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6B6357"/>
                </a:solidFill>
                <a:latin typeface="Microsoft YaHei"/>
                <a:ea typeface="Microsoft YaHei"/>
                <a:cs typeface="Microsoft YaHei"/>
              </a:rPr>
              <a:t>收集结果与证据；verifier / reward 给它打分。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40280" y="6076187"/>
            <a:ext cx="4983480" cy="640080"/>
          </a:xfrm>
          <a:prstGeom prst="roundRect">
            <a:avLst>
              <a:gd name="adj" fmla="val 8000"/>
            </a:avLst>
          </a:prstGeom>
          <a:solidFill>
            <a:srgbClr val="F4EEFF"/>
          </a:solidFill>
          <a:ln w="17780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108958" y="6140195"/>
            <a:ext cx="310896" cy="310896"/>
          </a:xfrm>
          <a:prstGeom prst="ellipse">
            <a:avLst/>
          </a:prstGeom>
          <a:solidFill>
            <a:srgbClr val="BC5A1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9582" y="6112763"/>
            <a:ext cx="1282700" cy="3657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2DA0"/>
                </a:solidFill>
                <a:latin typeface="Microsoft YaHei"/>
                <a:ea typeface="Microsoft YaHei"/>
                <a:cs typeface="Microsoft YaHei"/>
              </a:rPr>
              <a:t>够好了吗？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6451091"/>
            <a:ext cx="4434840" cy="210311"/>
          </a:xfrm>
          <a:prstGeom prst="rect">
            <a:avLst/>
          </a:prstGeom>
          <a:noFill/>
        </p:spPr>
        <p:txBody>
          <a:bodyPr wrap="square" anchor="t" lIns="36576" rIns="36576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6B6357"/>
                </a:solidFill>
                <a:latin typeface="Microsoft YaHei"/>
                <a:ea typeface="Microsoft YaHei"/>
                <a:cs typeface="Microsoft YaHei"/>
              </a:rPr>
              <a:t>够好 → 交付结果。   不够 → 反思、修订，回到第 5 步。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732020" y="1755648"/>
            <a:ext cx="0" cy="68580"/>
          </a:xfrm>
          <a:prstGeom prst="line">
            <a:avLst/>
          </a:prstGeom>
          <a:ln w="19050">
            <a:solidFill>
              <a:srgbClr val="6D3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732020" y="2464308"/>
            <a:ext cx="0" cy="68579"/>
          </a:xfrm>
          <a:prstGeom prst="line">
            <a:avLst/>
          </a:prstGeom>
          <a:ln w="19050">
            <a:solidFill>
              <a:srgbClr val="6D3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732020" y="3172968"/>
            <a:ext cx="0" cy="68580"/>
          </a:xfrm>
          <a:prstGeom prst="line">
            <a:avLst/>
          </a:prstGeom>
          <a:ln w="19050">
            <a:solidFill>
              <a:srgbClr val="6D3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732020" y="3881628"/>
            <a:ext cx="0" cy="68579"/>
          </a:xfrm>
          <a:prstGeom prst="line">
            <a:avLst/>
          </a:prstGeom>
          <a:ln w="19050">
            <a:solidFill>
              <a:srgbClr val="6D3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732020" y="4590288"/>
            <a:ext cx="0" cy="68580"/>
          </a:xfrm>
          <a:prstGeom prst="line">
            <a:avLst/>
          </a:prstGeom>
          <a:ln w="19050">
            <a:solidFill>
              <a:srgbClr val="6D3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732020" y="5298948"/>
            <a:ext cx="0" cy="68579"/>
          </a:xfrm>
          <a:prstGeom prst="line">
            <a:avLst/>
          </a:prstGeom>
          <a:ln w="19050">
            <a:solidFill>
              <a:srgbClr val="6D3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732020" y="6007607"/>
            <a:ext cx="0" cy="68580"/>
          </a:xfrm>
          <a:prstGeom prst="line">
            <a:avLst/>
          </a:prstGeom>
          <a:ln w="19050">
            <a:solidFill>
              <a:srgbClr val="6D3FD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543800" y="3950207"/>
            <a:ext cx="4206240" cy="1024128"/>
          </a:xfrm>
          <a:prstGeom prst="roundRect">
            <a:avLst>
              <a:gd name="adj" fmla="val 8000"/>
            </a:avLst>
          </a:prstGeom>
          <a:solidFill>
            <a:srgbClr val="FBE7D3"/>
          </a:solidFill>
          <a:ln w="19050">
            <a:solidFill>
              <a:srgbClr val="BC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43800" y="4041647"/>
            <a:ext cx="4206240" cy="28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Scaffold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9831" y="4362195"/>
            <a:ext cx="3694175" cy="502412"/>
          </a:xfrm>
          <a:prstGeom prst="rect">
            <a:avLst/>
          </a:prstGeom>
          <a:noFill/>
        </p:spPr>
        <p:txBody>
          <a:bodyPr wrap="square" anchor="ctr" lIns="36576" rIns="36576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sandbox · shell · serving</a:t>
            </a:r>
          </a:p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9A4D12"/>
                </a:solidFill>
                <a:latin typeface="Microsoft YaHei"/>
                <a:ea typeface="Microsoft YaHei"/>
                <a:cs typeface="Microsoft YaHei"/>
              </a:rPr>
              <a:t>filesystem · network · SSO / cloud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3800" y="5120640"/>
            <a:ext cx="4206240" cy="1024128"/>
          </a:xfrm>
          <a:prstGeom prst="roundRect">
            <a:avLst>
              <a:gd name="adj" fmla="val 8000"/>
            </a:avLst>
          </a:prstGeom>
          <a:solidFill>
            <a:srgbClr val="DDEFF8"/>
          </a:solidFill>
          <a:ln w="19050">
            <a:solidFill>
              <a:srgbClr val="147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43800" y="5212079"/>
            <a:ext cx="4206240" cy="28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数据子系统 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99831" y="5532627"/>
            <a:ext cx="3694175" cy="502412"/>
          </a:xfrm>
          <a:prstGeom prst="rect">
            <a:avLst/>
          </a:prstGeom>
          <a:noFill/>
        </p:spPr>
        <p:txBody>
          <a:bodyPr wrap="square" anchor="ctr" lIns="36576" rIns="36576" tIns="0" bIns="0">
            <a:noAutofit/>
          </a:bodyPr>
          <a:lstStyle/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D₁ / D₂ 查询 · D₃ / D₄ 策略</a:t>
            </a:r>
          </a:p>
          <a:p>
            <a:pPr algn="ctr">
              <a:lnSpc>
                <a:spcPct val="106000"/>
              </a:lnSpc>
              <a:spcAft>
                <a:spcPts val="300"/>
              </a:spcAft>
            </a:pPr>
            <a:r>
              <a:rPr sz="1000" b="0">
                <a:solidFill>
                  <a:srgbClr val="0F5E87"/>
                </a:solidFill>
                <a:latin typeface="Microsoft YaHei"/>
                <a:ea typeface="Microsoft YaHei"/>
                <a:cs typeface="Microsoft YaHei"/>
              </a:rPr>
              <a:t>Ω workspace 证据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223760" y="4462271"/>
            <a:ext cx="320040" cy="516636"/>
          </a:xfrm>
          <a:prstGeom prst="bentConnector3">
            <a:avLst/>
          </a:prstGeom>
          <a:ln w="22860">
            <a:solidFill>
              <a:srgbClr val="BC5A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7223760" y="5632704"/>
            <a:ext cx="320040" cy="54863"/>
          </a:xfrm>
          <a:prstGeom prst="bentConnector3">
            <a:avLst/>
          </a:prstGeom>
          <a:ln w="22860">
            <a:solidFill>
              <a:srgbClr val="1474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7543800" y="6076187"/>
            <a:ext cx="4206240" cy="640080"/>
          </a:xfrm>
          <a:prstGeom prst="roundRect">
            <a:avLst>
              <a:gd name="adj" fmla="val 8000"/>
            </a:avLst>
          </a:prstGeom>
          <a:solidFill>
            <a:srgbClr val="EAF7F0"/>
          </a:solidFill>
          <a:ln w="19050">
            <a:solidFill>
              <a:srgbClr val="1A7D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11603D"/>
                </a:solidFill>
                <a:latin typeface="Microsoft YaHei"/>
                <a:ea typeface="Microsoft YaHei"/>
                <a:cs typeface="Microsoft YaHei"/>
              </a:rPr>
              <a:t>交付产物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223760" y="6396227"/>
            <a:ext cx="320040" cy="0"/>
          </a:xfrm>
          <a:prstGeom prst="line">
            <a:avLst/>
          </a:prstGeom>
          <a:ln w="22860">
            <a:solidFill>
              <a:srgbClr val="1A7D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828800" y="6396227"/>
            <a:ext cx="411480" cy="0"/>
          </a:xfrm>
          <a:prstGeom prst="line">
            <a:avLst/>
          </a:prstGeom>
          <a:ln w="22860">
            <a:solidFill>
              <a:srgbClr val="BC5A1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828800" y="4270247"/>
            <a:ext cx="0" cy="2125980"/>
          </a:xfrm>
          <a:prstGeom prst="line">
            <a:avLst/>
          </a:prstGeom>
          <a:ln w="22860">
            <a:solidFill>
              <a:srgbClr val="BC5A1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828800" y="4270247"/>
            <a:ext cx="411480" cy="0"/>
          </a:xfrm>
          <a:prstGeom prst="line">
            <a:avLst/>
          </a:prstGeom>
          <a:ln w="22860">
            <a:solidFill>
              <a:srgbClr val="BC5A16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02920" y="5013197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BC5A16"/>
                </a:solidFill>
                <a:latin typeface="Microsoft YaHei"/>
                <a:ea typeface="Microsoft YaHei"/>
                <a:cs typeface="Microsoft YaHei"/>
              </a:rPr>
              <a:t>反思并回到第 5 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40280" y="6825995"/>
            <a:ext cx="9509759" cy="-114299"/>
          </a:xfrm>
          <a:prstGeom prst="roundRect">
            <a:avLst>
              <a:gd name="adj" fmla="val 8000"/>
            </a:avLst>
          </a:prstGeom>
          <a:solidFill>
            <a:srgbClr val="FFFDF8"/>
          </a:solidFill>
          <a:ln w="19050">
            <a:solidFill>
              <a:srgbClr val="CABF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73152">
            <a:no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>
                <a:solidFill>
                  <a:srgbClr val="221F1A"/>
                </a:solidFill>
                <a:latin typeface="Microsoft YaHei"/>
                <a:ea typeface="Microsoft YaHei"/>
                <a:cs typeface="Microsoft YaHei"/>
              </a:rPr>
              <a:t>在后台静默运行：System skills (M) 在步骤之间做记忆压缩、写回与检索。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