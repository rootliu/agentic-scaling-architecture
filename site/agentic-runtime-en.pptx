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1F1A"/>
                </a:solidFill>
                <a:latin typeface="Microsoft YaHei"/>
                <a:ea typeface="Microsoft YaHei"/>
                <a:cs typeface="Microsoft YaHei"/>
              </a:rPr>
              <a:t>The Three Layers — What Each One Is For</a:t>
            </a:r>
          </a:p>
          <a:p>
            <a:r>
              <a:rPr sz="1100">
                <a:solidFill>
                  <a:srgbClr val="6B6357"/>
                </a:solidFill>
                <a:latin typeface="Microsoft YaHei"/>
                <a:ea typeface="Microsoft YaHei"/>
                <a:cs typeface="Microsoft YaHei"/>
              </a:rPr>
              <a:t>A first look: an AI agent is built from three stacked layers, plus a data subsystem on the side.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6903720" cy="1481328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 w="19050">
            <a:solidFill>
              <a:srgbClr val="1A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80563" y="1344168"/>
            <a:ext cx="365760" cy="365760"/>
          </a:xfrm>
          <a:prstGeom prst="ellipse">
            <a:avLst/>
          </a:prstGeom>
          <a:solidFill>
            <a:srgbClr val="1A7D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6051" y="1316736"/>
            <a:ext cx="274726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603D"/>
                </a:solidFill>
                <a:latin typeface="Microsoft YaHei"/>
                <a:ea typeface="Microsoft YaHei"/>
                <a:cs typeface="Microsoft YaHei"/>
              </a:rPr>
              <a:t>Skills  —  “What to do”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64792"/>
            <a:ext cx="6355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11603D"/>
                </a:solidFill>
                <a:latin typeface="Microsoft YaHei"/>
                <a:ea typeface="Microsoft YaHei"/>
                <a:cs typeface="Microsoft YaHei"/>
              </a:rPr>
              <a:t>Holds the job descriptions for tasks: the goal, the input / output format, and the rules for when to act, stop and loop.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1">
                <a:solidFill>
                  <a:srgbClr val="1A7D52"/>
                </a:solidFill>
                <a:latin typeface="Microsoft YaHei"/>
                <a:ea typeface="Microsoft YaHei"/>
                <a:cs typeface="Microsoft YaHei"/>
              </a:rPr>
              <a:t>Like an employee’s playbook / SOP.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1">
                <a:solidFill>
                  <a:srgbClr val="1A7D52"/>
                </a:solidFill>
                <a:latin typeface="Microsoft YaHei"/>
                <a:ea typeface="Microsoft YaHei"/>
                <a:cs typeface="Microsoft YaHei"/>
              </a:rPr>
              <a:t>Add a Skill → the agent can do one more kind of task  (logical scaling)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916936"/>
            <a:ext cx="6903720" cy="1481328"/>
          </a:xfrm>
          <a:prstGeom prst="roundRect">
            <a:avLst>
              <a:gd name="adj" fmla="val 8000"/>
            </a:avLst>
          </a:prstGeom>
          <a:solidFill>
            <a:srgbClr val="ECE4FB"/>
          </a:solidFill>
          <a:ln w="19050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33372" y="3026664"/>
            <a:ext cx="365760" cy="365760"/>
          </a:xfrm>
          <a:prstGeom prst="ellipse">
            <a:avLst/>
          </a:prstGeom>
          <a:solidFill>
            <a:srgbClr val="6D3FD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8860" y="2999232"/>
            <a:ext cx="4041648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Harness  —  “How the work gets done”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47288"/>
            <a:ext cx="6355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Turns a Skill’s intent into concrete, runnable steps. Manages memory, context, tools, code generation, safety checks and audit logs.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1">
                <a:solidFill>
                  <a:srgbClr val="6D3FD4"/>
                </a:solidFill>
                <a:latin typeface="Microsoft YaHei"/>
                <a:ea typeface="Microsoft YaHei"/>
                <a:cs typeface="Microsoft YaHei"/>
              </a:rPr>
              <a:t>Like a project manager + the runtime framework.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1">
                <a:solidFill>
                  <a:srgbClr val="6D3FD4"/>
                </a:solidFill>
                <a:latin typeface="Microsoft YaHei"/>
                <a:ea typeface="Microsoft YaHei"/>
                <a:cs typeface="Microsoft YaHei"/>
              </a:rPr>
              <a:t>The single place where Skills and Scaffold meet  (the decoupling point)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599432"/>
            <a:ext cx="6903720" cy="1481328"/>
          </a:xfrm>
          <a:prstGeom prst="roundRect">
            <a:avLst>
              <a:gd name="adj" fmla="val 8000"/>
            </a:avLst>
          </a:prstGeom>
          <a:solidFill>
            <a:srgbClr val="FBE7D3"/>
          </a:solidFill>
          <a:ln w="19050">
            <a:solidFill>
              <a:srgbClr val="BC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33372" y="4709160"/>
            <a:ext cx="365760" cy="365760"/>
          </a:xfrm>
          <a:prstGeom prst="ellipse">
            <a:avLst/>
          </a:prstGeom>
          <a:solidFill>
            <a:srgbClr val="BC5A1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8860" y="4681728"/>
            <a:ext cx="4041648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4D12"/>
                </a:solidFill>
                <a:latin typeface="Microsoft YaHei"/>
                <a:ea typeface="Microsoft YaHei"/>
                <a:cs typeface="Microsoft YaHei"/>
              </a:rPr>
              <a:t>Scaffold  —  “Where it runs, safely”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29784"/>
            <a:ext cx="6355080" cy="859535"/>
          </a:xfrm>
          <a:prstGeom prst="rect">
            <a:avLst/>
          </a:prstGeom>
          <a:noFill/>
        </p:spPr>
        <p:txBody>
          <a:bodyPr wrap="square" anchor="ctr" lIns="36576" rIns="36576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9A4D12"/>
                </a:solidFill>
                <a:latin typeface="Microsoft YaHei"/>
                <a:ea typeface="Microsoft YaHei"/>
                <a:cs typeface="Microsoft YaHei"/>
              </a:rPr>
              <a:t>Provides the isolated place to execute: sandbox, shell, network, storage and model-serving capacity, with security boundaries.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1">
                <a:solidFill>
                  <a:srgbClr val="BC5A16"/>
                </a:solidFill>
                <a:latin typeface="Microsoft YaHei"/>
                <a:ea typeface="Microsoft YaHei"/>
                <a:cs typeface="Microsoft YaHei"/>
              </a:rPr>
              <a:t>Like a secure cloud computer.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1">
                <a:solidFill>
                  <a:srgbClr val="BC5A16"/>
                </a:solidFill>
                <a:latin typeface="Microsoft YaHei"/>
                <a:ea typeface="Microsoft YaHei"/>
                <a:cs typeface="Microsoft YaHei"/>
              </a:rPr>
              <a:t>Add an instance → more throughput  (physical scaling)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234440"/>
            <a:ext cx="4160520" cy="4846320"/>
          </a:xfrm>
          <a:prstGeom prst="roundRect">
            <a:avLst>
              <a:gd name="adj" fmla="val 8000"/>
            </a:avLst>
          </a:prstGeom>
          <a:solidFill>
            <a:srgbClr val="DDEFF8"/>
          </a:solidFill>
          <a:ln w="19050">
            <a:solidFill>
              <a:srgbClr val="14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380744"/>
            <a:ext cx="4160520" cy="28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Data Subsystem 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1719580"/>
            <a:ext cx="3648456" cy="4214876"/>
          </a:xfrm>
          <a:prstGeom prst="rect">
            <a:avLst/>
          </a:prstGeom>
          <a:noFill/>
        </p:spPr>
        <p:txBody>
          <a:bodyPr wrap="square" anchor="ctr" lIns="36576" rIns="36576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What the agent knows about your data (kept off to the side, mostly offline)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D₁  fetch — read the slice you need, on demand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D₂  semantic summary — pre-digest sources offline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D₃  governance — remember how to use the data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D₄  lifetime — freshness, scope &amp; cost budget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Ω   workspace — run history, artifacts, LLM wiki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95160" y="2715768"/>
            <a:ext cx="0" cy="201168"/>
          </a:xfrm>
          <a:prstGeom prst="line">
            <a:avLst/>
          </a:prstGeom>
          <a:ln w="22860">
            <a:solidFill>
              <a:srgbClr val="6D3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4398264"/>
            <a:ext cx="0" cy="201168"/>
          </a:xfrm>
          <a:prstGeom prst="line">
            <a:avLst/>
          </a:prstGeom>
          <a:ln w="22860">
            <a:solidFill>
              <a:srgbClr val="BC5A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15200" y="3657600"/>
            <a:ext cx="274320" cy="0"/>
          </a:xfrm>
          <a:prstGeom prst="line">
            <a:avLst/>
          </a:prstGeom>
          <a:ln w="22860">
            <a:solidFill>
              <a:srgbClr val="147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" y="6227064"/>
            <a:ext cx="11338560" cy="585215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9050">
            <a:solidFill>
              <a:srgbClr val="CABF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>
                <a:solidFill>
                  <a:srgbClr val="221F1A"/>
                </a:solidFill>
                <a:latin typeface="Microsoft YaHei"/>
                <a:ea typeface="Microsoft YaHei"/>
                <a:cs typeface="Microsoft YaHei"/>
              </a:rPr>
              <a:t>Key idea: each kind of growth (more skills / more machines / more data) is added on a different axis, so they don’t slow each other down.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1F1A"/>
                </a:solidFill>
                <a:latin typeface="Microsoft YaHei"/>
                <a:ea typeface="Microsoft YaHei"/>
                <a:cs typeface="Microsoft YaHei"/>
              </a:rPr>
              <a:t>What Each Layer Actually Contains — the Spec Lists</a:t>
            </a:r>
          </a:p>
          <a:p>
            <a:r>
              <a:rPr sz="1100">
                <a:solidFill>
                  <a:srgbClr val="6B6357"/>
                </a:solidFill>
                <a:latin typeface="Microsoft YaHei"/>
                <a:ea typeface="Microsoft YaHei"/>
                <a:cs typeface="Microsoft YaHei"/>
              </a:rPr>
              <a:t>The concrete, buildable pieces in every layer, grounded in real formats: Anthropic SKILL.md, MCP tools, Claude Code, OpenAI connectors.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07008"/>
            <a:ext cx="6903720" cy="1517904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 w="19050">
            <a:solidFill>
              <a:srgbClr val="1A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6903720" cy="28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603D"/>
                </a:solidFill>
                <a:latin typeface="Microsoft YaHei"/>
                <a:ea typeface="Microsoft YaHei"/>
                <a:cs typeface="Microsoft YaHei"/>
              </a:rPr>
              <a:t>L3 · Skills   —   SkillSpec — Anthropic SKILL.md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664716"/>
            <a:ext cx="6355080" cy="968756"/>
          </a:xfrm>
          <a:prstGeom prst="rect">
            <a:avLst/>
          </a:prstGeom>
          <a:noFill/>
        </p:spPr>
        <p:txBody>
          <a:bodyPr wrap="square" anchor="ctr" lIns="36576" rIns="36576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11603D"/>
                </a:solidFill>
                <a:latin typeface="Microsoft YaHei"/>
                <a:ea typeface="Microsoft YaHei"/>
                <a:cs typeface="Microsoft YaHei"/>
              </a:rPr>
              <a:t>•  name + description (when to use)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11603D"/>
                </a:solidFill>
                <a:latin typeface="Microsoft YaHei"/>
                <a:ea typeface="Microsoft YaHei"/>
                <a:cs typeface="Microsoft YaHei"/>
              </a:rPr>
              <a:t>•  input / output schema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11603D"/>
                </a:solidFill>
                <a:latin typeface="Microsoft YaHei"/>
                <a:ea typeface="Microsoft YaHei"/>
                <a:cs typeface="Microsoft YaHei"/>
              </a:rPr>
              <a:t>•  output format + constraints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11603D"/>
                </a:solidFill>
                <a:latin typeface="Microsoft YaHei"/>
                <a:ea typeface="Microsoft YaHei"/>
                <a:cs typeface="Microsoft YaHei"/>
              </a:rPr>
              <a:t>•  call / stop / loop conditions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11603D"/>
                </a:solidFill>
                <a:latin typeface="Microsoft YaHei"/>
                <a:ea typeface="Microsoft YaHei"/>
                <a:cs typeface="Microsoft YaHei"/>
              </a:rPr>
              <a:t>•  examples (shots) + anti-examples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11603D"/>
                </a:solidFill>
                <a:latin typeface="Microsoft YaHei"/>
                <a:ea typeface="Microsoft YaHei"/>
                <a:cs typeface="Microsoft YaHei"/>
              </a:rPr>
              <a:t>•  personalization +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907792"/>
            <a:ext cx="6903720" cy="1965960"/>
          </a:xfrm>
          <a:prstGeom prst="roundRect">
            <a:avLst>
              <a:gd name="adj" fmla="val 8000"/>
            </a:avLst>
          </a:prstGeom>
          <a:solidFill>
            <a:srgbClr val="ECE4FB"/>
          </a:solidFill>
          <a:ln w="19050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026664"/>
            <a:ext cx="6903720" cy="28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L2 · Harness   —   CapabilityCapsule — MCP-grounded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365500"/>
            <a:ext cx="6355080" cy="1416811"/>
          </a:xfrm>
          <a:prstGeom prst="rect">
            <a:avLst/>
          </a:prstGeom>
          <a:noFill/>
        </p:spPr>
        <p:txBody>
          <a:bodyPr wrap="square" anchor="ctr" lIns="36576" rIns="36576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•  CapabilityCapsule: inputSchema · contract · invariants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•  tool routing (intent-scoped, top-k)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•  context assembly (shots · schema · memory)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•  code generation (Read / Edit / Bash + test / lint)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•  tool synthesis (sandbox-validated capsule)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•  memory maintenance M (compaction · writeback · reflection · retrieval · GC)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•  reward / verifier + policy gate + audit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056632"/>
            <a:ext cx="6903720" cy="1572768"/>
          </a:xfrm>
          <a:prstGeom prst="roundRect">
            <a:avLst>
              <a:gd name="adj" fmla="val 8000"/>
            </a:avLst>
          </a:prstGeom>
          <a:solidFill>
            <a:srgbClr val="FBE7D3"/>
          </a:solidFill>
          <a:ln w="19050">
            <a:solidFill>
              <a:srgbClr val="BC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175504"/>
            <a:ext cx="6903720" cy="28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A4D12"/>
                </a:solidFill>
                <a:latin typeface="Microsoft YaHei"/>
                <a:ea typeface="Microsoft YaHei"/>
                <a:cs typeface="Microsoft YaHei"/>
              </a:rPr>
              <a:t>L1 · Scaffold   —   ExecutionSpec — isolation &amp;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5514340"/>
            <a:ext cx="6355080" cy="1023620"/>
          </a:xfrm>
          <a:prstGeom prst="rect">
            <a:avLst/>
          </a:prstGeom>
          <a:noFill/>
        </p:spPr>
        <p:txBody>
          <a:bodyPr wrap="square" anchor="ctr" lIns="36576" rIns="36576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9A4D12"/>
                </a:solidFill>
                <a:latin typeface="Microsoft YaHei"/>
                <a:ea typeface="Microsoft YaHei"/>
                <a:cs typeface="Microsoft YaHei"/>
              </a:rPr>
              <a:t>•  isolation: microVM · container · wasm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9A4D12"/>
                </a:solidFill>
                <a:latin typeface="Microsoft YaHei"/>
                <a:ea typeface="Microsoft YaHei"/>
                <a:cs typeface="Microsoft YaHei"/>
              </a:rPr>
              <a:t>•  bash / process / filesystem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9A4D12"/>
                </a:solidFill>
                <a:latin typeface="Microsoft YaHei"/>
                <a:ea typeface="Microsoft YaHei"/>
                <a:cs typeface="Microsoft YaHei"/>
              </a:rPr>
              <a:t>•  network: allowlist · egress policy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9A4D12"/>
                </a:solidFill>
                <a:latin typeface="Microsoft YaHei"/>
                <a:ea typeface="Microsoft YaHei"/>
                <a:cs typeface="Microsoft YaHei"/>
              </a:rPr>
              <a:t>•  SSO / identity: OIDC · SAML · SCIM · RBAC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9A4D12"/>
                </a:solidFill>
                <a:latin typeface="Microsoft YaHei"/>
                <a:ea typeface="Microsoft YaHei"/>
                <a:cs typeface="Microsoft YaHei"/>
              </a:rPr>
              <a:t>•  cloud: AWS / GCP / Azure · KMS · S3 · PrivateLink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9A4D12"/>
                </a:solidFill>
                <a:latin typeface="Microsoft YaHei"/>
                <a:ea typeface="Microsoft YaHei"/>
                <a:cs typeface="Microsoft YaHei"/>
              </a:rPr>
              <a:t>•  serving (KV cache · batching) · lifecycle · observability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0" y="2724912"/>
            <a:ext cx="0" cy="182880"/>
          </a:xfrm>
          <a:prstGeom prst="line">
            <a:avLst/>
          </a:prstGeom>
          <a:ln w="22860">
            <a:solidFill>
              <a:srgbClr val="6D3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80" y="4873752"/>
            <a:ext cx="0" cy="182880"/>
          </a:xfrm>
          <a:prstGeom prst="line">
            <a:avLst/>
          </a:prstGeom>
          <a:ln w="22860">
            <a:solidFill>
              <a:srgbClr val="BC5A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20" y="1207008"/>
            <a:ext cx="4160520" cy="5422392"/>
          </a:xfrm>
          <a:prstGeom prst="roundRect">
            <a:avLst>
              <a:gd name="adj" fmla="val 8000"/>
            </a:avLst>
          </a:prstGeom>
          <a:solidFill>
            <a:srgbClr val="DDEFF8"/>
          </a:solidFill>
          <a:ln w="19050">
            <a:solidFill>
              <a:srgbClr val="14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353312"/>
            <a:ext cx="4160520" cy="28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Data Subsystem 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710436"/>
            <a:ext cx="3648456" cy="4790947"/>
          </a:xfrm>
          <a:prstGeom prst="rect">
            <a:avLst/>
          </a:prstGeom>
          <a:noFill/>
        </p:spPr>
        <p:txBody>
          <a:bodyPr wrap="square" anchor="ctr" lIns="36576" rIns="36576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•  D₁ DataSourceCard — source · auth · quota · NFR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•  D₂ SemanticSummary — schema* · relations · themes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•  D₃ DataUsageSkill — sources · join plan · runs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•  D₄ Lifetime — freshness · retention · budget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•  Ω  Workspace — RunTrace · ArtifactManifest · LLM Wiki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0" y="3890772"/>
            <a:ext cx="274320" cy="0"/>
          </a:xfrm>
          <a:prstGeom prst="line">
            <a:avLst/>
          </a:prstGeom>
          <a:ln w="22860">
            <a:solidFill>
              <a:srgbClr val="147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1F1A"/>
                </a:solidFill>
                <a:latin typeface="Microsoft YaHei"/>
                <a:ea typeface="Microsoft YaHei"/>
                <a:cs typeface="Microsoft YaHei"/>
              </a:rPr>
              <a:t>How the Agent Works — a Step-by-Step Walkthrough</a:t>
            </a:r>
          </a:p>
          <a:p>
            <a:r>
              <a:rPr sz="1100">
                <a:solidFill>
                  <a:srgbClr val="6B6357"/>
                </a:solidFill>
                <a:latin typeface="Microsoft YaHei"/>
                <a:ea typeface="Microsoft YaHei"/>
                <a:cs typeface="Microsoft YaHei"/>
              </a:rPr>
              <a:t>The Harness runs this loop. The LLM makes the choices; typed contracts, a policy gate and a verifier keep it safe and on track.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80" y="1115568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ECE4FB"/>
          </a:solidFill>
          <a:ln w="17780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43376" y="1179576"/>
            <a:ext cx="310896" cy="310896"/>
          </a:xfrm>
          <a:prstGeom prst="ellipse">
            <a:avLst/>
          </a:prstGeom>
          <a:solidFill>
            <a:srgbClr val="1A7D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0" y="1152144"/>
            <a:ext cx="2213864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Understand the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490472"/>
            <a:ext cx="4434840" cy="210311"/>
          </a:xfrm>
          <a:prstGeom prst="rect">
            <a:avLst/>
          </a:prstGeom>
          <a:noFill/>
        </p:spPr>
        <p:txBody>
          <a:bodyPr wrap="square" anchor="t" lIns="36576" rIns="36576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6B6357"/>
                </a:solidFill>
                <a:latin typeface="Microsoft YaHei"/>
                <a:ea typeface="Microsoft YaHei"/>
                <a:cs typeface="Microsoft YaHei"/>
              </a:rPr>
              <a:t>Read the request and constraints; figure out what “done” looks like.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824228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ECE4FB"/>
          </a:solidFill>
          <a:ln w="17780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74516" y="1888236"/>
            <a:ext cx="310896" cy="310896"/>
          </a:xfrm>
          <a:prstGeom prst="ellipse">
            <a:avLst/>
          </a:prstGeom>
          <a:solidFill>
            <a:srgbClr val="1A7D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5140" y="1860804"/>
            <a:ext cx="1751584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Pick the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99132"/>
            <a:ext cx="4434840" cy="210312"/>
          </a:xfrm>
          <a:prstGeom prst="rect">
            <a:avLst/>
          </a:prstGeom>
          <a:noFill/>
        </p:spPr>
        <p:txBody>
          <a:bodyPr wrap="square" anchor="t" lIns="36576" rIns="36576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6B6357"/>
                </a:solidFill>
                <a:latin typeface="Microsoft YaHei"/>
                <a:ea typeface="Microsoft YaHei"/>
                <a:cs typeface="Microsoft YaHei"/>
              </a:rPr>
              <a:t>Choose the SkillSpec that fits and load its input / output schema.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2532887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ECE4FB"/>
          </a:solidFill>
          <a:ln w="17780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74516" y="2596895"/>
            <a:ext cx="310896" cy="310896"/>
          </a:xfrm>
          <a:prstGeom prst="ellipse">
            <a:avLst/>
          </a:prstGeom>
          <a:solidFill>
            <a:srgbClr val="1474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5140" y="2569463"/>
            <a:ext cx="1751584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Gather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907791"/>
            <a:ext cx="4434840" cy="210312"/>
          </a:xfrm>
          <a:prstGeom prst="rect">
            <a:avLst/>
          </a:prstGeom>
          <a:noFill/>
        </p:spPr>
        <p:txBody>
          <a:bodyPr wrap="square" anchor="t" lIns="36576" rIns="36576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6B6357"/>
                </a:solidFill>
                <a:latin typeface="Microsoft YaHei"/>
                <a:ea typeface="Microsoft YaHei"/>
                <a:cs typeface="Microsoft YaHei"/>
              </a:rPr>
              <a:t>Pull in memory, relevant examples (shots) and the tools’ contracts.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3241548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F4EEFF"/>
          </a:solidFill>
          <a:ln w="17780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13200" y="3305556"/>
            <a:ext cx="310896" cy="310896"/>
          </a:xfrm>
          <a:prstGeom prst="ellipse">
            <a:avLst/>
          </a:prstGeom>
          <a:solidFill>
            <a:srgbClr val="6D3FD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3824" y="3278124"/>
            <a:ext cx="1474216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Make a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616451"/>
            <a:ext cx="4434840" cy="210312"/>
          </a:xfrm>
          <a:prstGeom prst="rect">
            <a:avLst/>
          </a:prstGeom>
          <a:noFill/>
        </p:spPr>
        <p:txBody>
          <a:bodyPr wrap="square" anchor="t" lIns="36576" rIns="36576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6B6357"/>
                </a:solidFill>
                <a:latin typeface="Microsoft YaHei"/>
                <a:ea typeface="Microsoft YaHei"/>
                <a:cs typeface="Microsoft YaHei"/>
              </a:rPr>
              <a:t>The LLM drafts a plan with fallbacks and a clear stop condition.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3950207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F4EEFF"/>
          </a:solidFill>
          <a:ln w="17780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04692" y="4014215"/>
            <a:ext cx="310896" cy="310896"/>
          </a:xfrm>
          <a:prstGeom prst="ellipse">
            <a:avLst/>
          </a:prstGeom>
          <a:solidFill>
            <a:srgbClr val="6D3FD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5316" y="3986783"/>
            <a:ext cx="2491232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Choose the next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325112"/>
            <a:ext cx="4434840" cy="210311"/>
          </a:xfrm>
          <a:prstGeom prst="rect">
            <a:avLst/>
          </a:prstGeom>
          <a:noFill/>
        </p:spPr>
        <p:txBody>
          <a:bodyPr wrap="square" anchor="t" lIns="36576" rIns="36576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6B6357"/>
                </a:solidFill>
                <a:latin typeface="Microsoft YaHei"/>
                <a:ea typeface="Microsoft YaHei"/>
                <a:cs typeface="Microsoft YaHei"/>
              </a:rPr>
              <a:t>Pick the tool (O1), the model (O7) and the token budget (O8).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0280" y="4658868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ECE4FB"/>
          </a:solidFill>
          <a:ln w="17780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28288" y="4722876"/>
            <a:ext cx="310896" cy="310896"/>
          </a:xfrm>
          <a:prstGeom prst="ellipse">
            <a:avLst/>
          </a:prstGeom>
          <a:solidFill>
            <a:srgbClr val="6D3FD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8912" y="4695444"/>
            <a:ext cx="184404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Check, then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5033772"/>
            <a:ext cx="4434840" cy="210311"/>
          </a:xfrm>
          <a:prstGeom prst="rect">
            <a:avLst/>
          </a:prstGeom>
          <a:noFill/>
        </p:spPr>
        <p:txBody>
          <a:bodyPr wrap="square" anchor="t" lIns="36576" rIns="36576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6B6357"/>
                </a:solidFill>
                <a:latin typeface="Microsoft YaHei"/>
                <a:ea typeface="Microsoft YaHei"/>
                <a:cs typeface="Microsoft YaHei"/>
              </a:rPr>
              <a:t>Policy gate checks scope &amp; permissions, then run on Scaffold / query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40280" y="5367527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ECE4FB"/>
          </a:solidFill>
          <a:ln w="17780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828288" y="5431536"/>
            <a:ext cx="310896" cy="310896"/>
          </a:xfrm>
          <a:prstGeom prst="ellipse">
            <a:avLst/>
          </a:prstGeom>
          <a:solidFill>
            <a:srgbClr val="6D3FD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8912" y="5404103"/>
            <a:ext cx="184404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Observe &amp;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5742431"/>
            <a:ext cx="4434840" cy="210311"/>
          </a:xfrm>
          <a:prstGeom prst="rect">
            <a:avLst/>
          </a:prstGeom>
          <a:noFill/>
        </p:spPr>
        <p:txBody>
          <a:bodyPr wrap="square" anchor="t" lIns="36576" rIns="36576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6B6357"/>
                </a:solidFill>
                <a:latin typeface="Microsoft YaHei"/>
                <a:ea typeface="Microsoft YaHei"/>
                <a:cs typeface="Microsoft YaHei"/>
              </a:rPr>
              <a:t>Collect result and evidence; a verifier / reward grades 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40280" y="6076187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F4EEFF"/>
          </a:solidFill>
          <a:ln w="17780">
            <a:solidFill>
              <a:srgbClr val="6D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966971" y="6140195"/>
            <a:ext cx="310896" cy="310896"/>
          </a:xfrm>
          <a:prstGeom prst="ellipse">
            <a:avLst/>
          </a:prstGeom>
          <a:solidFill>
            <a:srgbClr val="BC5A1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7596" y="6112763"/>
            <a:ext cx="1566672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2DA0"/>
                </a:solidFill>
                <a:latin typeface="Microsoft YaHei"/>
                <a:ea typeface="Microsoft YaHei"/>
                <a:cs typeface="Microsoft YaHei"/>
              </a:rPr>
              <a:t>Good enough?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6451091"/>
            <a:ext cx="4434840" cy="210311"/>
          </a:xfrm>
          <a:prstGeom prst="rect">
            <a:avLst/>
          </a:prstGeom>
          <a:noFill/>
        </p:spPr>
        <p:txBody>
          <a:bodyPr wrap="square" anchor="t" lIns="36576" rIns="36576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6B6357"/>
                </a:solidFill>
                <a:latin typeface="Microsoft YaHei"/>
                <a:ea typeface="Microsoft YaHei"/>
                <a:cs typeface="Microsoft YaHei"/>
              </a:rPr>
              <a:t>Yes → deliver the result.   No → reflect, revise, loop back to step 5.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732020" y="1755648"/>
            <a:ext cx="0" cy="68580"/>
          </a:xfrm>
          <a:prstGeom prst="line">
            <a:avLst/>
          </a:prstGeom>
          <a:ln w="19050">
            <a:solidFill>
              <a:srgbClr val="6D3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32020" y="2464308"/>
            <a:ext cx="0" cy="68579"/>
          </a:xfrm>
          <a:prstGeom prst="line">
            <a:avLst/>
          </a:prstGeom>
          <a:ln w="19050">
            <a:solidFill>
              <a:srgbClr val="6D3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32020" y="3172968"/>
            <a:ext cx="0" cy="68580"/>
          </a:xfrm>
          <a:prstGeom prst="line">
            <a:avLst/>
          </a:prstGeom>
          <a:ln w="19050">
            <a:solidFill>
              <a:srgbClr val="6D3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732020" y="3881628"/>
            <a:ext cx="0" cy="68579"/>
          </a:xfrm>
          <a:prstGeom prst="line">
            <a:avLst/>
          </a:prstGeom>
          <a:ln w="19050">
            <a:solidFill>
              <a:srgbClr val="6D3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732020" y="4590288"/>
            <a:ext cx="0" cy="68580"/>
          </a:xfrm>
          <a:prstGeom prst="line">
            <a:avLst/>
          </a:prstGeom>
          <a:ln w="19050">
            <a:solidFill>
              <a:srgbClr val="6D3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732020" y="5298948"/>
            <a:ext cx="0" cy="68579"/>
          </a:xfrm>
          <a:prstGeom prst="line">
            <a:avLst/>
          </a:prstGeom>
          <a:ln w="19050">
            <a:solidFill>
              <a:srgbClr val="6D3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732020" y="6007607"/>
            <a:ext cx="0" cy="68580"/>
          </a:xfrm>
          <a:prstGeom prst="line">
            <a:avLst/>
          </a:prstGeom>
          <a:ln w="19050">
            <a:solidFill>
              <a:srgbClr val="6D3F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43800" y="3950207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FBE7D3"/>
          </a:solidFill>
          <a:ln w="19050">
            <a:solidFill>
              <a:srgbClr val="BC5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43800" y="4041647"/>
            <a:ext cx="4206240" cy="28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A4D12"/>
                </a:solidFill>
                <a:latin typeface="Microsoft YaHei"/>
                <a:ea typeface="Microsoft YaHei"/>
                <a:cs typeface="Microsoft YaHei"/>
              </a:rPr>
              <a:t>Scaffold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99831" y="4362195"/>
            <a:ext cx="3694175" cy="502412"/>
          </a:xfrm>
          <a:prstGeom prst="rect">
            <a:avLst/>
          </a:prstGeom>
          <a:noFill/>
        </p:spPr>
        <p:txBody>
          <a:bodyPr wrap="square" anchor="ctr" lIns="36576" rIns="36576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9A4D12"/>
                </a:solidFill>
                <a:latin typeface="Microsoft YaHei"/>
                <a:ea typeface="Microsoft YaHei"/>
                <a:cs typeface="Microsoft YaHei"/>
              </a:rPr>
              <a:t>sandbox · shell · serving</a:t>
            </a:r>
          </a:p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9A4D12"/>
                </a:solidFill>
                <a:latin typeface="Microsoft YaHei"/>
                <a:ea typeface="Microsoft YaHei"/>
                <a:cs typeface="Microsoft YaHei"/>
              </a:rPr>
              <a:t>filesystem · network · SSO / cloud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43800" y="5120640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DDEFF8"/>
          </a:solidFill>
          <a:ln w="19050">
            <a:solidFill>
              <a:srgbClr val="147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3800" y="5212079"/>
            <a:ext cx="4206240" cy="28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Data subsystem 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99831" y="5532627"/>
            <a:ext cx="3694175" cy="502412"/>
          </a:xfrm>
          <a:prstGeom prst="rect">
            <a:avLst/>
          </a:prstGeom>
          <a:noFill/>
        </p:spPr>
        <p:txBody>
          <a:bodyPr wrap="square" anchor="ctr" lIns="36576" rIns="36576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D₁ / D₂ query · D₃ / D₄ policy</a:t>
            </a:r>
          </a:p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sz="1000" b="0">
                <a:solidFill>
                  <a:srgbClr val="0F5E87"/>
                </a:solidFill>
                <a:latin typeface="Microsoft YaHei"/>
                <a:ea typeface="Microsoft YaHei"/>
                <a:cs typeface="Microsoft YaHei"/>
              </a:rPr>
              <a:t>Ω workspace evidence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223760" y="4462271"/>
            <a:ext cx="320040" cy="516636"/>
          </a:xfrm>
          <a:prstGeom prst="bentConnector3">
            <a:avLst/>
          </a:prstGeom>
          <a:ln w="22860">
            <a:solidFill>
              <a:srgbClr val="BC5A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223760" y="5632704"/>
            <a:ext cx="320040" cy="54863"/>
          </a:xfrm>
          <a:prstGeom prst="bentConnector3">
            <a:avLst/>
          </a:prstGeom>
          <a:ln w="22860">
            <a:solidFill>
              <a:srgbClr val="147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7543800" y="6076187"/>
            <a:ext cx="4206240" cy="640080"/>
          </a:xfrm>
          <a:prstGeom prst="roundRect">
            <a:avLst>
              <a:gd name="adj" fmla="val 8000"/>
            </a:avLst>
          </a:prstGeom>
          <a:solidFill>
            <a:srgbClr val="EAF7F0"/>
          </a:solidFill>
          <a:ln w="19050">
            <a:solidFill>
              <a:srgbClr val="1A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>
                <a:solidFill>
                  <a:srgbClr val="11603D"/>
                </a:solidFill>
                <a:latin typeface="Microsoft YaHei"/>
                <a:ea typeface="Microsoft YaHei"/>
                <a:cs typeface="Microsoft YaHei"/>
              </a:rPr>
              <a:t>Deliver artifact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223760" y="6396227"/>
            <a:ext cx="320040" cy="0"/>
          </a:xfrm>
          <a:prstGeom prst="line">
            <a:avLst/>
          </a:prstGeom>
          <a:ln w="22860">
            <a:solidFill>
              <a:srgbClr val="1A7D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828800" y="6396227"/>
            <a:ext cx="411480" cy="0"/>
          </a:xfrm>
          <a:prstGeom prst="line">
            <a:avLst/>
          </a:prstGeom>
          <a:ln w="22860">
            <a:solidFill>
              <a:srgbClr val="BC5A1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828800" y="4270247"/>
            <a:ext cx="0" cy="2125980"/>
          </a:xfrm>
          <a:prstGeom prst="line">
            <a:avLst/>
          </a:prstGeom>
          <a:ln w="22860">
            <a:solidFill>
              <a:srgbClr val="BC5A1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828800" y="4270247"/>
            <a:ext cx="411480" cy="0"/>
          </a:xfrm>
          <a:prstGeom prst="line">
            <a:avLst/>
          </a:prstGeom>
          <a:ln w="22860">
            <a:solidFill>
              <a:srgbClr val="BC5A1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5013197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C5A16"/>
                </a:solidFill>
                <a:latin typeface="Microsoft YaHei"/>
                <a:ea typeface="Microsoft YaHei"/>
                <a:cs typeface="Microsoft YaHei"/>
              </a:rPr>
              <a:t>reflect &amp; loop back to step 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240280" y="6825995"/>
            <a:ext cx="9509759" cy="-114299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9050">
            <a:solidFill>
              <a:srgbClr val="CABF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>
                <a:solidFill>
                  <a:srgbClr val="221F1A"/>
                </a:solidFill>
                <a:latin typeface="Microsoft YaHei"/>
                <a:ea typeface="Microsoft YaHei"/>
                <a:cs typeface="Microsoft YaHei"/>
              </a:rPr>
              <a:t>Running quietly in the background: System skills (M) compact, write back and retrieve memory between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