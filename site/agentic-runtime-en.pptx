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972800" cy="78638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00" cy="786384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69382"/>
            <a:ext cx="5410871" cy="3364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400" b="1">
                <a:solidFill>
                  <a:srgbClr val="221F1A"/>
                </a:solidFill>
                <a:latin typeface="Microsoft YaHei"/>
                <a:ea typeface="Microsoft YaHei"/>
              </a:rPr>
              <a:t>The Three Layers — What Each One Is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10545"/>
            <a:ext cx="7568672" cy="19751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6B6357"/>
                </a:solidFill>
                <a:latin typeface="Microsoft YaHei"/>
                <a:ea typeface="Microsoft YaHei"/>
              </a:rPr>
              <a:t>A first look: an AI agent is built from three stacked layers, plus a data subsystem on the 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024128"/>
            <a:ext cx="6766560" cy="1572768"/>
          </a:xfrm>
          <a:prstGeom prst="roundRect">
            <a:avLst>
              <a:gd name="adj" fmla="val 9302"/>
            </a:avLst>
          </a:prstGeom>
          <a:solidFill>
            <a:srgbClr val="E6F4EC"/>
          </a:solidFill>
          <a:ln w="16192">
            <a:solidFill>
              <a:srgbClr val="1A7D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6656" y="1188720"/>
            <a:ext cx="475488" cy="27432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 w="13334">
            <a:solidFill>
              <a:srgbClr val="1A7D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9333" y="1237366"/>
            <a:ext cx="430134" cy="2340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1">
                <a:solidFill>
                  <a:srgbClr val="11603D"/>
                </a:solidFill>
                <a:latin typeface="Microsoft YaHei"/>
                <a:ea typeface="Microsoft YaHei"/>
              </a:rPr>
              <a:t>L3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1228405"/>
            <a:ext cx="2476378" cy="24871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400" b="1">
                <a:solidFill>
                  <a:srgbClr val="11603D"/>
                </a:solidFill>
                <a:latin typeface="Microsoft YaHei"/>
                <a:ea typeface="Microsoft YaHei"/>
              </a:rPr>
              <a:t>Skills  —  “What to do”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8770"/>
            <a:ext cx="5312664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11603D"/>
                </a:solidFill>
                <a:latin typeface="Microsoft YaHei"/>
                <a:ea typeface="Microsoft YaHei"/>
              </a:rPr>
              <a:t>Holds the job descriptions for tasks: the goal, the input/output format,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1762506"/>
            <a:ext cx="4604004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11603D"/>
                </a:solidFill>
                <a:latin typeface="Microsoft YaHei"/>
                <a:ea typeface="Microsoft YaHei"/>
              </a:rPr>
              <a:t>and the rules for when to act, when to stop, and when to loop.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068739"/>
            <a:ext cx="2517892" cy="17556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A7D52"/>
                </a:solidFill>
                <a:latin typeface="Microsoft YaHei"/>
                <a:ea typeface="Microsoft YaHei"/>
              </a:rPr>
              <a:t>Like an employee’s playbook / SOP.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" y="2286000"/>
            <a:ext cx="6437376" cy="219456"/>
          </a:xfrm>
          <a:prstGeom prst="roundRect">
            <a:avLst>
              <a:gd name="adj" fmla="val 29166"/>
            </a:avLst>
          </a:prstGeom>
          <a:solidFill>
            <a:srgbClr val="FFFFFF"/>
          </a:solidFill>
          <a:ln w="9525">
            <a:solidFill>
              <a:srgbClr val="1A7D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38395"/>
            <a:ext cx="4958700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1603D"/>
                </a:solidFill>
                <a:latin typeface="Microsoft YaHei"/>
                <a:ea typeface="Microsoft YaHei"/>
              </a:rPr>
              <a:t>Add a Skill  →  the agent can do one more kind of task  (logical scaling)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2743200"/>
            <a:ext cx="6766560" cy="1572768"/>
          </a:xfrm>
          <a:prstGeom prst="roundRect">
            <a:avLst>
              <a:gd name="adj" fmla="val 9302"/>
            </a:avLst>
          </a:prstGeom>
          <a:solidFill>
            <a:srgbClr val="ECE4FB"/>
          </a:solidFill>
          <a:ln w="16192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907792"/>
            <a:ext cx="475488" cy="27432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 w="13334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333" y="2956438"/>
            <a:ext cx="430134" cy="2340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1">
                <a:solidFill>
                  <a:srgbClr val="4F2DA0"/>
                </a:solidFill>
                <a:latin typeface="Microsoft YaHei"/>
                <a:ea typeface="Microsoft YaHei"/>
              </a:rPr>
              <a:t>L2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2947477"/>
            <a:ext cx="3729289" cy="24871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400" b="1">
                <a:solidFill>
                  <a:srgbClr val="4F2DA0"/>
                </a:solidFill>
                <a:latin typeface="Microsoft YaHei"/>
                <a:ea typeface="Microsoft YaHei"/>
              </a:rPr>
              <a:t>Harness  —  “How the work gets done”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3307842"/>
            <a:ext cx="5100066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4F2DA0"/>
                </a:solidFill>
                <a:latin typeface="Microsoft YaHei"/>
                <a:ea typeface="Microsoft YaHei"/>
              </a:rPr>
              <a:t>Turns a Skill’s intent into concrete, runnable steps. Manages memory,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3481578"/>
            <a:ext cx="4604004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4F2DA0"/>
                </a:solidFill>
                <a:latin typeface="Microsoft YaHei"/>
                <a:ea typeface="Microsoft YaHei"/>
              </a:rPr>
              <a:t>context, tools, code generation, safety checks and audit logs.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787811"/>
            <a:ext cx="3402300" cy="17556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6D3FD4"/>
                </a:solidFill>
                <a:latin typeface="Microsoft YaHei"/>
                <a:ea typeface="Microsoft YaHei"/>
              </a:rPr>
              <a:t>Like a project manager + the runtime framework.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" y="4005072"/>
            <a:ext cx="6437376" cy="219456"/>
          </a:xfrm>
          <a:prstGeom prst="roundRect">
            <a:avLst>
              <a:gd name="adj" fmla="val 29166"/>
            </a:avLst>
          </a:prstGeom>
          <a:solidFill>
            <a:srgbClr val="FFFFFF"/>
          </a:solidFill>
          <a:ln w="9525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57467"/>
            <a:ext cx="482830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4F2DA0"/>
                </a:solidFill>
                <a:latin typeface="Microsoft YaHei"/>
                <a:ea typeface="Microsoft YaHei"/>
              </a:rPr>
              <a:t>The single place where Skills and Scaffold meet  (the decoupling point)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" y="4462272"/>
            <a:ext cx="6766560" cy="1572768"/>
          </a:xfrm>
          <a:prstGeom prst="roundRect">
            <a:avLst>
              <a:gd name="adj" fmla="val 9302"/>
            </a:avLst>
          </a:prstGeom>
          <a:solidFill>
            <a:srgbClr val="FBE7D3"/>
          </a:solidFill>
          <a:ln w="16192">
            <a:solidFill>
              <a:srgbClr val="BC5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6656" y="4626864"/>
            <a:ext cx="475488" cy="274320"/>
          </a:xfrm>
          <a:prstGeom prst="roundRect">
            <a:avLst>
              <a:gd name="adj" fmla="val 26666"/>
            </a:avLst>
          </a:prstGeom>
          <a:solidFill>
            <a:srgbClr val="FFFFFF"/>
          </a:solidFill>
          <a:ln w="13334">
            <a:solidFill>
              <a:srgbClr val="BC5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333" y="4675510"/>
            <a:ext cx="430134" cy="2340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1">
                <a:solidFill>
                  <a:srgbClr val="9A4D12"/>
                </a:solidFill>
                <a:latin typeface="Microsoft YaHei"/>
                <a:ea typeface="Microsoft YaHei"/>
              </a:rPr>
              <a:t>L1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4666549"/>
            <a:ext cx="3729289" cy="24871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400" b="1">
                <a:solidFill>
                  <a:srgbClr val="9A4D12"/>
                </a:solidFill>
                <a:latin typeface="Microsoft YaHei"/>
                <a:ea typeface="Microsoft YaHei"/>
              </a:rPr>
              <a:t>Scaffold  —  “Where it runs, safely”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" y="5026914"/>
            <a:ext cx="4745736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9A4D12"/>
                </a:solidFill>
                <a:latin typeface="Microsoft YaHei"/>
                <a:ea typeface="Microsoft YaHei"/>
              </a:rPr>
              <a:t>Provides the isolated place to execute: sandbox, shell, network,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" y="5200650"/>
            <a:ext cx="4533138" cy="1828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9A4D12"/>
                </a:solidFill>
                <a:latin typeface="Microsoft YaHei"/>
                <a:ea typeface="Microsoft YaHei"/>
              </a:rPr>
              <a:t>storage and model-serving capacity, with security boundaries.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" y="5506883"/>
            <a:ext cx="2177735" cy="17556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BC5A16"/>
                </a:solidFill>
                <a:latin typeface="Microsoft YaHei"/>
                <a:ea typeface="Microsoft YaHei"/>
              </a:rPr>
              <a:t>Like a secure cloud computer.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" y="5724144"/>
            <a:ext cx="6437376" cy="219456"/>
          </a:xfrm>
          <a:prstGeom prst="roundRect">
            <a:avLst>
              <a:gd name="adj" fmla="val 29166"/>
            </a:avLst>
          </a:prstGeom>
          <a:solidFill>
            <a:srgbClr val="FFFFFF"/>
          </a:solidFill>
          <a:ln w="9525">
            <a:solidFill>
              <a:srgbClr val="BC5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776539"/>
            <a:ext cx="3785159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9A4D12"/>
                </a:solidFill>
                <a:latin typeface="Microsoft YaHei"/>
                <a:ea typeface="Microsoft YaHei"/>
              </a:rPr>
              <a:t>Add an instance  →  more throughput  (physical scaling)</a:t>
            </a:r>
          </a:p>
        </p:txBody>
      </p:sp>
      <p:sp>
        <p:nvSpPr>
          <p:cNvPr id="32" name="Freeform 31"/>
          <p:cNvSpPr/>
          <p:nvPr/>
        </p:nvSpPr>
        <p:spPr>
          <a:xfrm>
            <a:off x="6912864" y="2596896"/>
            <a:ext cx="0" cy="146304"/>
          </a:xfrm>
          <a:custGeom>
            <a:avLst/>
            <a:gdLst/>
            <a:ahLst/>
            <a:cxnLst/>
            <a:rect l="l" t="t" r="r" b="b"/>
            <a:pathLst>
              <a:path w="0" h="146304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20002">
            <a:solidFill>
              <a:srgbClr val="6D3FD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6912864" y="4315968"/>
            <a:ext cx="0" cy="146304"/>
          </a:xfrm>
          <a:custGeom>
            <a:avLst/>
            <a:gdLst/>
            <a:ahLst/>
            <a:cxnLst/>
            <a:rect l="l" t="t" r="r" b="b"/>
            <a:pathLst>
              <a:path w="0" h="146304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20002">
            <a:solidFill>
              <a:srgbClr val="BC5A16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498080" y="1024128"/>
            <a:ext cx="2962656" cy="5010912"/>
          </a:xfrm>
          <a:prstGeom prst="roundRect">
            <a:avLst>
              <a:gd name="adj" fmla="val 4938"/>
            </a:avLst>
          </a:prstGeom>
          <a:solidFill>
            <a:srgbClr val="DDEFF8"/>
          </a:solidFill>
          <a:ln w="16192">
            <a:solidFill>
              <a:srgbClr val="147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62672" y="1191646"/>
            <a:ext cx="1700052" cy="2340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400" b="1">
                <a:solidFill>
                  <a:srgbClr val="0F5E87"/>
                </a:solidFill>
                <a:latin typeface="Microsoft YaHei"/>
                <a:ea typeface="Microsoft YaHei"/>
              </a:rPr>
              <a:t>Data Subsystem 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62672" y="1451427"/>
            <a:ext cx="2937601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3D7A99"/>
                </a:solidFill>
                <a:latin typeface="Microsoft YaHei"/>
                <a:ea typeface="Microsoft YaHei"/>
              </a:rPr>
              <a:t>What the agent knows about your data (kept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1597731"/>
            <a:ext cx="2285634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3D7A99"/>
                </a:solidFill>
                <a:latin typeface="Microsoft YaHei"/>
                <a:ea typeface="Microsoft YaHei"/>
              </a:rPr>
              <a:t>off to the side, mostly offline)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2000067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474A6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8120" y="2000067"/>
            <a:ext cx="3198388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F5E87"/>
                </a:solidFill>
                <a:latin typeface="Microsoft YaHei"/>
                <a:ea typeface="Microsoft YaHei"/>
              </a:rPr>
              <a:t>D₁  fetch — read the slice you need, on demand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2219523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474A6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2219523"/>
            <a:ext cx="3393978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F5E87"/>
                </a:solidFill>
                <a:latin typeface="Microsoft YaHei"/>
                <a:ea typeface="Microsoft YaHei"/>
              </a:rPr>
              <a:t>D₂  semantic summary — pre-digest sources offline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0" y="2438979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474A6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18120" y="2438979"/>
            <a:ext cx="3133192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F5E87"/>
                </a:solidFill>
                <a:latin typeface="Microsoft YaHei"/>
                <a:ea typeface="Microsoft YaHei"/>
              </a:rPr>
              <a:t>D₃  governance — remember how to use the data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0" y="2658435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474A6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8120" y="2658435"/>
            <a:ext cx="3133192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F5E87"/>
                </a:solidFill>
                <a:latin typeface="Microsoft YaHei"/>
                <a:ea typeface="Microsoft YaHei"/>
              </a:rPr>
              <a:t>D₄  lifetime — freshness, scope &amp; cost budget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80960" y="2877891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474A6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18120" y="2877891"/>
            <a:ext cx="3328782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F5E87"/>
                </a:solidFill>
                <a:latin typeface="Microsoft YaHei"/>
                <a:ea typeface="Microsoft YaHei"/>
              </a:rPr>
              <a:t>Ω   workspace — run history, artifacts, LLM wiki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2064" y="6144768"/>
            <a:ext cx="9948672" cy="731520"/>
          </a:xfrm>
          <a:prstGeom prst="roundRect">
            <a:avLst>
              <a:gd name="adj" fmla="val 17500"/>
            </a:avLst>
          </a:prstGeom>
          <a:solidFill>
            <a:srgbClr val="F7F2E8"/>
          </a:solidFill>
          <a:ln w="12382">
            <a:solidFill>
              <a:srgbClr val="CABF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4944" y="6334689"/>
            <a:ext cx="10706618" cy="19751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221F1A"/>
                </a:solidFill>
                <a:latin typeface="Microsoft YaHei"/>
                <a:ea typeface="Microsoft YaHei"/>
              </a:rPr>
              <a:t>Key idea: each kind of growth (more skills / more machines / more data) is added on a different axis, so they don’t slow each other down.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00" cy="786384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69382"/>
            <a:ext cx="6845198" cy="3364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400" b="1">
                <a:solidFill>
                  <a:srgbClr val="221F1A"/>
                </a:solidFill>
                <a:latin typeface="Microsoft YaHei"/>
                <a:ea typeface="Microsoft YaHei"/>
              </a:rPr>
              <a:t>What Each Layer Actually Contains — the Spec Lists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10545"/>
            <a:ext cx="10553548" cy="19751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6B6357"/>
                </a:solidFill>
                <a:latin typeface="Microsoft YaHei"/>
                <a:ea typeface="Microsoft YaHei"/>
              </a:rPr>
              <a:t>The concrete, buildable pieces in every layer. Grounded in real formats: Anthropic SKILL.md, MCP tools, Claude Code, OpenAI connectors.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024128"/>
            <a:ext cx="6766560" cy="1207008"/>
          </a:xfrm>
          <a:prstGeom prst="roundRect">
            <a:avLst>
              <a:gd name="adj" fmla="val 12121"/>
            </a:avLst>
          </a:prstGeom>
          <a:solidFill>
            <a:srgbClr val="E6F4EC"/>
          </a:solidFill>
          <a:ln w="16192">
            <a:solidFill>
              <a:srgbClr val="1A7D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155070"/>
            <a:ext cx="1246510" cy="2340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400" b="1">
                <a:solidFill>
                  <a:srgbClr val="11603D"/>
                </a:solidFill>
                <a:latin typeface="Microsoft YaHei"/>
                <a:ea typeface="Microsoft YaHei"/>
              </a:rPr>
              <a:t>L3 · 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378275"/>
            <a:ext cx="2611618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A7D52"/>
                </a:solidFill>
                <a:latin typeface="Microsoft YaHei"/>
                <a:ea typeface="Microsoft YaHei"/>
              </a:rPr>
              <a:t>SkillSpec — Anthropic SKILL.md format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97731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A7D52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597731"/>
            <a:ext cx="2285634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11603D"/>
                </a:solidFill>
                <a:latin typeface="Microsoft YaHei"/>
                <a:ea typeface="Microsoft YaHei"/>
              </a:rPr>
              <a:t>name + description (when to use)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80611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A7D52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780611"/>
            <a:ext cx="1568470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11603D"/>
                </a:solidFill>
                <a:latin typeface="Microsoft YaHei"/>
                <a:ea typeface="Microsoft YaHei"/>
              </a:rPr>
              <a:t>input / output schema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63491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A7D52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963491"/>
            <a:ext cx="1959651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11603D"/>
                </a:solidFill>
                <a:latin typeface="Microsoft YaHei"/>
                <a:ea typeface="Microsoft YaHei"/>
              </a:rPr>
              <a:t>output format + constraints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41648" y="1597731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A7D52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8808" y="1597731"/>
            <a:ext cx="2090044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11603D"/>
                </a:solidFill>
                <a:latin typeface="Microsoft YaHei"/>
                <a:ea typeface="Microsoft YaHei"/>
              </a:rPr>
              <a:t>call / stop / loop conditions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1780611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A7D52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8808" y="1780611"/>
            <a:ext cx="2285634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11603D"/>
                </a:solidFill>
                <a:latin typeface="Microsoft YaHei"/>
                <a:ea typeface="Microsoft YaHei"/>
              </a:rPr>
              <a:t>examples (shots) + anti-examples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1648" y="1963491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A7D52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808" y="1963491"/>
            <a:ext cx="2155241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11603D"/>
                </a:solidFill>
                <a:latin typeface="Microsoft YaHei"/>
                <a:ea typeface="Microsoft YaHei"/>
              </a:rPr>
              <a:t>personalization + verification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" y="2468880"/>
            <a:ext cx="6766560" cy="1719072"/>
          </a:xfrm>
          <a:prstGeom prst="roundRect">
            <a:avLst>
              <a:gd name="adj" fmla="val 8510"/>
            </a:avLst>
          </a:prstGeom>
          <a:solidFill>
            <a:srgbClr val="ECE4FB"/>
          </a:solidFill>
          <a:ln w="16192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2599822"/>
            <a:ext cx="1337219" cy="2340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400" b="1">
                <a:solidFill>
                  <a:srgbClr val="4F2DA0"/>
                </a:solidFill>
                <a:latin typeface="Microsoft YaHei"/>
                <a:ea typeface="Microsoft YaHei"/>
              </a:rPr>
              <a:t>L2 · Harness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2823027"/>
            <a:ext cx="2285634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6D3FD4"/>
                </a:solidFill>
                <a:latin typeface="Microsoft YaHei"/>
                <a:ea typeface="Microsoft YaHei"/>
              </a:rPr>
              <a:t>CapabilityCapsule — MCP-grounded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079059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6D3FD4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3079059"/>
            <a:ext cx="3719962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4F2DA0"/>
                </a:solidFill>
                <a:latin typeface="Microsoft YaHei"/>
                <a:ea typeface="Microsoft YaHei"/>
              </a:rPr>
              <a:t>CapabilityCapsule: inputSchema · contract · invariants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98515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6D3FD4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298515"/>
            <a:ext cx="2481224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4F2DA0"/>
                </a:solidFill>
                <a:latin typeface="Microsoft YaHei"/>
                <a:ea typeface="Microsoft YaHei"/>
              </a:rPr>
              <a:t>tool routing (intent-scoped, top-k)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517971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6D3FD4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517971"/>
            <a:ext cx="2937601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4F2DA0"/>
                </a:solidFill>
                <a:latin typeface="Microsoft YaHei"/>
                <a:ea typeface="Microsoft YaHei"/>
              </a:rPr>
              <a:t>context assembly (shots · schema · memory)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737427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6D3FD4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3737427"/>
            <a:ext cx="3067995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4F2DA0"/>
                </a:solidFill>
                <a:latin typeface="Microsoft YaHei"/>
                <a:ea typeface="Microsoft YaHei"/>
              </a:rPr>
              <a:t>code generation (Read/Edit/Bash + test/lint)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41648" y="3079059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6D3FD4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8808" y="3079059"/>
            <a:ext cx="2937601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4F2DA0"/>
                </a:solidFill>
                <a:latin typeface="Microsoft YaHei"/>
                <a:ea typeface="Microsoft YaHei"/>
              </a:rPr>
              <a:t>tool synthesis (sandbox-validated capsule)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41648" y="3298515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6D3FD4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8808" y="3298515"/>
            <a:ext cx="3067995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4F2DA0"/>
                </a:solidFill>
                <a:latin typeface="Microsoft YaHei"/>
                <a:ea typeface="Microsoft YaHei"/>
              </a:rPr>
              <a:t>memory maintenance M (compaction · writeback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41648" y="3517971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6D3FD4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78808" y="3517971"/>
            <a:ext cx="2155241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4F2DA0"/>
                </a:solidFill>
                <a:latin typeface="Microsoft YaHei"/>
                <a:ea typeface="Microsoft YaHei"/>
              </a:rPr>
              <a:t>· reflection · retrieval · GC)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41648" y="3737427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6D3FD4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8808" y="3737427"/>
            <a:ext cx="3002798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4F2DA0"/>
                </a:solidFill>
                <a:latin typeface="Microsoft YaHei"/>
                <a:ea typeface="Microsoft YaHei"/>
              </a:rPr>
              <a:t>reward / verifier + policy gate + audit log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12064" y="4425696"/>
            <a:ext cx="6766560" cy="1499616"/>
          </a:xfrm>
          <a:prstGeom prst="roundRect">
            <a:avLst>
              <a:gd name="adj" fmla="val 9756"/>
            </a:avLst>
          </a:prstGeom>
          <a:solidFill>
            <a:srgbClr val="FBE7D3"/>
          </a:solidFill>
          <a:ln w="16192">
            <a:solidFill>
              <a:srgbClr val="BC5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" y="4556638"/>
            <a:ext cx="1427927" cy="2340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400" b="1">
                <a:solidFill>
                  <a:srgbClr val="9A4D12"/>
                </a:solidFill>
                <a:latin typeface="Microsoft YaHei"/>
                <a:ea typeface="Microsoft YaHei"/>
              </a:rPr>
              <a:t>L1 · Scaffold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" y="4779843"/>
            <a:ext cx="2611618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BC5A16"/>
                </a:solidFill>
                <a:latin typeface="Microsoft YaHei"/>
                <a:ea typeface="Microsoft YaHei"/>
              </a:rPr>
              <a:t>ExecutionSpec — isolation &amp; resources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035875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BC5A16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5035875"/>
            <a:ext cx="2611618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9A4D12"/>
                </a:solidFill>
                <a:latin typeface="Microsoft YaHei"/>
                <a:ea typeface="Microsoft YaHei"/>
              </a:rPr>
              <a:t>isolation: microVM · container · wasm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5255331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BC5A16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" y="5255331"/>
            <a:ext cx="1959651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9A4D12"/>
                </a:solidFill>
                <a:latin typeface="Microsoft YaHei"/>
                <a:ea typeface="Microsoft YaHei"/>
              </a:rPr>
              <a:t>bash / process / filesystem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74787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BC5A16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" y="5474787"/>
            <a:ext cx="2416028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9A4D12"/>
                </a:solidFill>
                <a:latin typeface="Microsoft YaHei"/>
                <a:ea typeface="Microsoft YaHei"/>
              </a:rPr>
              <a:t>network: allowlist · egress policy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41648" y="5035875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BC5A16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78808" y="5035875"/>
            <a:ext cx="2872405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9A4D12"/>
                </a:solidFill>
                <a:latin typeface="Microsoft YaHei"/>
                <a:ea typeface="Microsoft YaHei"/>
              </a:rPr>
              <a:t>SSO / identity: OIDC · SAML · SCIM · RBAC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41648" y="5255331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BC5A16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78808" y="5255331"/>
            <a:ext cx="3133192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9A4D12"/>
                </a:solidFill>
                <a:latin typeface="Microsoft YaHei"/>
                <a:ea typeface="Microsoft YaHei"/>
              </a:rPr>
              <a:t>cloud: AWS/GCP/Azure · KMS · S3 · PrivateLink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41648" y="5474787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BC5A16"/>
                </a:solidFill>
                <a:latin typeface="Microsoft YaHei"/>
                <a:ea typeface="Microsoft YaHei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78808" y="5474787"/>
            <a:ext cx="3328782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9A4D12"/>
                </a:solidFill>
                <a:latin typeface="Microsoft YaHei"/>
                <a:ea typeface="Microsoft YaHei"/>
              </a:rPr>
              <a:t>serving (KV cache · batching) · lifecycle · obs.</a:t>
            </a:r>
          </a:p>
        </p:txBody>
      </p:sp>
      <p:sp>
        <p:nvSpPr>
          <p:cNvPr id="54" name="Freeform 53"/>
          <p:cNvSpPr/>
          <p:nvPr/>
        </p:nvSpPr>
        <p:spPr>
          <a:xfrm>
            <a:off x="6986016" y="2231136"/>
            <a:ext cx="0" cy="237744"/>
          </a:xfrm>
          <a:custGeom>
            <a:avLst/>
            <a:gdLst/>
            <a:ahLst/>
            <a:cxnLst/>
            <a:rect l="l" t="t" r="r" b="b"/>
            <a:pathLst>
              <a:path w="0" h="237744">
                <a:moveTo>
                  <a:pt x="0" y="0"/>
                </a:moveTo>
                <a:lnTo>
                  <a:pt x="0" y="237744"/>
                </a:lnTo>
              </a:path>
            </a:pathLst>
          </a:custGeom>
          <a:noFill/>
          <a:ln w="20002">
            <a:solidFill>
              <a:srgbClr val="6D3FD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6986016" y="4187952"/>
            <a:ext cx="0" cy="237744"/>
          </a:xfrm>
          <a:custGeom>
            <a:avLst/>
            <a:gdLst/>
            <a:ahLst/>
            <a:cxnLst/>
            <a:rect l="l" t="t" r="r" b="b"/>
            <a:pathLst>
              <a:path w="0" h="237744">
                <a:moveTo>
                  <a:pt x="0" y="0"/>
                </a:moveTo>
                <a:lnTo>
                  <a:pt x="0" y="237744"/>
                </a:lnTo>
              </a:path>
            </a:pathLst>
          </a:custGeom>
          <a:noFill/>
          <a:ln w="20002">
            <a:solidFill>
              <a:srgbClr val="BC5A16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498080" y="1024128"/>
            <a:ext cx="2962656" cy="4901184"/>
          </a:xfrm>
          <a:prstGeom prst="roundRect">
            <a:avLst>
              <a:gd name="adj" fmla="val 4938"/>
            </a:avLst>
          </a:prstGeom>
          <a:solidFill>
            <a:srgbClr val="DDEFF8"/>
          </a:solidFill>
          <a:ln w="16192">
            <a:solidFill>
              <a:srgbClr val="147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62672" y="1191646"/>
            <a:ext cx="1700052" cy="23408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400" b="1">
                <a:solidFill>
                  <a:srgbClr val="0F5E87"/>
                </a:solidFill>
                <a:latin typeface="Microsoft YaHei"/>
                <a:ea typeface="Microsoft YaHei"/>
              </a:rPr>
              <a:t>Data Subsystem 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80960" y="1561155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474A6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27264" y="1561155"/>
            <a:ext cx="3002798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F5E87"/>
                </a:solidFill>
                <a:latin typeface="Microsoft YaHei"/>
                <a:ea typeface="Microsoft YaHei"/>
              </a:rPr>
              <a:t>D₁ DataSourceCard — source · auth · quota 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27264" y="1707459"/>
            <a:ext cx="394929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F5E87"/>
                </a:solidFill>
                <a:latin typeface="Microsoft YaHei"/>
                <a:ea typeface="Microsoft YaHei"/>
              </a:rPr>
              <a:t>NFR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1981779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474A6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27264" y="1981779"/>
            <a:ext cx="2937601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F5E87"/>
                </a:solidFill>
                <a:latin typeface="Microsoft YaHei"/>
                <a:ea typeface="Microsoft YaHei"/>
              </a:rPr>
              <a:t>D₂ SemanticSummary — schema* · relations ·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27264" y="2128083"/>
            <a:ext cx="590520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F5E87"/>
                </a:solidFill>
                <a:latin typeface="Microsoft YaHei"/>
                <a:ea typeface="Microsoft YaHei"/>
              </a:rPr>
              <a:t>themes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2402403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474A6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27264" y="2402403"/>
            <a:ext cx="2872405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F5E87"/>
                </a:solidFill>
                <a:latin typeface="Microsoft YaHei"/>
                <a:ea typeface="Microsoft YaHei"/>
              </a:rPr>
              <a:t>D₃ DataUsageSkill — sources · join plan 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827264" y="2548707"/>
            <a:ext cx="46012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F5E87"/>
                </a:solidFill>
                <a:latin typeface="Microsoft YaHei"/>
                <a:ea typeface="Microsoft YaHei"/>
              </a:rPr>
              <a:t>runs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2823027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474A6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27264" y="2823027"/>
            <a:ext cx="2611618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F5E87"/>
                </a:solidFill>
                <a:latin typeface="Microsoft YaHei"/>
                <a:ea typeface="Microsoft YaHei"/>
              </a:rPr>
              <a:t>D₄ Lifetime — freshness · retention ·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27264" y="2969331"/>
            <a:ext cx="590520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F5E87"/>
                </a:solidFill>
                <a:latin typeface="Microsoft YaHei"/>
                <a:ea typeface="Microsoft YaHei"/>
              </a:rPr>
              <a:t>budget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243651"/>
            <a:ext cx="264536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1474A6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27264" y="3243651"/>
            <a:ext cx="3002798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F5E87"/>
                </a:solidFill>
                <a:latin typeface="Microsoft YaHei"/>
                <a:ea typeface="Microsoft YaHei"/>
              </a:rPr>
              <a:t>Ω Workspace — RunTrace · ArtifactManifest ·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27264" y="3389955"/>
            <a:ext cx="720913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0F5E87"/>
                </a:solidFill>
                <a:latin typeface="Microsoft YaHei"/>
                <a:ea typeface="Microsoft YaHei"/>
              </a:rPr>
              <a:t>LLM Wiki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00" cy="786384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69382"/>
            <a:ext cx="6584412" cy="33649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400" b="1">
                <a:solidFill>
                  <a:srgbClr val="221F1A"/>
                </a:solidFill>
                <a:latin typeface="Microsoft YaHei"/>
                <a:ea typeface="Microsoft YaHei"/>
              </a:rPr>
              <a:t>How the Agent Works — a Step-by-Step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10545"/>
            <a:ext cx="9941265" cy="19751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6B6357"/>
                </a:solidFill>
                <a:latin typeface="Microsoft YaHei"/>
                <a:ea typeface="Microsoft YaHei"/>
              </a:rPr>
              <a:t>The Harness runs this loop. The LLM makes the choices; typed contracts, a policy gate and a verifier keep it safe and on track.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987552"/>
            <a:ext cx="4754880" cy="530352"/>
          </a:xfrm>
          <a:prstGeom prst="roundRect">
            <a:avLst>
              <a:gd name="adj" fmla="val 22413"/>
            </a:avLst>
          </a:prstGeom>
          <a:solidFill>
            <a:srgbClr val="FFFFFF"/>
          </a:solidFill>
          <a:ln w="11429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71216" y="1106424"/>
            <a:ext cx="292608" cy="292608"/>
          </a:xfrm>
          <a:prstGeom prst="ellipse">
            <a:avLst/>
          </a:prstGeom>
          <a:solidFill>
            <a:srgbClr val="1A7D5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56128" y="1152144"/>
            <a:ext cx="322783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5264" y="1086033"/>
            <a:ext cx="1675455" cy="19751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4F2DA0"/>
                </a:solidFill>
                <a:latin typeface="Microsoft YaHei"/>
                <a:ea typeface="Microsoft YaHei"/>
              </a:rPr>
              <a:t>Understand the 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55264" y="1274820"/>
            <a:ext cx="4416406" cy="1580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6B6357"/>
                </a:solidFill>
                <a:latin typeface="Microsoft YaHei"/>
                <a:ea typeface="Microsoft YaHei"/>
              </a:rPr>
              <a:t>Read the user’s request and constraints; figure out what “done” looks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4" y="1393692"/>
            <a:ext cx="497799" cy="1580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6B6357"/>
                </a:solidFill>
                <a:latin typeface="Microsoft YaHei"/>
                <a:ea typeface="Microsoft YaHei"/>
              </a:rPr>
              <a:t>like.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645920"/>
            <a:ext cx="4754880" cy="530352"/>
          </a:xfrm>
          <a:prstGeom prst="roundRect">
            <a:avLst>
              <a:gd name="adj" fmla="val 22413"/>
            </a:avLst>
          </a:prstGeom>
          <a:solidFill>
            <a:srgbClr val="FFFFFF"/>
          </a:solidFill>
          <a:ln w="11429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71216" y="1764792"/>
            <a:ext cx="292608" cy="292608"/>
          </a:xfrm>
          <a:prstGeom prst="ellipse">
            <a:avLst/>
          </a:prstGeom>
          <a:solidFill>
            <a:srgbClr val="1A7D5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56128" y="1810512"/>
            <a:ext cx="322783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1744401"/>
            <a:ext cx="1292779" cy="19751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4F2DA0"/>
                </a:solidFill>
                <a:latin typeface="Microsoft YaHei"/>
                <a:ea typeface="Microsoft YaHei"/>
              </a:rPr>
              <a:t>Pick the 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5264" y="1933188"/>
            <a:ext cx="4110265" cy="1580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6B6357"/>
                </a:solidFill>
                <a:latin typeface="Microsoft YaHei"/>
                <a:ea typeface="Microsoft YaHei"/>
              </a:rPr>
              <a:t>Choose the SkillSpec that fits and load its input/output schema.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2304288"/>
            <a:ext cx="4754880" cy="530352"/>
          </a:xfrm>
          <a:prstGeom prst="roundRect">
            <a:avLst>
              <a:gd name="adj" fmla="val 22413"/>
            </a:avLst>
          </a:prstGeom>
          <a:solidFill>
            <a:srgbClr val="FFFFFF"/>
          </a:solidFill>
          <a:ln w="11429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871216" y="2423160"/>
            <a:ext cx="292608" cy="292608"/>
          </a:xfrm>
          <a:prstGeom prst="ellipse">
            <a:avLst/>
          </a:prstGeom>
          <a:solidFill>
            <a:srgbClr val="1474A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56128" y="2468880"/>
            <a:ext cx="322783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55264" y="2402769"/>
            <a:ext cx="1292779" cy="19751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4F2DA0"/>
                </a:solidFill>
                <a:latin typeface="Microsoft YaHei"/>
                <a:ea typeface="Microsoft YaHei"/>
              </a:rPr>
              <a:t>Gather 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5264" y="2591556"/>
            <a:ext cx="4293949" cy="1580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6B6357"/>
                </a:solidFill>
                <a:latin typeface="Microsoft YaHei"/>
                <a:ea typeface="Microsoft YaHei"/>
              </a:rPr>
              <a:t>Pull in memory, relevant examples (shots) and the tools’ contracts.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0" y="2962656"/>
            <a:ext cx="4754880" cy="530352"/>
          </a:xfrm>
          <a:prstGeom prst="roundRect">
            <a:avLst>
              <a:gd name="adj" fmla="val 22413"/>
            </a:avLst>
          </a:prstGeom>
          <a:solidFill>
            <a:srgbClr val="F4EEFF"/>
          </a:solidFill>
          <a:ln w="16192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871216" y="3081528"/>
            <a:ext cx="292608" cy="292608"/>
          </a:xfrm>
          <a:prstGeom prst="ellipse">
            <a:avLst/>
          </a:prstGeom>
          <a:solidFill>
            <a:srgbClr val="6D3FD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6128" y="3127248"/>
            <a:ext cx="322783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55264" y="3061137"/>
            <a:ext cx="1063173" cy="19751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4F2DA0"/>
                </a:solidFill>
                <a:latin typeface="Microsoft YaHei"/>
                <a:ea typeface="Microsoft YaHei"/>
              </a:rPr>
              <a:t>Make a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55264" y="3249924"/>
            <a:ext cx="4110265" cy="1580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6B6357"/>
                </a:solidFill>
                <a:latin typeface="Microsoft YaHei"/>
                <a:ea typeface="Microsoft YaHei"/>
              </a:rPr>
              <a:t>The LLM drafts a plan with fallbacks and a clear stop condition.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3621024"/>
            <a:ext cx="4754880" cy="530352"/>
          </a:xfrm>
          <a:prstGeom prst="roundRect">
            <a:avLst>
              <a:gd name="adj" fmla="val 22413"/>
            </a:avLst>
          </a:prstGeom>
          <a:solidFill>
            <a:srgbClr val="F4EEFF"/>
          </a:solidFill>
          <a:ln w="16192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871216" y="3739896"/>
            <a:ext cx="292608" cy="292608"/>
          </a:xfrm>
          <a:prstGeom prst="ellipse">
            <a:avLst/>
          </a:prstGeom>
          <a:solidFill>
            <a:srgbClr val="6D3FD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56128" y="3785616"/>
            <a:ext cx="322783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55264" y="3719505"/>
            <a:ext cx="1905061" cy="19751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4F2DA0"/>
                </a:solidFill>
                <a:latin typeface="Microsoft YaHei"/>
                <a:ea typeface="Microsoft YaHei"/>
              </a:rPr>
              <a:t>Choose the next 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55264" y="3908292"/>
            <a:ext cx="4416406" cy="1580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6B6357"/>
                </a:solidFill>
                <a:latin typeface="Microsoft YaHei"/>
                <a:ea typeface="Microsoft YaHei"/>
              </a:rPr>
              <a:t>Pick the tool (O1), the model (O7) and the token budget (O8) for this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55264" y="4027164"/>
            <a:ext cx="497799" cy="1580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6B6357"/>
                </a:solidFill>
                <a:latin typeface="Microsoft YaHei"/>
                <a:ea typeface="Microsoft YaHei"/>
              </a:rPr>
              <a:t>step.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0" y="4279392"/>
            <a:ext cx="4754880" cy="530352"/>
          </a:xfrm>
          <a:prstGeom prst="roundRect">
            <a:avLst>
              <a:gd name="adj" fmla="val 22413"/>
            </a:avLst>
          </a:prstGeom>
          <a:solidFill>
            <a:srgbClr val="FFFFFF"/>
          </a:solidFill>
          <a:ln w="11429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871216" y="4398264"/>
            <a:ext cx="292608" cy="292608"/>
          </a:xfrm>
          <a:prstGeom prst="ellipse">
            <a:avLst/>
          </a:prstGeom>
          <a:solidFill>
            <a:srgbClr val="6D3FD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56128" y="4443984"/>
            <a:ext cx="322783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55264" y="4377873"/>
            <a:ext cx="1369314" cy="19751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4F2DA0"/>
                </a:solidFill>
                <a:latin typeface="Microsoft YaHei"/>
                <a:ea typeface="Microsoft YaHei"/>
              </a:rPr>
              <a:t>Check, then run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55264" y="4566660"/>
            <a:ext cx="4722547" cy="1580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6B6357"/>
                </a:solidFill>
                <a:latin typeface="Microsoft YaHei"/>
                <a:ea typeface="Microsoft YaHei"/>
              </a:rPr>
              <a:t>Policy gate checks scope &amp; permissions, then it runs on Scaffold / queries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55264" y="4685532"/>
            <a:ext cx="497799" cy="1580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6B6357"/>
                </a:solidFill>
                <a:latin typeface="Microsoft YaHei"/>
                <a:ea typeface="Microsoft YaHei"/>
              </a:rPr>
              <a:t>Data.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0" y="4937760"/>
            <a:ext cx="4754880" cy="530352"/>
          </a:xfrm>
          <a:prstGeom prst="roundRect">
            <a:avLst>
              <a:gd name="adj" fmla="val 22413"/>
            </a:avLst>
          </a:prstGeom>
          <a:solidFill>
            <a:srgbClr val="FFFFFF"/>
          </a:solidFill>
          <a:ln w="11429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871216" y="5056632"/>
            <a:ext cx="292608" cy="292608"/>
          </a:xfrm>
          <a:prstGeom prst="ellipse">
            <a:avLst/>
          </a:prstGeom>
          <a:solidFill>
            <a:srgbClr val="6D3FD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56128" y="5102352"/>
            <a:ext cx="322783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55264" y="5036241"/>
            <a:ext cx="1369314" cy="19751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4F2DA0"/>
                </a:solidFill>
                <a:latin typeface="Microsoft YaHei"/>
                <a:ea typeface="Microsoft YaHei"/>
              </a:rPr>
              <a:t>Observe &amp; score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55264" y="5225028"/>
            <a:ext cx="4538862" cy="1580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6B6357"/>
                </a:solidFill>
                <a:latin typeface="Microsoft YaHei"/>
                <a:ea typeface="Microsoft YaHei"/>
              </a:rPr>
              <a:t>Collect the result and evidence; a verifier / reward grades how good 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55264" y="5343900"/>
            <a:ext cx="375343" cy="1580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6B6357"/>
                </a:solidFill>
                <a:latin typeface="Microsoft YaHei"/>
                <a:ea typeface="Microsoft YaHei"/>
              </a:rPr>
              <a:t>is.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43200" y="5596128"/>
            <a:ext cx="4754880" cy="530352"/>
          </a:xfrm>
          <a:prstGeom prst="roundRect">
            <a:avLst>
              <a:gd name="adj" fmla="val 22413"/>
            </a:avLst>
          </a:prstGeom>
          <a:solidFill>
            <a:srgbClr val="F4EEFF"/>
          </a:solidFill>
          <a:ln w="16192">
            <a:solidFill>
              <a:srgbClr val="6D3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871216" y="5715000"/>
            <a:ext cx="292608" cy="292608"/>
          </a:xfrm>
          <a:prstGeom prst="ellipse">
            <a:avLst/>
          </a:prstGeom>
          <a:solidFill>
            <a:srgbClr val="BC5A1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56128" y="5760720"/>
            <a:ext cx="322783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55264" y="5694609"/>
            <a:ext cx="1139708" cy="19751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4F2DA0"/>
                </a:solidFill>
                <a:latin typeface="Microsoft YaHei"/>
                <a:ea typeface="Microsoft YaHei"/>
              </a:rPr>
              <a:t>Good enough?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55264" y="5883396"/>
            <a:ext cx="4661319" cy="1580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6B6357"/>
                </a:solidFill>
                <a:latin typeface="Microsoft YaHei"/>
                <a:ea typeface="Microsoft YaHei"/>
              </a:rPr>
              <a:t>Yes → deliver the result. No → reflect, revise the plan, and loop back 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55264" y="6002268"/>
            <a:ext cx="620256" cy="1580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6B6357"/>
                </a:solidFill>
                <a:latin typeface="Microsoft YaHei"/>
                <a:ea typeface="Microsoft YaHei"/>
              </a:rPr>
              <a:t>step 5.</a:t>
            </a:r>
          </a:p>
        </p:txBody>
      </p:sp>
      <p:sp>
        <p:nvSpPr>
          <p:cNvPr id="50" name="Freeform 49"/>
          <p:cNvSpPr/>
          <p:nvPr/>
        </p:nvSpPr>
        <p:spPr>
          <a:xfrm>
            <a:off x="5120640" y="1517904"/>
            <a:ext cx="0" cy="128016"/>
          </a:xfrm>
          <a:custGeom>
            <a:avLst/>
            <a:gdLst/>
            <a:ahLst/>
            <a:cxnLst/>
            <a:rect l="l" t="t" r="r" b="b"/>
            <a:pathLst>
              <a:path w="0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8097">
            <a:solidFill>
              <a:srgbClr val="6D3FD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5120640" y="2176272"/>
            <a:ext cx="0" cy="128016"/>
          </a:xfrm>
          <a:custGeom>
            <a:avLst/>
            <a:gdLst/>
            <a:ahLst/>
            <a:cxnLst/>
            <a:rect l="l" t="t" r="r" b="b"/>
            <a:pathLst>
              <a:path w="0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8097">
            <a:solidFill>
              <a:srgbClr val="6D3FD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5120640" y="2834640"/>
            <a:ext cx="0" cy="128016"/>
          </a:xfrm>
          <a:custGeom>
            <a:avLst/>
            <a:gdLst/>
            <a:ahLst/>
            <a:cxnLst/>
            <a:rect l="l" t="t" r="r" b="b"/>
            <a:pathLst>
              <a:path w="0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8097">
            <a:solidFill>
              <a:srgbClr val="6D3FD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5120640" y="3493008"/>
            <a:ext cx="0" cy="128016"/>
          </a:xfrm>
          <a:custGeom>
            <a:avLst/>
            <a:gdLst/>
            <a:ahLst/>
            <a:cxnLst/>
            <a:rect l="l" t="t" r="r" b="b"/>
            <a:pathLst>
              <a:path w="0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8097">
            <a:solidFill>
              <a:srgbClr val="6D3FD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5120640" y="4151376"/>
            <a:ext cx="0" cy="128016"/>
          </a:xfrm>
          <a:custGeom>
            <a:avLst/>
            <a:gdLst/>
            <a:ahLst/>
            <a:cxnLst/>
            <a:rect l="l" t="t" r="r" b="b"/>
            <a:pathLst>
              <a:path w="0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8097">
            <a:solidFill>
              <a:srgbClr val="6D3FD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5120640" y="4809744"/>
            <a:ext cx="0" cy="128016"/>
          </a:xfrm>
          <a:custGeom>
            <a:avLst/>
            <a:gdLst/>
            <a:ahLst/>
            <a:cxnLst/>
            <a:rect l="l" t="t" r="r" b="b"/>
            <a:pathLst>
              <a:path w="0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8097">
            <a:solidFill>
              <a:srgbClr val="6D3FD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5120640" y="5468112"/>
            <a:ext cx="0" cy="128016"/>
          </a:xfrm>
          <a:custGeom>
            <a:avLst/>
            <a:gdLst/>
            <a:ahLst/>
            <a:cxnLst/>
            <a:rect l="l" t="t" r="r" b="b"/>
            <a:pathLst>
              <a:path w="0" h="128016">
                <a:moveTo>
                  <a:pt x="0" y="0"/>
                </a:moveTo>
                <a:lnTo>
                  <a:pt x="0" y="128016"/>
                </a:lnTo>
              </a:path>
            </a:pathLst>
          </a:custGeom>
          <a:noFill/>
          <a:ln w="18097">
            <a:solidFill>
              <a:srgbClr val="6D3FD4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371600" y="1252728"/>
            <a:ext cx="1371600" cy="0"/>
          </a:xfrm>
          <a:custGeom>
            <a:avLst/>
            <a:gdLst/>
            <a:ahLst/>
            <a:cxnLst/>
            <a:rect l="l" t="t" r="r" b="b"/>
            <a:pathLst>
              <a:path w="1371600" h="0">
                <a:moveTo>
                  <a:pt x="0" y="0"/>
                </a:moveTo>
                <a:lnTo>
                  <a:pt x="1371600" y="0"/>
                </a:lnTo>
              </a:path>
            </a:pathLst>
          </a:custGeom>
          <a:noFill/>
          <a:ln w="15240">
            <a:solidFill>
              <a:srgbClr val="6B6357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7991856" y="3913632"/>
            <a:ext cx="2468880" cy="786384"/>
          </a:xfrm>
          <a:prstGeom prst="roundRect">
            <a:avLst>
              <a:gd name="adj" fmla="val 15116"/>
            </a:avLst>
          </a:prstGeom>
          <a:solidFill>
            <a:srgbClr val="FBE7D3"/>
          </a:solidFill>
          <a:ln w="14287">
            <a:solidFill>
              <a:srgbClr val="BC5A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19872" y="4007632"/>
            <a:ext cx="861731" cy="2048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9A4D12"/>
                </a:solidFill>
                <a:latin typeface="Microsoft YaHei"/>
                <a:ea typeface="Microsoft YaHei"/>
              </a:rPr>
              <a:t>Scaffold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19872" y="4219188"/>
            <a:ext cx="1722364" cy="1580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9A4D12"/>
                </a:solidFill>
                <a:latin typeface="Microsoft YaHei"/>
                <a:ea typeface="Microsoft YaHei"/>
              </a:rPr>
              <a:t>sandbox · shell · serving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19872" y="4383780"/>
            <a:ext cx="2150961" cy="1580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9A4D12"/>
                </a:solidFill>
                <a:latin typeface="Microsoft YaHei"/>
                <a:ea typeface="Microsoft YaHei"/>
              </a:rPr>
              <a:t>filesystem · network · SSO/cloud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991856" y="4846320"/>
            <a:ext cx="2468880" cy="786384"/>
          </a:xfrm>
          <a:prstGeom prst="roundRect">
            <a:avLst>
              <a:gd name="adj" fmla="val 15116"/>
            </a:avLst>
          </a:prstGeom>
          <a:solidFill>
            <a:srgbClr val="DDEFF8"/>
          </a:solidFill>
          <a:ln w="14287">
            <a:solidFill>
              <a:srgbClr val="147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19872" y="4940320"/>
            <a:ext cx="1496690" cy="2048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0F5E87"/>
                </a:solidFill>
                <a:latin typeface="Microsoft YaHei"/>
                <a:ea typeface="Microsoft YaHei"/>
              </a:rPr>
              <a:t>Data subsystem 𝒟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19872" y="5151876"/>
            <a:ext cx="1783592" cy="1580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3D7A99"/>
                </a:solidFill>
                <a:latin typeface="Microsoft YaHei"/>
                <a:ea typeface="Microsoft YaHei"/>
              </a:rPr>
              <a:t>D₁/D₂ query · D₃/D₄ policy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19872" y="5316468"/>
            <a:ext cx="1416223" cy="1580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3D7A99"/>
                </a:solidFill>
                <a:latin typeface="Microsoft YaHei"/>
                <a:ea typeface="Microsoft YaHei"/>
              </a:rPr>
              <a:t>Ω workspace evidence</a:t>
            </a:r>
          </a:p>
        </p:txBody>
      </p:sp>
      <p:sp>
        <p:nvSpPr>
          <p:cNvPr id="66" name="Freeform 65"/>
          <p:cNvSpPr/>
          <p:nvPr/>
        </p:nvSpPr>
        <p:spPr>
          <a:xfrm>
            <a:off x="7498080" y="4306824"/>
            <a:ext cx="493776" cy="164592"/>
          </a:xfrm>
          <a:custGeom>
            <a:avLst/>
            <a:gdLst/>
            <a:ahLst/>
            <a:cxnLst/>
            <a:rect l="l" t="t" r="r" b="b"/>
            <a:pathLst>
              <a:path w="493776" h="164592">
                <a:moveTo>
                  <a:pt x="0" y="164592"/>
                </a:moveTo>
                <a:lnTo>
                  <a:pt x="493776" y="0"/>
                </a:lnTo>
              </a:path>
            </a:pathLst>
          </a:custGeom>
          <a:noFill/>
          <a:ln w="17145">
            <a:solidFill>
              <a:srgbClr val="BC5A16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7498080" y="4617720"/>
            <a:ext cx="493776" cy="621792"/>
          </a:xfrm>
          <a:custGeom>
            <a:avLst/>
            <a:gdLst/>
            <a:ahLst/>
            <a:cxnLst/>
            <a:rect l="l" t="t" r="r" b="b"/>
            <a:pathLst>
              <a:path w="493776" h="621792">
                <a:moveTo>
                  <a:pt x="0" y="0"/>
                </a:moveTo>
                <a:lnTo>
                  <a:pt x="228600" y="0"/>
                </a:lnTo>
                <a:lnTo>
                  <a:pt x="228600" y="621792"/>
                </a:lnTo>
                <a:lnTo>
                  <a:pt x="493776" y="621792"/>
                </a:lnTo>
              </a:path>
            </a:pathLst>
          </a:custGeom>
          <a:noFill/>
          <a:ln w="17145">
            <a:solidFill>
              <a:srgbClr val="1474A6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991856" y="5596128"/>
            <a:ext cx="2468880" cy="530352"/>
          </a:xfrm>
          <a:prstGeom prst="roundRect">
            <a:avLst>
              <a:gd name="adj" fmla="val 22413"/>
            </a:avLst>
          </a:prstGeom>
          <a:solidFill>
            <a:srgbClr val="EAF7F0"/>
          </a:solidFill>
          <a:ln w="14287">
            <a:solidFill>
              <a:srgbClr val="1A7D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477951" y="5758891"/>
            <a:ext cx="1496690" cy="20482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200" b="1">
                <a:solidFill>
                  <a:srgbClr val="11603D"/>
                </a:solidFill>
                <a:latin typeface="Microsoft YaHei"/>
                <a:ea typeface="Microsoft YaHei"/>
              </a:rPr>
              <a:t>Deliver artifact</a:t>
            </a:r>
          </a:p>
        </p:txBody>
      </p:sp>
      <p:sp>
        <p:nvSpPr>
          <p:cNvPr id="70" name="Freeform 69"/>
          <p:cNvSpPr/>
          <p:nvPr/>
        </p:nvSpPr>
        <p:spPr>
          <a:xfrm>
            <a:off x="7498080" y="5861304"/>
            <a:ext cx="493776" cy="0"/>
          </a:xfrm>
          <a:custGeom>
            <a:avLst/>
            <a:gdLst/>
            <a:ahLst/>
            <a:cxnLst/>
            <a:rect l="l" t="t" r="r" b="b"/>
            <a:pathLst>
              <a:path w="493776" h="0">
                <a:moveTo>
                  <a:pt x="0" y="0"/>
                </a:moveTo>
                <a:lnTo>
                  <a:pt x="493776" y="0"/>
                </a:lnTo>
              </a:path>
            </a:pathLst>
          </a:custGeom>
          <a:noFill/>
          <a:ln w="18097">
            <a:solidFill>
              <a:srgbClr val="1A7D52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1371600" y="3886200"/>
            <a:ext cx="1371600" cy="1975104"/>
          </a:xfrm>
          <a:custGeom>
            <a:avLst/>
            <a:gdLst/>
            <a:ahLst/>
            <a:cxnLst/>
            <a:rect l="l" t="t" r="r" b="b"/>
            <a:pathLst>
              <a:path w="1371600" h="1975104">
                <a:moveTo>
                  <a:pt x="1371600" y="1975104"/>
                </a:moveTo>
                <a:lnTo>
                  <a:pt x="0" y="1975104"/>
                </a:lnTo>
                <a:lnTo>
                  <a:pt x="0" y="0"/>
                </a:lnTo>
                <a:lnTo>
                  <a:pt x="1371600" y="0"/>
                </a:lnTo>
              </a:path>
            </a:pathLst>
          </a:custGeom>
          <a:noFill/>
          <a:ln w="18097">
            <a:solidFill>
              <a:srgbClr val="BC5A16"/>
            </a:solidFill>
            <a:prstDash val="dash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408176" y="4514484"/>
            <a:ext cx="1617025" cy="15361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1">
                <a:solidFill>
                  <a:srgbClr val="BC5A16"/>
                </a:solidFill>
                <a:latin typeface="Microsoft YaHei"/>
                <a:ea typeface="Microsoft YaHei"/>
              </a:rPr>
              <a:t>reflect &amp; loop back to 5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43200" y="6473952"/>
            <a:ext cx="7717536" cy="438912"/>
          </a:xfrm>
          <a:prstGeom prst="roundRect">
            <a:avLst>
              <a:gd name="adj" fmla="val 25000"/>
            </a:avLst>
          </a:prstGeom>
          <a:solidFill>
            <a:srgbClr val="F1EBE0"/>
          </a:solidFill>
          <a:ln w="11429">
            <a:solidFill>
              <a:srgbClr val="6D3F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871216" y="6636075"/>
            <a:ext cx="7175388" cy="168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>
                <a:solidFill>
                  <a:srgbClr val="4F2DA0"/>
                </a:solidFill>
                <a:latin typeface="Microsoft YaHei"/>
                <a:ea typeface="Microsoft YaHei"/>
              </a:rPr>
              <a:t>Running quietly in the background: System skills (M) compact, write back and retrieve memory between steps.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